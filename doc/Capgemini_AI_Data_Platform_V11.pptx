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19" r:id="rId2"/>
  </p:sldMasterIdLst>
  <p:notesMasterIdLst>
    <p:notesMasterId r:id="rId17"/>
  </p:notesMasterIdLst>
  <p:sldIdLst>
    <p:sldId id="2147483620" r:id="rId3"/>
    <p:sldId id="2147483614" r:id="rId4"/>
    <p:sldId id="2147483615" r:id="rId5"/>
    <p:sldId id="2147483632" r:id="rId6"/>
    <p:sldId id="2147483616" r:id="rId7"/>
    <p:sldId id="2147483633" r:id="rId8"/>
    <p:sldId id="2147483634" r:id="rId9"/>
    <p:sldId id="2147483635" r:id="rId10"/>
    <p:sldId id="2147483636" r:id="rId11"/>
    <p:sldId id="2147483637" r:id="rId12"/>
    <p:sldId id="2147483638" r:id="rId13"/>
    <p:sldId id="2147483639" r:id="rId14"/>
    <p:sldId id="2147482007" r:id="rId15"/>
    <p:sldId id="262"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8BD11E-E5B2-40B9-A592-CF45FFAEA301}">
          <p14:sldIdLst>
            <p14:sldId id="2147483620"/>
            <p14:sldId id="2147483614"/>
            <p14:sldId id="2147483615"/>
          </p14:sldIdLst>
        </p14:section>
        <p14:section name="Our Solution &amp; Soln Architecture" id="{36030F0A-9A01-CA4F-A85B-6477620F7CC8}">
          <p14:sldIdLst>
            <p14:sldId id="2147483632"/>
            <p14:sldId id="2147483616"/>
            <p14:sldId id="2147483633"/>
            <p14:sldId id="2147483634"/>
          </p14:sldIdLst>
        </p14:section>
        <p14:section name="Features" id="{52424E02-4E8F-0F47-A0CD-6FCB481E16A3}">
          <p14:sldIdLst>
            <p14:sldId id="2147483635"/>
            <p14:sldId id="2147483636"/>
            <p14:sldId id="2147483637"/>
            <p14:sldId id="2147483638"/>
            <p14:sldId id="2147483639"/>
            <p14:sldId id="2147482007"/>
            <p14:sldId id="262"/>
          </p14:sldIdLst>
        </p14:section>
        <p14:section name="Others" id="{79F2CF03-8422-8542-98C6-5671C5CAEF62}">
          <p14:sldIdLst/>
        </p14:section>
        <p14:section name="Apendix" id="{B404A263-50DB-4E5B-B201-08A1BAACB0AE}">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8D0D"/>
    <a:srgbClr val="055482"/>
    <a:srgbClr val="0370AD"/>
    <a:srgbClr val="114F23"/>
    <a:srgbClr val="177B36"/>
    <a:srgbClr val="48727F"/>
    <a:srgbClr val="87D5ED"/>
    <a:srgbClr val="07394F"/>
    <a:srgbClr val="045E81"/>
    <a:srgbClr val="95E61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A9B931-4319-4E07-B3E7-37BBADD87817}" v="10" dt="2026-07-10T06:16:16.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94658"/>
  </p:normalViewPr>
  <p:slideViewPr>
    <p:cSldViewPr snapToGrid="0" snapToObjects="1">
      <p:cViewPr varScale="1">
        <p:scale>
          <a:sx n="70" d="100"/>
          <a:sy n="70" d="100"/>
        </p:scale>
        <p:origin x="55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wal, Arpit" userId="85575406-0ebe-4fcd-aa5b-7949791c1477" providerId="ADAL" clId="{8445BE8F-F9F6-508E-9D83-817D1BEA490A}"/>
    <pc:docChg chg="modSld">
      <pc:chgData name="Rawal, Arpit" userId="85575406-0ebe-4fcd-aa5b-7949791c1477" providerId="ADAL" clId="{8445BE8F-F9F6-508E-9D83-817D1BEA490A}" dt="2026-07-09T14:38:05.939" v="2" actId="729"/>
      <pc:docMkLst>
        <pc:docMk/>
      </pc:docMkLst>
      <pc:sldChg chg="mod modShow">
        <pc:chgData name="Rawal, Arpit" userId="85575406-0ebe-4fcd-aa5b-7949791c1477" providerId="ADAL" clId="{8445BE8F-F9F6-508E-9D83-817D1BEA490A}" dt="2026-07-09T14:38:05.939" v="2" actId="729"/>
        <pc:sldMkLst>
          <pc:docMk/>
          <pc:sldMk cId="0" sldId="262"/>
        </pc:sldMkLst>
      </pc:sldChg>
      <pc:sldChg chg="modSp mod">
        <pc:chgData name="Rawal, Arpit" userId="85575406-0ebe-4fcd-aa5b-7949791c1477" providerId="ADAL" clId="{8445BE8F-F9F6-508E-9D83-817D1BEA490A}" dt="2026-07-09T14:37:35.187" v="1" actId="1076"/>
        <pc:sldMkLst>
          <pc:docMk/>
          <pc:sldMk cId="1602248102" sldId="2147483634"/>
        </pc:sldMkLst>
        <pc:spChg chg="mod">
          <ac:chgData name="Rawal, Arpit" userId="85575406-0ebe-4fcd-aa5b-7949791c1477" providerId="ADAL" clId="{8445BE8F-F9F6-508E-9D83-817D1BEA490A}" dt="2026-07-09T14:37:35.187" v="1" actId="1076"/>
          <ac:spMkLst>
            <pc:docMk/>
            <pc:sldMk cId="1602248102" sldId="2147483634"/>
            <ac:spMk id="21" creationId="{D5AD07DE-6954-6EFA-680D-31989694BF26}"/>
          </ac:spMkLst>
        </pc:spChg>
        <pc:spChg chg="mod">
          <ac:chgData name="Rawal, Arpit" userId="85575406-0ebe-4fcd-aa5b-7949791c1477" providerId="ADAL" clId="{8445BE8F-F9F6-508E-9D83-817D1BEA490A}" dt="2026-07-09T14:37:31.761" v="0" actId="1076"/>
          <ac:spMkLst>
            <pc:docMk/>
            <pc:sldMk cId="1602248102" sldId="2147483634"/>
            <ac:spMk id="54" creationId="{4D053E9F-DC65-B065-3C2F-209429212DAD}"/>
          </ac:spMkLst>
        </pc:spChg>
      </pc:sldChg>
    </pc:docChg>
  </pc:docChgLst>
  <pc:docChgLst>
    <pc:chgData name="KONDHALKAR, RAHUL" userId="abd60e2f-6f69-4b10-9153-eb83f92a138a" providerId="ADAL" clId="{5E59A1F2-6D70-49F8-9189-ACECFB721298}"/>
    <pc:docChg chg="undo custSel modSld">
      <pc:chgData name="KONDHALKAR, RAHUL" userId="abd60e2f-6f69-4b10-9153-eb83f92a138a" providerId="ADAL" clId="{5E59A1F2-6D70-49F8-9189-ACECFB721298}" dt="2026-07-10T06:44:22.109" v="180" actId="207"/>
      <pc:docMkLst>
        <pc:docMk/>
      </pc:docMkLst>
      <pc:sldChg chg="addSp delSp modSp mod">
        <pc:chgData name="KONDHALKAR, RAHUL" userId="abd60e2f-6f69-4b10-9153-eb83f92a138a" providerId="ADAL" clId="{5E59A1F2-6D70-49F8-9189-ACECFB721298}" dt="2026-07-10T06:44:22.109" v="180" actId="207"/>
        <pc:sldMkLst>
          <pc:docMk/>
          <pc:sldMk cId="3892137916" sldId="2147483637"/>
        </pc:sldMkLst>
        <pc:spChg chg="mod">
          <ac:chgData name="KONDHALKAR, RAHUL" userId="abd60e2f-6f69-4b10-9153-eb83f92a138a" providerId="ADAL" clId="{5E59A1F2-6D70-49F8-9189-ACECFB721298}" dt="2026-07-10T06:16:43.310" v="150" actId="20577"/>
          <ac:spMkLst>
            <pc:docMk/>
            <pc:sldMk cId="3892137916" sldId="2147483637"/>
            <ac:spMk id="2" creationId="{6D976CBD-1241-BD00-BA76-CA59C9612661}"/>
          </ac:spMkLst>
        </pc:spChg>
        <pc:spChg chg="add mod">
          <ac:chgData name="KONDHALKAR, RAHUL" userId="abd60e2f-6f69-4b10-9153-eb83f92a138a" providerId="ADAL" clId="{5E59A1F2-6D70-49F8-9189-ACECFB721298}" dt="2026-07-10T06:14:03.094" v="109" actId="14100"/>
          <ac:spMkLst>
            <pc:docMk/>
            <pc:sldMk cId="3892137916" sldId="2147483637"/>
            <ac:spMk id="6" creationId="{FEF00705-88F1-0AF8-817F-E25ECEFD7A55}"/>
          </ac:spMkLst>
        </pc:spChg>
        <pc:spChg chg="add mod">
          <ac:chgData name="KONDHALKAR, RAHUL" userId="abd60e2f-6f69-4b10-9153-eb83f92a138a" providerId="ADAL" clId="{5E59A1F2-6D70-49F8-9189-ACECFB721298}" dt="2026-07-10T06:17:31.946" v="152" actId="14100"/>
          <ac:spMkLst>
            <pc:docMk/>
            <pc:sldMk cId="3892137916" sldId="2147483637"/>
            <ac:spMk id="7" creationId="{BAFFADF3-CE29-FF0C-79B7-BAF597724437}"/>
          </ac:spMkLst>
        </pc:spChg>
        <pc:spChg chg="add del mod">
          <ac:chgData name="KONDHALKAR, RAHUL" userId="abd60e2f-6f69-4b10-9153-eb83f92a138a" providerId="ADAL" clId="{5E59A1F2-6D70-49F8-9189-ACECFB721298}" dt="2026-07-10T06:11:53.673" v="65"/>
          <ac:spMkLst>
            <pc:docMk/>
            <pc:sldMk cId="3892137916" sldId="2147483637"/>
            <ac:spMk id="8" creationId="{7618022F-73FA-F45A-22E9-D60A65309F59}"/>
          </ac:spMkLst>
        </pc:spChg>
        <pc:spChg chg="add mod">
          <ac:chgData name="KONDHALKAR, RAHUL" userId="abd60e2f-6f69-4b10-9153-eb83f92a138a" providerId="ADAL" clId="{5E59A1F2-6D70-49F8-9189-ACECFB721298}" dt="2026-07-10T06:44:18.529" v="179" actId="207"/>
          <ac:spMkLst>
            <pc:docMk/>
            <pc:sldMk cId="3892137916" sldId="2147483637"/>
            <ac:spMk id="9" creationId="{5BBA0E9A-4218-EE60-C8C6-DB6200B6E930}"/>
          </ac:spMkLst>
        </pc:spChg>
        <pc:spChg chg="add mod">
          <ac:chgData name="KONDHALKAR, RAHUL" userId="abd60e2f-6f69-4b10-9153-eb83f92a138a" providerId="ADAL" clId="{5E59A1F2-6D70-49F8-9189-ACECFB721298}" dt="2026-07-10T06:44:22.109" v="180" actId="207"/>
          <ac:spMkLst>
            <pc:docMk/>
            <pc:sldMk cId="3892137916" sldId="2147483637"/>
            <ac:spMk id="10" creationId="{C1B4AD8D-5F55-1F32-B31C-3BB9D09B124F}"/>
          </ac:spMkLst>
        </pc:spChg>
        <pc:cxnChg chg="add mod">
          <ac:chgData name="KONDHALKAR, RAHUL" userId="abd60e2f-6f69-4b10-9153-eb83f92a138a" providerId="ADAL" clId="{5E59A1F2-6D70-49F8-9189-ACECFB721298}" dt="2026-07-10T06:16:35.421" v="145" actId="13822"/>
          <ac:cxnSpMkLst>
            <pc:docMk/>
            <pc:sldMk cId="3892137916" sldId="2147483637"/>
            <ac:cxnSpMk id="12" creationId="{E2619D4F-29FE-55DA-46BF-E0CD1C88E5F4}"/>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383BD2-D112-1640-AE2A-0839B050E4E3}" type="doc">
      <dgm:prSet loTypeId="urn:microsoft.com/office/officeart/2005/8/layout/cycle1" loCatId="" qsTypeId="urn:microsoft.com/office/officeart/2005/8/quickstyle/simple1" qsCatId="simple" csTypeId="urn:microsoft.com/office/officeart/2005/8/colors/accent1_2" csCatId="accent1" phldr="1"/>
      <dgm:spPr/>
      <dgm:t>
        <a:bodyPr/>
        <a:lstStyle/>
        <a:p>
          <a:endParaRPr lang="en-GB"/>
        </a:p>
      </dgm:t>
    </dgm:pt>
    <dgm:pt modelId="{82EB6857-8720-1248-B163-468F31FE97C0}">
      <dgm:prSet phldrT="[Text]"/>
      <dgm:spPr/>
      <dgm:t>
        <a:bodyPr/>
        <a:lstStyle/>
        <a:p>
          <a:r>
            <a:rPr lang="en-GB">
              <a:solidFill>
                <a:schemeClr val="bg1"/>
              </a:solidFill>
            </a:rPr>
            <a:t>Business problem</a:t>
          </a:r>
        </a:p>
      </dgm:t>
    </dgm:pt>
    <dgm:pt modelId="{653A18C7-F553-0047-B537-8F572CA8AFF9}" type="parTrans" cxnId="{DF38F8F8-CE82-E64D-AF8C-6B32D86FEE65}">
      <dgm:prSet/>
      <dgm:spPr/>
      <dgm:t>
        <a:bodyPr/>
        <a:lstStyle/>
        <a:p>
          <a:endParaRPr lang="en-GB">
            <a:solidFill>
              <a:schemeClr val="bg1"/>
            </a:solidFill>
          </a:endParaRPr>
        </a:p>
      </dgm:t>
    </dgm:pt>
    <dgm:pt modelId="{0FEB7AB0-433C-A541-BCDF-AABF2454F448}" type="sibTrans" cxnId="{DF38F8F8-CE82-E64D-AF8C-6B32D86FEE65}">
      <dgm:prSet/>
      <dgm:spPr>
        <a:solidFill>
          <a:srgbClr val="2563EB"/>
        </a:solidFill>
        <a:ln>
          <a:noFill/>
        </a:ln>
      </dgm:spPr>
      <dgm:t>
        <a:bodyPr/>
        <a:lstStyle/>
        <a:p>
          <a:endParaRPr lang="en-GB">
            <a:solidFill>
              <a:schemeClr val="bg1"/>
            </a:solidFill>
          </a:endParaRPr>
        </a:p>
      </dgm:t>
    </dgm:pt>
    <dgm:pt modelId="{942F1A6F-D989-2347-9047-8D5A81B559DF}">
      <dgm:prSet phldrT="[Text]"/>
      <dgm:spPr/>
      <dgm:t>
        <a:bodyPr/>
        <a:lstStyle/>
        <a:p>
          <a:r>
            <a:rPr lang="en-GB">
              <a:solidFill>
                <a:schemeClr val="bg1"/>
              </a:solidFill>
            </a:rPr>
            <a:t>Analyst</a:t>
          </a:r>
        </a:p>
      </dgm:t>
    </dgm:pt>
    <dgm:pt modelId="{478C4B38-8054-8741-9385-93A638105DBF}" type="parTrans" cxnId="{5467D4FE-93FD-8B43-8499-1387949257B9}">
      <dgm:prSet/>
      <dgm:spPr/>
      <dgm:t>
        <a:bodyPr/>
        <a:lstStyle/>
        <a:p>
          <a:endParaRPr lang="en-GB">
            <a:solidFill>
              <a:schemeClr val="bg1"/>
            </a:solidFill>
          </a:endParaRPr>
        </a:p>
      </dgm:t>
    </dgm:pt>
    <dgm:pt modelId="{E08AC7B1-2E01-3947-98AA-04AD5FA65C42}" type="sibTrans" cxnId="{5467D4FE-93FD-8B43-8499-1387949257B9}">
      <dgm:prSet/>
      <dgm:spPr>
        <a:solidFill>
          <a:srgbClr val="2563EB"/>
        </a:solidFill>
        <a:ln>
          <a:noFill/>
        </a:ln>
      </dgm:spPr>
      <dgm:t>
        <a:bodyPr/>
        <a:lstStyle/>
        <a:p>
          <a:endParaRPr lang="en-GB">
            <a:solidFill>
              <a:schemeClr val="bg1"/>
            </a:solidFill>
          </a:endParaRPr>
        </a:p>
      </dgm:t>
    </dgm:pt>
    <dgm:pt modelId="{F0A09615-AE6E-3047-9AAC-3B13E1CC2129}">
      <dgm:prSet phldrT="[Text]"/>
      <dgm:spPr/>
      <dgm:t>
        <a:bodyPr/>
        <a:lstStyle/>
        <a:p>
          <a:r>
            <a:rPr lang="en-GB">
              <a:solidFill>
                <a:schemeClr val="bg1"/>
              </a:solidFill>
            </a:rPr>
            <a:t>Answer</a:t>
          </a:r>
        </a:p>
      </dgm:t>
    </dgm:pt>
    <dgm:pt modelId="{F94515A0-19C2-F541-AD97-D39BA55F63CC}" type="parTrans" cxnId="{1B656375-D5DB-9649-8278-CA39A53048EF}">
      <dgm:prSet/>
      <dgm:spPr/>
      <dgm:t>
        <a:bodyPr/>
        <a:lstStyle/>
        <a:p>
          <a:endParaRPr lang="en-GB">
            <a:solidFill>
              <a:schemeClr val="bg1"/>
            </a:solidFill>
          </a:endParaRPr>
        </a:p>
      </dgm:t>
    </dgm:pt>
    <dgm:pt modelId="{705A1671-3AE2-E547-BE29-3DFA824A9A6B}" type="sibTrans" cxnId="{1B656375-D5DB-9649-8278-CA39A53048EF}">
      <dgm:prSet/>
      <dgm:spPr>
        <a:solidFill>
          <a:srgbClr val="2563EB"/>
        </a:solidFill>
        <a:ln>
          <a:noFill/>
        </a:ln>
      </dgm:spPr>
      <dgm:t>
        <a:bodyPr/>
        <a:lstStyle/>
        <a:p>
          <a:endParaRPr lang="en-GB">
            <a:solidFill>
              <a:schemeClr val="bg1"/>
            </a:solidFill>
          </a:endParaRPr>
        </a:p>
      </dgm:t>
    </dgm:pt>
    <dgm:pt modelId="{E9F88D12-19C2-2848-B034-3249CE837787}">
      <dgm:prSet phldrT="[Text]"/>
      <dgm:spPr/>
      <dgm:t>
        <a:bodyPr/>
        <a:lstStyle/>
        <a:p>
          <a:r>
            <a:rPr lang="en-GB">
              <a:solidFill>
                <a:schemeClr val="bg1"/>
              </a:solidFill>
            </a:rPr>
            <a:t>SQL</a:t>
          </a:r>
        </a:p>
      </dgm:t>
    </dgm:pt>
    <dgm:pt modelId="{4CBE3FFB-49C6-D346-ABC6-6DA3D2A321A2}" type="parTrans" cxnId="{71452D6D-D119-D146-A83A-D2ADA838F81E}">
      <dgm:prSet/>
      <dgm:spPr/>
      <dgm:t>
        <a:bodyPr/>
        <a:lstStyle/>
        <a:p>
          <a:endParaRPr lang="en-GB">
            <a:solidFill>
              <a:schemeClr val="bg1"/>
            </a:solidFill>
          </a:endParaRPr>
        </a:p>
      </dgm:t>
    </dgm:pt>
    <dgm:pt modelId="{C2EE4C5C-6223-0848-8966-DA96976E4A33}" type="sibTrans" cxnId="{71452D6D-D119-D146-A83A-D2ADA838F81E}">
      <dgm:prSet/>
      <dgm:spPr>
        <a:solidFill>
          <a:srgbClr val="2563EB"/>
        </a:solidFill>
        <a:ln>
          <a:noFill/>
        </a:ln>
      </dgm:spPr>
      <dgm:t>
        <a:bodyPr/>
        <a:lstStyle/>
        <a:p>
          <a:endParaRPr lang="en-GB">
            <a:solidFill>
              <a:schemeClr val="bg1"/>
            </a:solidFill>
          </a:endParaRPr>
        </a:p>
      </dgm:t>
    </dgm:pt>
    <dgm:pt modelId="{780FA2E7-4109-FE48-9B0B-465EFF8412F5}">
      <dgm:prSet phldrT="[Text]"/>
      <dgm:spPr/>
      <dgm:t>
        <a:bodyPr/>
        <a:lstStyle/>
        <a:p>
          <a:r>
            <a:rPr lang="en-GB">
              <a:solidFill>
                <a:schemeClr val="bg1"/>
              </a:solidFill>
            </a:rPr>
            <a:t>Dashboard</a:t>
          </a:r>
        </a:p>
      </dgm:t>
    </dgm:pt>
    <dgm:pt modelId="{FB15C806-72C7-5245-BDCC-4783731620DC}" type="parTrans" cxnId="{466A9115-B422-8842-9178-1B7A2BCA8574}">
      <dgm:prSet/>
      <dgm:spPr/>
      <dgm:t>
        <a:bodyPr/>
        <a:lstStyle/>
        <a:p>
          <a:endParaRPr lang="en-GB">
            <a:solidFill>
              <a:schemeClr val="bg1"/>
            </a:solidFill>
          </a:endParaRPr>
        </a:p>
      </dgm:t>
    </dgm:pt>
    <dgm:pt modelId="{A27FA365-5CC8-D245-A6D3-86597A749D27}" type="sibTrans" cxnId="{466A9115-B422-8842-9178-1B7A2BCA8574}">
      <dgm:prSet/>
      <dgm:spPr>
        <a:solidFill>
          <a:srgbClr val="2563EB"/>
        </a:solidFill>
        <a:ln>
          <a:noFill/>
        </a:ln>
      </dgm:spPr>
      <dgm:t>
        <a:bodyPr/>
        <a:lstStyle/>
        <a:p>
          <a:endParaRPr lang="en-GB">
            <a:solidFill>
              <a:schemeClr val="bg1"/>
            </a:solidFill>
          </a:endParaRPr>
        </a:p>
      </dgm:t>
    </dgm:pt>
    <dgm:pt modelId="{4E398063-5809-3043-A5FC-B50BC97D44DB}" type="pres">
      <dgm:prSet presAssocID="{93383BD2-D112-1640-AE2A-0839B050E4E3}" presName="cycle" presStyleCnt="0">
        <dgm:presLayoutVars>
          <dgm:dir/>
          <dgm:resizeHandles val="exact"/>
        </dgm:presLayoutVars>
      </dgm:prSet>
      <dgm:spPr/>
    </dgm:pt>
    <dgm:pt modelId="{860B07B1-B326-4945-8F83-313A93E7DEB7}" type="pres">
      <dgm:prSet presAssocID="{82EB6857-8720-1248-B163-468F31FE97C0}" presName="dummy" presStyleCnt="0"/>
      <dgm:spPr/>
    </dgm:pt>
    <dgm:pt modelId="{C0809E10-7B7B-E04D-BBC0-116A8CAF3ADC}" type="pres">
      <dgm:prSet presAssocID="{82EB6857-8720-1248-B163-468F31FE97C0}" presName="node" presStyleLbl="revTx" presStyleIdx="0" presStyleCnt="5">
        <dgm:presLayoutVars>
          <dgm:bulletEnabled val="1"/>
        </dgm:presLayoutVars>
      </dgm:prSet>
      <dgm:spPr/>
    </dgm:pt>
    <dgm:pt modelId="{4D7564DD-AD9E-AD40-9327-A6C557C27485}" type="pres">
      <dgm:prSet presAssocID="{0FEB7AB0-433C-A541-BCDF-AABF2454F448}" presName="sibTrans" presStyleLbl="node1" presStyleIdx="0" presStyleCnt="5"/>
      <dgm:spPr/>
    </dgm:pt>
    <dgm:pt modelId="{2711D52C-D74C-B54A-AF48-7697A383B908}" type="pres">
      <dgm:prSet presAssocID="{942F1A6F-D989-2347-9047-8D5A81B559DF}" presName="dummy" presStyleCnt="0"/>
      <dgm:spPr/>
    </dgm:pt>
    <dgm:pt modelId="{2271B553-C3BF-FC4F-A916-75DDFB317F22}" type="pres">
      <dgm:prSet presAssocID="{942F1A6F-D989-2347-9047-8D5A81B559DF}" presName="node" presStyleLbl="revTx" presStyleIdx="1" presStyleCnt="5">
        <dgm:presLayoutVars>
          <dgm:bulletEnabled val="1"/>
        </dgm:presLayoutVars>
      </dgm:prSet>
      <dgm:spPr/>
    </dgm:pt>
    <dgm:pt modelId="{7DEF63AD-D40C-7245-9D2B-4A393A8872AE}" type="pres">
      <dgm:prSet presAssocID="{E08AC7B1-2E01-3947-98AA-04AD5FA65C42}" presName="sibTrans" presStyleLbl="node1" presStyleIdx="1" presStyleCnt="5"/>
      <dgm:spPr/>
    </dgm:pt>
    <dgm:pt modelId="{21CF5550-EB8F-D647-8FF2-882F5EAF2A6D}" type="pres">
      <dgm:prSet presAssocID="{E9F88D12-19C2-2848-B034-3249CE837787}" presName="dummy" presStyleCnt="0"/>
      <dgm:spPr/>
    </dgm:pt>
    <dgm:pt modelId="{44EEA07A-07CA-464A-AF4C-CBFEBF1BCEE6}" type="pres">
      <dgm:prSet presAssocID="{E9F88D12-19C2-2848-B034-3249CE837787}" presName="node" presStyleLbl="revTx" presStyleIdx="2" presStyleCnt="5">
        <dgm:presLayoutVars>
          <dgm:bulletEnabled val="1"/>
        </dgm:presLayoutVars>
      </dgm:prSet>
      <dgm:spPr/>
    </dgm:pt>
    <dgm:pt modelId="{AAEF2567-7C8D-B54F-9EDF-757AB97E37AC}" type="pres">
      <dgm:prSet presAssocID="{C2EE4C5C-6223-0848-8966-DA96976E4A33}" presName="sibTrans" presStyleLbl="node1" presStyleIdx="2" presStyleCnt="5"/>
      <dgm:spPr/>
    </dgm:pt>
    <dgm:pt modelId="{4D033467-B93C-FE44-9B22-AC50F6EF9A75}" type="pres">
      <dgm:prSet presAssocID="{780FA2E7-4109-FE48-9B0B-465EFF8412F5}" presName="dummy" presStyleCnt="0"/>
      <dgm:spPr/>
    </dgm:pt>
    <dgm:pt modelId="{1ECA4425-4020-A14F-B39D-1D2592D1EDCC}" type="pres">
      <dgm:prSet presAssocID="{780FA2E7-4109-FE48-9B0B-465EFF8412F5}" presName="node" presStyleLbl="revTx" presStyleIdx="3" presStyleCnt="5">
        <dgm:presLayoutVars>
          <dgm:bulletEnabled val="1"/>
        </dgm:presLayoutVars>
      </dgm:prSet>
      <dgm:spPr/>
    </dgm:pt>
    <dgm:pt modelId="{51CB0916-8B0A-7B48-8FAF-9F722375F2C0}" type="pres">
      <dgm:prSet presAssocID="{A27FA365-5CC8-D245-A6D3-86597A749D27}" presName="sibTrans" presStyleLbl="node1" presStyleIdx="3" presStyleCnt="5"/>
      <dgm:spPr/>
    </dgm:pt>
    <dgm:pt modelId="{ED7FABD7-824B-4642-BF8B-9150A5B77919}" type="pres">
      <dgm:prSet presAssocID="{F0A09615-AE6E-3047-9AAC-3B13E1CC2129}" presName="dummy" presStyleCnt="0"/>
      <dgm:spPr/>
    </dgm:pt>
    <dgm:pt modelId="{DCB34B93-2A76-6D47-8835-9703808E092B}" type="pres">
      <dgm:prSet presAssocID="{F0A09615-AE6E-3047-9AAC-3B13E1CC2129}" presName="node" presStyleLbl="revTx" presStyleIdx="4" presStyleCnt="5">
        <dgm:presLayoutVars>
          <dgm:bulletEnabled val="1"/>
        </dgm:presLayoutVars>
      </dgm:prSet>
      <dgm:spPr/>
    </dgm:pt>
    <dgm:pt modelId="{3EB9B4A0-7ECE-7047-85F1-FA973621C39D}" type="pres">
      <dgm:prSet presAssocID="{705A1671-3AE2-E547-BE29-3DFA824A9A6B}" presName="sibTrans" presStyleLbl="node1" presStyleIdx="4" presStyleCnt="5"/>
      <dgm:spPr/>
    </dgm:pt>
  </dgm:ptLst>
  <dgm:cxnLst>
    <dgm:cxn modelId="{C9F6D108-586D-4F4A-84EF-D7C64F900BFA}" type="presOf" srcId="{82EB6857-8720-1248-B163-468F31FE97C0}" destId="{C0809E10-7B7B-E04D-BBC0-116A8CAF3ADC}" srcOrd="0" destOrd="0" presId="urn:microsoft.com/office/officeart/2005/8/layout/cycle1"/>
    <dgm:cxn modelId="{466A9115-B422-8842-9178-1B7A2BCA8574}" srcId="{93383BD2-D112-1640-AE2A-0839B050E4E3}" destId="{780FA2E7-4109-FE48-9B0B-465EFF8412F5}" srcOrd="3" destOrd="0" parTransId="{FB15C806-72C7-5245-BDCC-4783731620DC}" sibTransId="{A27FA365-5CC8-D245-A6D3-86597A749D27}"/>
    <dgm:cxn modelId="{DC5CBF20-A984-5547-99D5-448DCF1CCB08}" type="presOf" srcId="{942F1A6F-D989-2347-9047-8D5A81B559DF}" destId="{2271B553-C3BF-FC4F-A916-75DDFB317F22}" srcOrd="0" destOrd="0" presId="urn:microsoft.com/office/officeart/2005/8/layout/cycle1"/>
    <dgm:cxn modelId="{71452D6D-D119-D146-A83A-D2ADA838F81E}" srcId="{93383BD2-D112-1640-AE2A-0839B050E4E3}" destId="{E9F88D12-19C2-2848-B034-3249CE837787}" srcOrd="2" destOrd="0" parTransId="{4CBE3FFB-49C6-D346-ABC6-6DA3D2A321A2}" sibTransId="{C2EE4C5C-6223-0848-8966-DA96976E4A33}"/>
    <dgm:cxn modelId="{1B656375-D5DB-9649-8278-CA39A53048EF}" srcId="{93383BD2-D112-1640-AE2A-0839B050E4E3}" destId="{F0A09615-AE6E-3047-9AAC-3B13E1CC2129}" srcOrd="4" destOrd="0" parTransId="{F94515A0-19C2-F541-AD97-D39BA55F63CC}" sibTransId="{705A1671-3AE2-E547-BE29-3DFA824A9A6B}"/>
    <dgm:cxn modelId="{6747B576-E923-D746-AC18-A325D7FA687D}" type="presOf" srcId="{A27FA365-5CC8-D245-A6D3-86597A749D27}" destId="{51CB0916-8B0A-7B48-8FAF-9F722375F2C0}" srcOrd="0" destOrd="0" presId="urn:microsoft.com/office/officeart/2005/8/layout/cycle1"/>
    <dgm:cxn modelId="{7E219579-E039-E64F-93AC-F6E7C6F0AB27}" type="presOf" srcId="{705A1671-3AE2-E547-BE29-3DFA824A9A6B}" destId="{3EB9B4A0-7ECE-7047-85F1-FA973621C39D}" srcOrd="0" destOrd="0" presId="urn:microsoft.com/office/officeart/2005/8/layout/cycle1"/>
    <dgm:cxn modelId="{C1B22D81-7F53-E746-9D58-F630CF5687E6}" type="presOf" srcId="{C2EE4C5C-6223-0848-8966-DA96976E4A33}" destId="{AAEF2567-7C8D-B54F-9EDF-757AB97E37AC}" srcOrd="0" destOrd="0" presId="urn:microsoft.com/office/officeart/2005/8/layout/cycle1"/>
    <dgm:cxn modelId="{96B46A8F-4F26-0643-92A7-757113F57791}" type="presOf" srcId="{E9F88D12-19C2-2848-B034-3249CE837787}" destId="{44EEA07A-07CA-464A-AF4C-CBFEBF1BCEE6}" srcOrd="0" destOrd="0" presId="urn:microsoft.com/office/officeart/2005/8/layout/cycle1"/>
    <dgm:cxn modelId="{8214BFA9-CAEB-0844-A85C-C147F313196E}" type="presOf" srcId="{93383BD2-D112-1640-AE2A-0839B050E4E3}" destId="{4E398063-5809-3043-A5FC-B50BC97D44DB}" srcOrd="0" destOrd="0" presId="urn:microsoft.com/office/officeart/2005/8/layout/cycle1"/>
    <dgm:cxn modelId="{E86841AE-8CE1-DB40-817B-B5FD157EF328}" type="presOf" srcId="{0FEB7AB0-433C-A541-BCDF-AABF2454F448}" destId="{4D7564DD-AD9E-AD40-9327-A6C557C27485}" srcOrd="0" destOrd="0" presId="urn:microsoft.com/office/officeart/2005/8/layout/cycle1"/>
    <dgm:cxn modelId="{ABAB32DA-CF6E-C748-9D54-4E5C8D698718}" type="presOf" srcId="{F0A09615-AE6E-3047-9AAC-3B13E1CC2129}" destId="{DCB34B93-2A76-6D47-8835-9703808E092B}" srcOrd="0" destOrd="0" presId="urn:microsoft.com/office/officeart/2005/8/layout/cycle1"/>
    <dgm:cxn modelId="{80588DDC-5377-3145-A925-9E07D765E3DA}" type="presOf" srcId="{780FA2E7-4109-FE48-9B0B-465EFF8412F5}" destId="{1ECA4425-4020-A14F-B39D-1D2592D1EDCC}" srcOrd="0" destOrd="0" presId="urn:microsoft.com/office/officeart/2005/8/layout/cycle1"/>
    <dgm:cxn modelId="{74EEFCDF-E5D1-FC4C-BA06-30806C752545}" type="presOf" srcId="{E08AC7B1-2E01-3947-98AA-04AD5FA65C42}" destId="{7DEF63AD-D40C-7245-9D2B-4A393A8872AE}" srcOrd="0" destOrd="0" presId="urn:microsoft.com/office/officeart/2005/8/layout/cycle1"/>
    <dgm:cxn modelId="{DF38F8F8-CE82-E64D-AF8C-6B32D86FEE65}" srcId="{93383BD2-D112-1640-AE2A-0839B050E4E3}" destId="{82EB6857-8720-1248-B163-468F31FE97C0}" srcOrd="0" destOrd="0" parTransId="{653A18C7-F553-0047-B537-8F572CA8AFF9}" sibTransId="{0FEB7AB0-433C-A541-BCDF-AABF2454F448}"/>
    <dgm:cxn modelId="{5467D4FE-93FD-8B43-8499-1387949257B9}" srcId="{93383BD2-D112-1640-AE2A-0839B050E4E3}" destId="{942F1A6F-D989-2347-9047-8D5A81B559DF}" srcOrd="1" destOrd="0" parTransId="{478C4B38-8054-8741-9385-93A638105DBF}" sibTransId="{E08AC7B1-2E01-3947-98AA-04AD5FA65C42}"/>
    <dgm:cxn modelId="{5A9B3B64-31F6-0645-AF32-638B3B826B96}" type="presParOf" srcId="{4E398063-5809-3043-A5FC-B50BC97D44DB}" destId="{860B07B1-B326-4945-8F83-313A93E7DEB7}" srcOrd="0" destOrd="0" presId="urn:microsoft.com/office/officeart/2005/8/layout/cycle1"/>
    <dgm:cxn modelId="{CBA8EAA9-CE6D-864E-990B-3CD89171FDC0}" type="presParOf" srcId="{4E398063-5809-3043-A5FC-B50BC97D44DB}" destId="{C0809E10-7B7B-E04D-BBC0-116A8CAF3ADC}" srcOrd="1" destOrd="0" presId="urn:microsoft.com/office/officeart/2005/8/layout/cycle1"/>
    <dgm:cxn modelId="{E3573E98-470C-1F40-B6B3-D1F97D9D81F9}" type="presParOf" srcId="{4E398063-5809-3043-A5FC-B50BC97D44DB}" destId="{4D7564DD-AD9E-AD40-9327-A6C557C27485}" srcOrd="2" destOrd="0" presId="urn:microsoft.com/office/officeart/2005/8/layout/cycle1"/>
    <dgm:cxn modelId="{EE0100E2-92F5-AD4C-97F1-B6ED916A699C}" type="presParOf" srcId="{4E398063-5809-3043-A5FC-B50BC97D44DB}" destId="{2711D52C-D74C-B54A-AF48-7697A383B908}" srcOrd="3" destOrd="0" presId="urn:microsoft.com/office/officeart/2005/8/layout/cycle1"/>
    <dgm:cxn modelId="{B860B918-898B-FB48-A043-BA189B7359CC}" type="presParOf" srcId="{4E398063-5809-3043-A5FC-B50BC97D44DB}" destId="{2271B553-C3BF-FC4F-A916-75DDFB317F22}" srcOrd="4" destOrd="0" presId="urn:microsoft.com/office/officeart/2005/8/layout/cycle1"/>
    <dgm:cxn modelId="{ACA59D9D-43F6-6846-A30D-0F1CC298E19A}" type="presParOf" srcId="{4E398063-5809-3043-A5FC-B50BC97D44DB}" destId="{7DEF63AD-D40C-7245-9D2B-4A393A8872AE}" srcOrd="5" destOrd="0" presId="urn:microsoft.com/office/officeart/2005/8/layout/cycle1"/>
    <dgm:cxn modelId="{BEB1F058-8339-0A48-99CC-699B1C92FF61}" type="presParOf" srcId="{4E398063-5809-3043-A5FC-B50BC97D44DB}" destId="{21CF5550-EB8F-D647-8FF2-882F5EAF2A6D}" srcOrd="6" destOrd="0" presId="urn:microsoft.com/office/officeart/2005/8/layout/cycle1"/>
    <dgm:cxn modelId="{130F6245-F6E9-E845-81F9-6F04B00F700F}" type="presParOf" srcId="{4E398063-5809-3043-A5FC-B50BC97D44DB}" destId="{44EEA07A-07CA-464A-AF4C-CBFEBF1BCEE6}" srcOrd="7" destOrd="0" presId="urn:microsoft.com/office/officeart/2005/8/layout/cycle1"/>
    <dgm:cxn modelId="{57FEF901-42BD-914F-8EAA-8645AE19920B}" type="presParOf" srcId="{4E398063-5809-3043-A5FC-B50BC97D44DB}" destId="{AAEF2567-7C8D-B54F-9EDF-757AB97E37AC}" srcOrd="8" destOrd="0" presId="urn:microsoft.com/office/officeart/2005/8/layout/cycle1"/>
    <dgm:cxn modelId="{65096229-594D-EB47-8272-E917446F60BE}" type="presParOf" srcId="{4E398063-5809-3043-A5FC-B50BC97D44DB}" destId="{4D033467-B93C-FE44-9B22-AC50F6EF9A75}" srcOrd="9" destOrd="0" presId="urn:microsoft.com/office/officeart/2005/8/layout/cycle1"/>
    <dgm:cxn modelId="{8EDB53AD-68E0-A849-B05E-C0C3CB6F2DBB}" type="presParOf" srcId="{4E398063-5809-3043-A5FC-B50BC97D44DB}" destId="{1ECA4425-4020-A14F-B39D-1D2592D1EDCC}" srcOrd="10" destOrd="0" presId="urn:microsoft.com/office/officeart/2005/8/layout/cycle1"/>
    <dgm:cxn modelId="{001DE7CF-B5B7-8144-8D73-03C1B16410C9}" type="presParOf" srcId="{4E398063-5809-3043-A5FC-B50BC97D44DB}" destId="{51CB0916-8B0A-7B48-8FAF-9F722375F2C0}" srcOrd="11" destOrd="0" presId="urn:microsoft.com/office/officeart/2005/8/layout/cycle1"/>
    <dgm:cxn modelId="{6F27D88C-3499-E54A-B77C-7593BC390934}" type="presParOf" srcId="{4E398063-5809-3043-A5FC-B50BC97D44DB}" destId="{ED7FABD7-824B-4642-BF8B-9150A5B77919}" srcOrd="12" destOrd="0" presId="urn:microsoft.com/office/officeart/2005/8/layout/cycle1"/>
    <dgm:cxn modelId="{03F397A7-20BE-A84A-B880-50EF6A7A8EE4}" type="presParOf" srcId="{4E398063-5809-3043-A5FC-B50BC97D44DB}" destId="{DCB34B93-2A76-6D47-8835-9703808E092B}" srcOrd="13" destOrd="0" presId="urn:microsoft.com/office/officeart/2005/8/layout/cycle1"/>
    <dgm:cxn modelId="{4E21C494-5250-F740-8807-5AFEAEA4FE15}" type="presParOf" srcId="{4E398063-5809-3043-A5FC-B50BC97D44DB}" destId="{3EB9B4A0-7ECE-7047-85F1-FA973621C39D}"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809E10-7B7B-E04D-BBC0-116A8CAF3ADC}">
      <dsp:nvSpPr>
        <dsp:cNvPr id="0" name=""/>
        <dsp:cNvSpPr/>
      </dsp:nvSpPr>
      <dsp:spPr>
        <a:xfrm>
          <a:off x="2774110" y="32748"/>
          <a:ext cx="1083217" cy="1083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a:solidFill>
                <a:schemeClr val="bg1"/>
              </a:solidFill>
            </a:rPr>
            <a:t>Business problem</a:t>
          </a:r>
        </a:p>
      </dsp:txBody>
      <dsp:txXfrm>
        <a:off x="2774110" y="32748"/>
        <a:ext cx="1083217" cy="1083217"/>
      </dsp:txXfrm>
    </dsp:sp>
    <dsp:sp modelId="{4D7564DD-AD9E-AD40-9327-A6C557C27485}">
      <dsp:nvSpPr>
        <dsp:cNvPr id="0" name=""/>
        <dsp:cNvSpPr/>
      </dsp:nvSpPr>
      <dsp:spPr>
        <a:xfrm>
          <a:off x="226416" y="1461"/>
          <a:ext cx="4060758" cy="4060758"/>
        </a:xfrm>
        <a:prstGeom prst="circularArrow">
          <a:avLst>
            <a:gd name="adj1" fmla="val 5202"/>
            <a:gd name="adj2" fmla="val 336024"/>
            <a:gd name="adj3" fmla="val 21292792"/>
            <a:gd name="adj4" fmla="val 19766633"/>
            <a:gd name="adj5" fmla="val 6069"/>
          </a:avLst>
        </a:prstGeom>
        <a:solidFill>
          <a:srgbClr val="2563E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71B553-C3BF-FC4F-A916-75DDFB317F22}">
      <dsp:nvSpPr>
        <dsp:cNvPr id="0" name=""/>
        <dsp:cNvSpPr/>
      </dsp:nvSpPr>
      <dsp:spPr>
        <a:xfrm>
          <a:off x="3428561" y="2046941"/>
          <a:ext cx="1083217" cy="1083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a:solidFill>
                <a:schemeClr val="bg1"/>
              </a:solidFill>
            </a:rPr>
            <a:t>Analyst</a:t>
          </a:r>
        </a:p>
      </dsp:txBody>
      <dsp:txXfrm>
        <a:off x="3428561" y="2046941"/>
        <a:ext cx="1083217" cy="1083217"/>
      </dsp:txXfrm>
    </dsp:sp>
    <dsp:sp modelId="{7DEF63AD-D40C-7245-9D2B-4A393A8872AE}">
      <dsp:nvSpPr>
        <dsp:cNvPr id="0" name=""/>
        <dsp:cNvSpPr/>
      </dsp:nvSpPr>
      <dsp:spPr>
        <a:xfrm>
          <a:off x="226416" y="1461"/>
          <a:ext cx="4060758" cy="4060758"/>
        </a:xfrm>
        <a:prstGeom prst="circularArrow">
          <a:avLst>
            <a:gd name="adj1" fmla="val 5202"/>
            <a:gd name="adj2" fmla="val 336024"/>
            <a:gd name="adj3" fmla="val 4014231"/>
            <a:gd name="adj4" fmla="val 2253861"/>
            <a:gd name="adj5" fmla="val 6069"/>
          </a:avLst>
        </a:prstGeom>
        <a:solidFill>
          <a:srgbClr val="2563E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EEA07A-07CA-464A-AF4C-CBFEBF1BCEE6}">
      <dsp:nvSpPr>
        <dsp:cNvPr id="0" name=""/>
        <dsp:cNvSpPr/>
      </dsp:nvSpPr>
      <dsp:spPr>
        <a:xfrm>
          <a:off x="1715186" y="3291781"/>
          <a:ext cx="1083217" cy="1083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a:solidFill>
                <a:schemeClr val="bg1"/>
              </a:solidFill>
            </a:rPr>
            <a:t>SQL</a:t>
          </a:r>
        </a:p>
      </dsp:txBody>
      <dsp:txXfrm>
        <a:off x="1715186" y="3291781"/>
        <a:ext cx="1083217" cy="1083217"/>
      </dsp:txXfrm>
    </dsp:sp>
    <dsp:sp modelId="{AAEF2567-7C8D-B54F-9EDF-757AB97E37AC}">
      <dsp:nvSpPr>
        <dsp:cNvPr id="0" name=""/>
        <dsp:cNvSpPr/>
      </dsp:nvSpPr>
      <dsp:spPr>
        <a:xfrm>
          <a:off x="226416" y="1461"/>
          <a:ext cx="4060758" cy="4060758"/>
        </a:xfrm>
        <a:prstGeom prst="circularArrow">
          <a:avLst>
            <a:gd name="adj1" fmla="val 5202"/>
            <a:gd name="adj2" fmla="val 336024"/>
            <a:gd name="adj3" fmla="val 8210115"/>
            <a:gd name="adj4" fmla="val 6449745"/>
            <a:gd name="adj5" fmla="val 6069"/>
          </a:avLst>
        </a:prstGeom>
        <a:solidFill>
          <a:srgbClr val="2563E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CA4425-4020-A14F-B39D-1D2592D1EDCC}">
      <dsp:nvSpPr>
        <dsp:cNvPr id="0" name=""/>
        <dsp:cNvSpPr/>
      </dsp:nvSpPr>
      <dsp:spPr>
        <a:xfrm>
          <a:off x="1811" y="2046941"/>
          <a:ext cx="1083217" cy="1083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a:solidFill>
                <a:schemeClr val="bg1"/>
              </a:solidFill>
            </a:rPr>
            <a:t>Dashboard</a:t>
          </a:r>
        </a:p>
      </dsp:txBody>
      <dsp:txXfrm>
        <a:off x="1811" y="2046941"/>
        <a:ext cx="1083217" cy="1083217"/>
      </dsp:txXfrm>
    </dsp:sp>
    <dsp:sp modelId="{51CB0916-8B0A-7B48-8FAF-9F722375F2C0}">
      <dsp:nvSpPr>
        <dsp:cNvPr id="0" name=""/>
        <dsp:cNvSpPr/>
      </dsp:nvSpPr>
      <dsp:spPr>
        <a:xfrm>
          <a:off x="226416" y="1461"/>
          <a:ext cx="4060758" cy="4060758"/>
        </a:xfrm>
        <a:prstGeom prst="circularArrow">
          <a:avLst>
            <a:gd name="adj1" fmla="val 5202"/>
            <a:gd name="adj2" fmla="val 336024"/>
            <a:gd name="adj3" fmla="val 12297343"/>
            <a:gd name="adj4" fmla="val 10771185"/>
            <a:gd name="adj5" fmla="val 6069"/>
          </a:avLst>
        </a:prstGeom>
        <a:solidFill>
          <a:srgbClr val="2563E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B34B93-2A76-6D47-8835-9703808E092B}">
      <dsp:nvSpPr>
        <dsp:cNvPr id="0" name=""/>
        <dsp:cNvSpPr/>
      </dsp:nvSpPr>
      <dsp:spPr>
        <a:xfrm>
          <a:off x="656262" y="32748"/>
          <a:ext cx="1083217" cy="1083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a:solidFill>
                <a:schemeClr val="bg1"/>
              </a:solidFill>
            </a:rPr>
            <a:t>Answer</a:t>
          </a:r>
        </a:p>
      </dsp:txBody>
      <dsp:txXfrm>
        <a:off x="656262" y="32748"/>
        <a:ext cx="1083217" cy="1083217"/>
      </dsp:txXfrm>
    </dsp:sp>
    <dsp:sp modelId="{3EB9B4A0-7ECE-7047-85F1-FA973621C39D}">
      <dsp:nvSpPr>
        <dsp:cNvPr id="0" name=""/>
        <dsp:cNvSpPr/>
      </dsp:nvSpPr>
      <dsp:spPr>
        <a:xfrm>
          <a:off x="226416" y="1461"/>
          <a:ext cx="4060758" cy="4060758"/>
        </a:xfrm>
        <a:prstGeom prst="circularArrow">
          <a:avLst>
            <a:gd name="adj1" fmla="val 5202"/>
            <a:gd name="adj2" fmla="val 336024"/>
            <a:gd name="adj3" fmla="val 16865222"/>
            <a:gd name="adj4" fmla="val 15198755"/>
            <a:gd name="adj5" fmla="val 6069"/>
          </a:avLst>
        </a:prstGeom>
        <a:solidFill>
          <a:srgbClr val="2563E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E93F5-A776-4BB2-A1FB-6520E23B8F59}" type="datetimeFigureOut">
              <a:rPr lang="en-IN" smtClean="0"/>
              <a:t>10-07-2026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3C7BB5-8788-4ACE-B00D-6FAAF9F83B37}" type="slidenum">
              <a:rPr lang="en-IN" smtClean="0"/>
              <a:t>‹#›</a:t>
            </a:fld>
            <a:endParaRPr lang="en-IN"/>
          </a:p>
        </p:txBody>
      </p:sp>
    </p:spTree>
    <p:extLst>
      <p:ext uri="{BB962C8B-B14F-4D97-AF65-F5344CB8AC3E}">
        <p14:creationId xmlns:p14="http://schemas.microsoft.com/office/powerpoint/2010/main" val="1254802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3C7BB5-8788-4ACE-B00D-6FAAF9F83B37}" type="slidenum">
              <a:rPr lang="en-IN" smtClean="0"/>
              <a:t>2</a:t>
            </a:fld>
            <a:endParaRPr lang="en-IN"/>
          </a:p>
        </p:txBody>
      </p:sp>
    </p:spTree>
    <p:extLst>
      <p:ext uri="{BB962C8B-B14F-4D97-AF65-F5344CB8AC3E}">
        <p14:creationId xmlns:p14="http://schemas.microsoft.com/office/powerpoint/2010/main" val="2446794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3C7BB5-8788-4ACE-B00D-6FAAF9F83B37}" type="slidenum">
              <a:rPr lang="en-IN" smtClean="0"/>
              <a:t>14</a:t>
            </a:fld>
            <a:endParaRPr lang="en-IN"/>
          </a:p>
        </p:txBody>
      </p:sp>
    </p:spTree>
    <p:extLst>
      <p:ext uri="{BB962C8B-B14F-4D97-AF65-F5344CB8AC3E}">
        <p14:creationId xmlns:p14="http://schemas.microsoft.com/office/powerpoint/2010/main" val="2667537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8.png"/><Relationship Id="rId3" Type="http://schemas.openxmlformats.org/officeDocument/2006/relationships/tags" Target="../tags/tag3.xml"/><Relationship Id="rId7" Type="http://schemas.openxmlformats.org/officeDocument/2006/relationships/image" Target="../media/image5.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7.png"/><Relationship Id="rId5" Type="http://schemas.openxmlformats.org/officeDocument/2006/relationships/slideMaster" Target="../slideMasters/slideMaster1.xml"/><Relationship Id="rId1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6.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73.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hyperlink" Target="https://de-de.facebook.com/CapgeminiInventDACH/" TargetMode="External"/><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hyperlink" Target="http://www.slideshare.net/capgemini" TargetMode="External"/><Relationship Id="rId11" Type="http://schemas.openxmlformats.org/officeDocument/2006/relationships/image" Target="../media/image23.png"/><Relationship Id="rId5" Type="http://schemas.openxmlformats.org/officeDocument/2006/relationships/image" Target="../media/image20.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8901968"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09431" y="409248"/>
            <a:ext cx="1871513"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1247"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597" y="980728"/>
            <a:ext cx="7311145" cy="4104456"/>
          </a:xfrm>
        </p:spPr>
        <p:txBody>
          <a:bodyPr vert="horz" lIns="0" tIns="0" rIns="0" bIns="126000" rtlCol="0" anchor="b" anchorCtr="0">
            <a:noAutofit/>
          </a:bodyPr>
          <a:lstStyle>
            <a:lvl1pPr>
              <a:defRPr lang="en-PL" sz="7198"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597" y="5131138"/>
            <a:ext cx="6477848" cy="215444"/>
          </a:xfrm>
          <a:prstGeom prst="rect">
            <a:avLst/>
          </a:prstGeom>
        </p:spPr>
        <p:txBody>
          <a:bodyPr/>
          <a:lstStyle>
            <a:lvl1pPr>
              <a:defRPr lang="en-GB" sz="1699"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597" y="5715912"/>
            <a:ext cx="6477848"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8020756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003" y="1489457"/>
            <a:ext cx="6478487" cy="1677988"/>
          </a:xfrm>
          <a:noFill/>
        </p:spPr>
        <p:txBody>
          <a:bodyPr anchor="b"/>
          <a:lstStyle>
            <a:lvl1pPr algn="ctr">
              <a:defRPr kumimoji="0" lang="en-PL" sz="5398"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3417" y="3167445"/>
            <a:ext cx="6476900" cy="348286"/>
          </a:xfrm>
          <a:prstGeom prst="rect">
            <a:avLst/>
          </a:prstGeom>
        </p:spPr>
        <p:txBody>
          <a:bodyPr/>
          <a:lstStyle>
            <a:lvl1pPr algn="ctr">
              <a:defRPr lang="en-GB" sz="1999"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042" y="3709694"/>
            <a:ext cx="6477848"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39" y="4642089"/>
            <a:ext cx="12561257"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1893" y="2536529"/>
            <a:ext cx="4659276"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4225" y="3673621"/>
            <a:ext cx="4659276"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11847675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7944" y="4310970"/>
            <a:ext cx="3776014" cy="844776"/>
          </a:xfrm>
          <a:prstGeom prst="rect">
            <a:avLst/>
          </a:prstGeom>
        </p:spPr>
        <p:txBody>
          <a:bodyPr/>
          <a:lstStyle>
            <a:lvl1pPr algn="l">
              <a:defRPr lang="en-GB" sz="1999"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7944" y="5787865"/>
            <a:ext cx="3776014"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706" y="6162345"/>
            <a:ext cx="1871513"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3558" y="5155746"/>
            <a:ext cx="8065267"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34" y="-171399"/>
            <a:ext cx="7711131" cy="6199078"/>
          </a:xfrm>
        </p:spPr>
        <p:txBody>
          <a:bodyPr/>
          <a:lstStyle>
            <a:lvl1pPr>
              <a:lnSpc>
                <a:spcPct val="75000"/>
              </a:lnSpc>
              <a:defRPr sz="17195">
                <a:solidFill>
                  <a:schemeClr val="accent1"/>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131623287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88826"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240" y="1628775"/>
            <a:ext cx="6576367" cy="3589714"/>
          </a:xfrm>
        </p:spPr>
        <p:txBody>
          <a:bodyPr anchor="b"/>
          <a:lstStyle>
            <a:lvl1pPr>
              <a:defRPr sz="5398">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132" y="5251824"/>
            <a:ext cx="6576367"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88825"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132" y="5910502"/>
            <a:ext cx="6576367"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92452578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79955" y="0"/>
            <a:ext cx="1200887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078" y="1628776"/>
            <a:ext cx="6576367" cy="3335273"/>
          </a:xfrm>
        </p:spPr>
        <p:txBody>
          <a:bodyPr anchor="b"/>
          <a:lstStyle>
            <a:lvl1pPr>
              <a:lnSpc>
                <a:spcPct val="90000"/>
              </a:lnSpc>
              <a:defRPr sz="7198">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1969" y="5251824"/>
            <a:ext cx="6576367" cy="659722"/>
          </a:xfrm>
          <a:prstGeom prst="rect">
            <a:avLst/>
          </a:prstGeom>
        </p:spPr>
        <p:txBody>
          <a:bodyPr/>
          <a:lstStyle>
            <a:lvl1pPr>
              <a:defRPr sz="1999"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9022"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1969" y="5910502"/>
            <a:ext cx="6576367"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166804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57555" y="1"/>
            <a:ext cx="273127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7760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240" y="1628775"/>
            <a:ext cx="6576367" cy="3589714"/>
          </a:xfrm>
        </p:spPr>
        <p:txBody>
          <a:bodyPr anchor="b"/>
          <a:lstStyle>
            <a:lvl1pPr>
              <a:defRPr sz="5398">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09431" y="3893183"/>
            <a:ext cx="1871513" cy="1123397"/>
          </a:xfrm>
          <a:prstGeom prst="rect">
            <a:avLst/>
          </a:prstGeom>
        </p:spPr>
        <p:txBody>
          <a:bodyPr anchor="b">
            <a:noAutofit/>
          </a:bodyPr>
          <a:lstStyle>
            <a:lvl1pPr>
              <a:defRPr sz="1999"/>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38580"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09431" y="5264062"/>
            <a:ext cx="1871513"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96175761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7760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57555" y="0"/>
            <a:ext cx="273127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09431" y="6122117"/>
            <a:ext cx="1871513"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6562" y="549276"/>
            <a:ext cx="4035103" cy="3815829"/>
          </a:xfrm>
        </p:spPr>
        <p:txBody>
          <a:bodyPr anchor="b"/>
          <a:lstStyle>
            <a:lvl1pPr>
              <a:defRPr sz="6598">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8553" y="4725144"/>
            <a:ext cx="3963112" cy="316404"/>
          </a:xfrm>
          <a:prstGeom prst="rect">
            <a:avLst/>
          </a:prstGeom>
        </p:spPr>
        <p:txBody>
          <a:bodyPr anchor="b">
            <a:noAutofit/>
          </a:bodyPr>
          <a:lstStyle>
            <a:lvl1pPr>
              <a:defRPr sz="1999">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38580"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09431" y="5264062"/>
            <a:ext cx="1871513"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964155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0" y="1"/>
            <a:ext cx="273606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014" y="0"/>
            <a:ext cx="9272811"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02" y="6122117"/>
            <a:ext cx="1871513"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799"/>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799"/>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799"/>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799"/>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799"/>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0117" y="1628775"/>
            <a:ext cx="6576367" cy="3589714"/>
          </a:xfrm>
        </p:spPr>
        <p:txBody>
          <a:bodyPr anchor="b"/>
          <a:lstStyle>
            <a:lvl1pPr>
              <a:defRPr sz="5398">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962"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02" y="3893183"/>
            <a:ext cx="2087748" cy="1123397"/>
          </a:xfrm>
          <a:prstGeom prst="rect">
            <a:avLst/>
          </a:prstGeom>
        </p:spPr>
        <p:txBody>
          <a:bodyPr anchor="b">
            <a:noAutofit/>
          </a:bodyPr>
          <a:lstStyle>
            <a:lvl1pPr>
              <a:defRPr sz="1999"/>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02" y="5264062"/>
            <a:ext cx="2087748"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09962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6645" y="1"/>
            <a:ext cx="3312180"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241" y="549274"/>
            <a:ext cx="7918817"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241" y="1628800"/>
            <a:ext cx="7918817"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5" name="Date Placeholder 4">
            <a:extLst>
              <a:ext uri="{FF2B5EF4-FFF2-40B4-BE49-F238E27FC236}">
                <a16:creationId xmlns:a16="http://schemas.microsoft.com/office/drawing/2014/main" id="{47A5FEF4-798F-F969-DBF6-D3593B548D69}"/>
              </a:ext>
            </a:extLst>
          </p:cNvPr>
          <p:cNvSpPr>
            <a:spLocks noGrp="1"/>
          </p:cNvSpPr>
          <p:nvPr>
            <p:ph type="dt" sz="half" idx="41"/>
          </p:nvPr>
        </p:nvSpPr>
        <p:spPr/>
        <p:txBody>
          <a:bodyPr/>
          <a:lstStyle/>
          <a:p>
            <a:pPr>
              <a:spcBef>
                <a:spcPts val="1000"/>
              </a:spcBef>
            </a:pPr>
            <a:r>
              <a:rPr lang="en-IN" kern="0">
                <a:solidFill>
                  <a:srgbClr val="FFFFFF">
                    <a:lumMod val="65000"/>
                  </a:srgbClr>
                </a:solidFill>
              </a:rPr>
              <a:t>Company Confidential © Capgemini 2026. All rights reserved.</a:t>
            </a:r>
            <a:endParaRPr lang="en-US"/>
          </a:p>
        </p:txBody>
      </p:sp>
      <p:sp>
        <p:nvSpPr>
          <p:cNvPr id="12" name="Footer Placeholder 11">
            <a:extLst>
              <a:ext uri="{FF2B5EF4-FFF2-40B4-BE49-F238E27FC236}">
                <a16:creationId xmlns:a16="http://schemas.microsoft.com/office/drawing/2014/main" id="{538AE169-6718-B692-827C-BEED2FB69936}"/>
              </a:ext>
            </a:extLst>
          </p:cNvPr>
          <p:cNvSpPr>
            <a:spLocks noGrp="1"/>
          </p:cNvSpPr>
          <p:nvPr>
            <p:ph type="ftr" sz="quarter" idx="42"/>
          </p:nvPr>
        </p:nvSpPr>
        <p:spPr/>
        <p:txBody>
          <a:bodyPr/>
          <a:lstStyle/>
          <a:p>
            <a:pPr>
              <a:spcBef>
                <a:spcPts val="1000"/>
              </a:spcBef>
            </a:pPr>
            <a:r>
              <a:rPr lang="en-US"/>
              <a:t>AI Data Copilot - AskData</a:t>
            </a:r>
          </a:p>
        </p:txBody>
      </p:sp>
      <p:sp>
        <p:nvSpPr>
          <p:cNvPr id="13" name="Slide Number Placeholder 12">
            <a:extLst>
              <a:ext uri="{FF2B5EF4-FFF2-40B4-BE49-F238E27FC236}">
                <a16:creationId xmlns:a16="http://schemas.microsoft.com/office/drawing/2014/main" id="{4D013A60-1411-1B85-1A3B-3C6B8E0F7780}"/>
              </a:ext>
            </a:extLst>
          </p:cNvPr>
          <p:cNvSpPr>
            <a:spLocks noGrp="1"/>
          </p:cNvSpPr>
          <p:nvPr>
            <p:ph type="sldNum" sz="quarter" idx="43"/>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588934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598337" y="549274"/>
            <a:ext cx="5040953"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4278" y="2007152"/>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4278" y="2599765"/>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4278" y="3192378"/>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4278" y="3784991"/>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4278" y="4377605"/>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4278" y="4970219"/>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4278" y="5562833"/>
            <a:ext cx="5053307" cy="369332"/>
          </a:xfrm>
          <a:prstGeom prst="rect">
            <a:avLst/>
          </a:prstGeom>
        </p:spPr>
        <p:txBody>
          <a:bodyPr lIns="0" tIns="0" rIns="0" bIns="0" anchor="ctr">
            <a:normAutofit/>
          </a:bodyPr>
          <a:lstStyle>
            <a:lvl1pPr>
              <a:spcBef>
                <a:spcPts val="0"/>
              </a:spcBef>
              <a:defRPr sz="1999">
                <a:solidFill>
                  <a:schemeClr val="tx2"/>
                </a:solidFill>
              </a:defRPr>
            </a:lvl1pPr>
          </a:lstStyle>
          <a:p>
            <a:pPr lvl="0"/>
            <a:r>
              <a:rPr lang="en-US"/>
              <a:t>Click to add text</a:t>
            </a:r>
          </a:p>
        </p:txBody>
      </p:sp>
    </p:spTree>
    <p:extLst>
      <p:ext uri="{BB962C8B-B14F-4D97-AF65-F5344CB8AC3E}">
        <p14:creationId xmlns:p14="http://schemas.microsoft.com/office/powerpoint/2010/main" val="3703111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8031" y="4257063"/>
            <a:ext cx="7030794"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1" y="0"/>
            <a:ext cx="4656512" cy="6858000"/>
          </a:xfrm>
          <a:prstGeom prst="rect">
            <a:avLst/>
          </a:prstGeom>
        </p:spPr>
        <p:txBody>
          <a:bodyPr wrap="none" lIns="0" tIns="972000" rIns="0" bIns="0" anchor="t" anchorCtr="0">
            <a:noAutofit/>
          </a:bodyPr>
          <a:lstStyle>
            <a:lvl1pPr algn="r">
              <a:defRPr sz="39988" spc="-300">
                <a:solidFill>
                  <a:schemeClr val="accent2"/>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pPr>
            <a:r>
              <a:rPr lang="en-IN"/>
              <a:t>Company Confidential © Capgemini 2026.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8031" y="4658810"/>
            <a:ext cx="6485976" cy="1672542"/>
          </a:xfrm>
        </p:spPr>
        <p:txBody>
          <a:bodyPr vert="horz" lIns="0" tIns="0" rIns="0" bIns="0" rtlCol="0" anchor="t">
            <a:noAutofit/>
          </a:bodyPr>
          <a:lstStyle>
            <a:lvl1pPr>
              <a:spcBef>
                <a:spcPts val="0"/>
              </a:spcBef>
              <a:defRPr lang="en-US" sz="4799">
                <a:solidFill>
                  <a:schemeClr val="tx1"/>
                </a:solidFill>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Tree>
    <p:extLst>
      <p:ext uri="{BB962C8B-B14F-4D97-AF65-F5344CB8AC3E}">
        <p14:creationId xmlns:p14="http://schemas.microsoft.com/office/powerpoint/2010/main" val="4104284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1" y="0"/>
            <a:ext cx="4656512" cy="6858000"/>
          </a:xfrm>
          <a:prstGeom prst="rect">
            <a:avLst/>
          </a:prstGeom>
        </p:spPr>
        <p:txBody>
          <a:bodyPr wrap="none" lIns="0" tIns="972000" rIns="0" bIns="0" anchor="t" anchorCtr="0">
            <a:noAutofit/>
          </a:bodyPr>
          <a:lstStyle>
            <a:lvl1pPr algn="r">
              <a:defRPr sz="39988"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pPr>
            <a:r>
              <a:rPr lang="en-IN"/>
              <a:t>Company Confidential © Capgemini 2026.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pPr>
            <a:r>
              <a:rPr lang="en-US"/>
              <a:t>AI Data Copilot - AskData</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8031" y="4658810"/>
            <a:ext cx="6485976" cy="1672542"/>
          </a:xfrm>
        </p:spPr>
        <p:txBody>
          <a:bodyPr vert="horz" lIns="0" tIns="0" rIns="0" bIns="0" rtlCol="0" anchor="t">
            <a:noAutofit/>
          </a:bodyPr>
          <a:lstStyle>
            <a:lvl1pPr>
              <a:spcBef>
                <a:spcPts val="0"/>
              </a:spcBef>
              <a:defRPr lang="en-US" sz="4799">
                <a:solidFill>
                  <a:schemeClr val="tx1"/>
                </a:solidFill>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8031" y="4257063"/>
            <a:ext cx="7030794"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2562" y="128961"/>
            <a:ext cx="26897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31525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1730" y="3339025"/>
            <a:ext cx="6857998" cy="179953"/>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5591" cy="2924175"/>
          </a:xfrm>
        </p:spPr>
        <p:txBody>
          <a:bodyPr vert="vert270" wrap="none" lIns="0" tIns="0" rIns="0" bIns="0" rtlCol="0" anchor="t" anchorCtr="0">
            <a:noAutofit/>
          </a:bodyPr>
          <a:lstStyle>
            <a:lvl1pPr>
              <a:defRPr lang="en-US" sz="16595"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2589" y="1510497"/>
            <a:ext cx="7391418" cy="2887883"/>
          </a:xfrm>
        </p:spPr>
        <p:txBody>
          <a:bodyPr vert="horz" lIns="0" tIns="0" rIns="0" bIns="0" rtlCol="0" anchor="t">
            <a:noAutofit/>
          </a:bodyPr>
          <a:lstStyle>
            <a:lvl1pPr>
              <a:spcBef>
                <a:spcPts val="0"/>
              </a:spcBef>
              <a:defRPr lang="en-US" sz="5398">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Tree>
    <p:extLst>
      <p:ext uri="{BB962C8B-B14F-4D97-AF65-F5344CB8AC3E}">
        <p14:creationId xmlns:p14="http://schemas.microsoft.com/office/powerpoint/2010/main" val="2047557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pPr>
            <a:r>
              <a:rPr lang="en-IN"/>
              <a:t>Company Confidential © Capgemini 2026.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5591" cy="2924175"/>
          </a:xfrm>
        </p:spPr>
        <p:txBody>
          <a:bodyPr vert="vert270" wrap="none" lIns="0" tIns="0" rIns="0" bIns="0" rtlCol="0" anchor="t" anchorCtr="0">
            <a:noAutofit/>
          </a:bodyPr>
          <a:lstStyle>
            <a:lvl1pPr>
              <a:defRPr lang="en-US" sz="16595"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2589" y="1510497"/>
            <a:ext cx="7391418" cy="2887883"/>
          </a:xfrm>
        </p:spPr>
        <p:txBody>
          <a:bodyPr vert="horz" lIns="0" tIns="0" rIns="0" bIns="0" rtlCol="0" anchor="t">
            <a:noAutofit/>
          </a:bodyPr>
          <a:lstStyle>
            <a:lvl1pPr>
              <a:spcBef>
                <a:spcPts val="0"/>
              </a:spcBef>
              <a:defRPr lang="en-US" sz="5398">
                <a:solidFill>
                  <a:schemeClr val="tx1"/>
                </a:solidFill>
                <a:latin typeface="+mn-lt"/>
                <a:ea typeface="+mn-ea"/>
                <a:cs typeface="+mn-cs"/>
              </a:defRPr>
            </a:lvl1pPr>
          </a:lstStyle>
          <a:p>
            <a:pPr lvl="0">
              <a:lnSpc>
                <a:spcPct val="100000"/>
              </a:lnSpc>
              <a:spcBef>
                <a:spcPts val="1799"/>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1730" y="3339025"/>
            <a:ext cx="6857998" cy="179953"/>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pPr>
            <a:r>
              <a:rPr lang="en-US"/>
              <a:t>AI Data Copilot - AskData</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2562" y="128961"/>
            <a:ext cx="26897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538368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5221090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2">
            <a:extLst>
              <a:ext uri="{FF2B5EF4-FFF2-40B4-BE49-F238E27FC236}">
                <a16:creationId xmlns:a16="http://schemas.microsoft.com/office/drawing/2014/main" id="{99306ACD-4B29-8E5F-CEAE-0A4130A2B129}"/>
              </a:ext>
            </a:extLst>
          </p:cNvPr>
          <p:cNvSpPr>
            <a:spLocks noGrp="1"/>
          </p:cNvSpPr>
          <p:nvPr>
            <p:ph type="dt" sz="half" idx="10"/>
          </p:nvPr>
        </p:nvSpPr>
        <p:spPr>
          <a:xfrm>
            <a:off x="9807372" y="6650662"/>
            <a:ext cx="1830733" cy="123111"/>
          </a:xfrm>
        </p:spPr>
        <p:txBody>
          <a:bodyPr/>
          <a:lstStyle/>
          <a:p>
            <a:pPr>
              <a:spcBef>
                <a:spcPts val="1000"/>
              </a:spcBef>
            </a:pPr>
            <a:r>
              <a:rPr lang="en-IN"/>
              <a:t>Company Confidential © Capgemini 2026. All rights reserved.</a:t>
            </a:r>
            <a:endParaRPr lang="en-US"/>
          </a:p>
        </p:txBody>
      </p:sp>
      <p:sp>
        <p:nvSpPr>
          <p:cNvPr id="3" name="Footer Placeholder 3">
            <a:extLst>
              <a:ext uri="{FF2B5EF4-FFF2-40B4-BE49-F238E27FC236}">
                <a16:creationId xmlns:a16="http://schemas.microsoft.com/office/drawing/2014/main" id="{FECBB16A-805B-3B5D-1E79-F0C42EA5A57B}"/>
              </a:ext>
            </a:extLst>
          </p:cNvPr>
          <p:cNvSpPr>
            <a:spLocks noGrp="1"/>
          </p:cNvSpPr>
          <p:nvPr>
            <p:ph type="ftr" sz="quarter" idx="11"/>
          </p:nvPr>
        </p:nvSpPr>
        <p:spPr>
          <a:xfrm>
            <a:off x="550719" y="6650662"/>
            <a:ext cx="4715296" cy="123111"/>
          </a:xfrm>
        </p:spPr>
        <p:txBody>
          <a:bodyPr/>
          <a:lstStyle/>
          <a:p>
            <a:pPr>
              <a:spcBef>
                <a:spcPts val="1000"/>
              </a:spcBef>
            </a:pPr>
            <a:r>
              <a:rPr lang="en-US"/>
              <a:t>AI Data Copilot - AskData</a:t>
            </a:r>
          </a:p>
        </p:txBody>
      </p:sp>
      <p:sp>
        <p:nvSpPr>
          <p:cNvPr id="4" name="Slide Number Placeholder 5">
            <a:extLst>
              <a:ext uri="{FF2B5EF4-FFF2-40B4-BE49-F238E27FC236}">
                <a16:creationId xmlns:a16="http://schemas.microsoft.com/office/drawing/2014/main" id="{1E37C438-6ED9-31E9-4818-BEB94770E1F0}"/>
              </a:ext>
            </a:extLst>
          </p:cNvPr>
          <p:cNvSpPr>
            <a:spLocks noGrp="1"/>
          </p:cNvSpPr>
          <p:nvPr>
            <p:ph type="sldNum" sz="quarter" idx="12"/>
          </p:nvPr>
        </p:nvSpPr>
        <p:spPr>
          <a:xfrm>
            <a:off x="11775274" y="6650662"/>
            <a:ext cx="232604" cy="123111"/>
          </a:xfrm>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485783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240" y="549274"/>
            <a:ext cx="11088050"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41234765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240" y="2132856"/>
            <a:ext cx="1108805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9940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240" y="2132856"/>
            <a:ext cx="1108805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18419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860984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057" y="1634286"/>
            <a:ext cx="11088050" cy="307777"/>
          </a:xfrm>
          <a:prstGeom prst="rect">
            <a:avLst/>
          </a:prstGeom>
        </p:spPr>
        <p:txBody>
          <a:bodyPr vert="horz" lIns="0" tIns="0" rIns="0" bIns="0" rtlCol="0">
            <a:spAutoFit/>
          </a:bodyPr>
          <a:lstStyle>
            <a:lvl1pPr>
              <a:defRPr lang="en-US" sz="1999"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678678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1710" y="-539120"/>
            <a:ext cx="6857998" cy="793624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67257" y="176700"/>
            <a:ext cx="260162"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4628" y="1634286"/>
            <a:ext cx="69834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4628" y="2132856"/>
            <a:ext cx="698347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057" y="1634286"/>
            <a:ext cx="3311505"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241" y="549274"/>
            <a:ext cx="3311505"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241" y="2132856"/>
            <a:ext cx="3311505"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3350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1710" y="-539120"/>
            <a:ext cx="6857998" cy="793624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67257" y="176700"/>
            <a:ext cx="260162"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4628" y="2132856"/>
            <a:ext cx="698347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057" y="1634286"/>
            <a:ext cx="3311505"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241" y="549274"/>
            <a:ext cx="3311505"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241" y="2132856"/>
            <a:ext cx="3311505"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720" y="266219"/>
            <a:ext cx="3310843"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4628" y="1634286"/>
            <a:ext cx="69834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33367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2622" y="381793"/>
            <a:ext cx="6857998" cy="609441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89691" y="2132856"/>
            <a:ext cx="514841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89690" y="1634286"/>
            <a:ext cx="5148417"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6411670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2622" y="381794"/>
            <a:ext cx="6857998" cy="609441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89691" y="2132856"/>
            <a:ext cx="514841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720" y="266220"/>
            <a:ext cx="511057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89690" y="1634286"/>
            <a:ext cx="5148417"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4035676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37391" y="1306563"/>
            <a:ext cx="6857998" cy="424487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67257" y="176700"/>
            <a:ext cx="260162"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39229" y="2132856"/>
            <a:ext cx="329887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39229" y="1634286"/>
            <a:ext cx="32988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313860859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37391" y="1306563"/>
            <a:ext cx="6857998" cy="424487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67257" y="176700"/>
            <a:ext cx="260162"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39229" y="2132856"/>
            <a:ext cx="329887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720" y="266220"/>
            <a:ext cx="698205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39229" y="1634286"/>
            <a:ext cx="3298879" cy="30777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2443224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0258" y="1769431"/>
            <a:ext cx="6857998" cy="3319141"/>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057" y="1634286"/>
            <a:ext cx="791881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241" y="549274"/>
            <a:ext cx="7918817"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241" y="2132856"/>
            <a:ext cx="791881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1939" y="2132856"/>
            <a:ext cx="237616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1939" y="1635329"/>
            <a:ext cx="2376168" cy="61529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876985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0258" y="1769431"/>
            <a:ext cx="6857998" cy="3319141"/>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67257" y="176700"/>
            <a:ext cx="260162"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057" y="1634286"/>
            <a:ext cx="791881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241" y="549274"/>
            <a:ext cx="7918817"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241" y="2132856"/>
            <a:ext cx="791881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1939" y="2132856"/>
            <a:ext cx="237616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719" y="266220"/>
            <a:ext cx="791779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1939" y="1634286"/>
            <a:ext cx="2376168" cy="615297"/>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5777910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0232" y="2229404"/>
            <a:ext cx="6857998" cy="239919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67257" y="176700"/>
            <a:ext cx="260162"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057" y="1634286"/>
            <a:ext cx="895185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241" y="549274"/>
            <a:ext cx="895185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241" y="2132856"/>
            <a:ext cx="895185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3821" y="2132856"/>
            <a:ext cx="158428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3821" y="1634286"/>
            <a:ext cx="1584286" cy="922945"/>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355734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0232" y="2229404"/>
            <a:ext cx="6857998" cy="239919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67257" y="176700"/>
            <a:ext cx="260162"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057" y="1634286"/>
            <a:ext cx="895185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241" y="549274"/>
            <a:ext cx="895185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241" y="2132856"/>
            <a:ext cx="895185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3821" y="2132856"/>
            <a:ext cx="158428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719" y="266220"/>
            <a:ext cx="895069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3821" y="1635329"/>
            <a:ext cx="1584286" cy="922945"/>
          </a:xfrm>
          <a:prstGeom prst="rect">
            <a:avLst/>
          </a:prstGeom>
        </p:spPr>
        <p:txBody>
          <a:bodyPr vert="horz" wrap="square" lIns="0" tIns="0" rIns="0" bIns="0" rtlCol="0">
            <a:spAutoFit/>
          </a:bodyPr>
          <a:lstStyle>
            <a:lvl1pPr>
              <a:defRPr lang="en-US" sz="1999"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704482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5132" y="1772816"/>
            <a:ext cx="49924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057" y="1634286"/>
            <a:ext cx="5544356"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75404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pPr>
            <a:r>
              <a:rPr lang="en-US"/>
              <a:t>AI Data Copilot - AskData</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5132" y="1772816"/>
            <a:ext cx="49924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057" y="1634286"/>
            <a:ext cx="5544356"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10760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719"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3008"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5611" y="1628801"/>
            <a:ext cx="3508463"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720"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1623"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0062"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810429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719"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3008" y="1628801"/>
            <a:ext cx="3545077"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5611" y="1628801"/>
            <a:ext cx="3508463" cy="615553"/>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720"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1623"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0062" y="2471739"/>
            <a:ext cx="3544011"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299307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721"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719"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08835"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08833"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4860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pPr>
            <a:r>
              <a:rPr lang="en-IN"/>
              <a:t>Company Confidential © Capgemini 2026.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pPr>
            <a:r>
              <a:rPr lang="en-US"/>
              <a:t>AI Data Copilot - AskData</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721"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719"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08835" y="1628800"/>
            <a:ext cx="5328750" cy="307777"/>
          </a:xfrm>
          <a:prstGeom prst="rect">
            <a:avLst/>
          </a:prstGeom>
        </p:spPr>
        <p:txBody>
          <a:bodyPr wrap="square">
            <a:spAutoFit/>
          </a:bodyPr>
          <a:lstStyle>
            <a:lvl1pPr>
              <a:defRPr sz="1999"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08833" y="2492896"/>
            <a:ext cx="5328750"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240" y="549274"/>
            <a:ext cx="11088050"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720" y="266219"/>
            <a:ext cx="11086865"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4934920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1675" y="1"/>
            <a:ext cx="4247151"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660864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1675" y="1"/>
            <a:ext cx="4247151"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057"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240" y="549274"/>
            <a:ext cx="698295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240"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720" y="266220"/>
            <a:ext cx="698205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20166266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4350" y="1"/>
            <a:ext cx="6094476"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F1E24017-441F-489D-7EA7-E9C24BDAD8CE}"/>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88267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4350" y="1"/>
            <a:ext cx="6094476"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057" y="1634286"/>
            <a:ext cx="511123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240" y="549274"/>
            <a:ext cx="511123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240" y="2132856"/>
            <a:ext cx="511123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720" y="266220"/>
            <a:ext cx="511057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2915562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2" y="0"/>
            <a:ext cx="4241016"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3965"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5148" y="549274"/>
            <a:ext cx="6982957"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5148"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18850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2" y="0"/>
            <a:ext cx="4241016"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3965" y="1634286"/>
            <a:ext cx="6982957"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5148" y="549274"/>
            <a:ext cx="6982957"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5148" y="2132856"/>
            <a:ext cx="6982957"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4628" y="266220"/>
            <a:ext cx="6982051"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988989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7153" y="1634286"/>
            <a:ext cx="503976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598337" y="549274"/>
            <a:ext cx="5039768"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598337" y="2132856"/>
            <a:ext cx="50397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24868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pPr>
            <a:r>
              <a:rPr lang="en-IN"/>
              <a:t>Company Confidential © Capgemini 2026.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pPr>
            <a:r>
              <a:rPr lang="en-US"/>
              <a:t>AI Data Copilot - AskData</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7153" y="1634286"/>
            <a:ext cx="5039768" cy="307777"/>
          </a:xfrm>
          <a:prstGeom prst="rect">
            <a:avLst/>
          </a:prstGeom>
        </p:spPr>
        <p:txBody>
          <a:bodyPr vert="horz" wrap="square" lIns="0" tIns="0" rIns="0" bIns="0" rtlCol="0">
            <a:spAutoFit/>
          </a:bodyPr>
          <a:lstStyle>
            <a:lvl1pPr>
              <a:defRPr lang="en-US" sz="1999"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598337" y="549274"/>
            <a:ext cx="50397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598337" y="2132856"/>
            <a:ext cx="50397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7564" y="266220"/>
            <a:ext cx="503911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3011499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1" y="1"/>
            <a:ext cx="12188824" cy="4383654"/>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720" y="4581128"/>
            <a:ext cx="4979840"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719" y="5854683"/>
            <a:ext cx="5110669" cy="307777"/>
          </a:xfrm>
          <a:prstGeom prst="rect">
            <a:avLst/>
          </a:prstGeom>
        </p:spPr>
        <p:txBody>
          <a:bodyPr wrap="square" anchor="b">
            <a:spAutoFit/>
          </a:bodyPr>
          <a:lstStyle>
            <a:lvl1pPr>
              <a:defRPr sz="1999"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1659" y="4581128"/>
            <a:ext cx="5110669"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pPr>
            <a:r>
              <a:rPr lang="en-IN"/>
              <a:t>Company Confidential © Capgemini 2026.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pPr>
            <a:r>
              <a:rPr lang="en-US"/>
              <a:t>AI Data Copilot - AskData</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6901411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1378" y="1916113"/>
            <a:ext cx="7386069" cy="1512887"/>
          </a:xfrm>
        </p:spPr>
        <p:txBody>
          <a:bodyPr wrap="square" anchor="b">
            <a:noAutofit/>
          </a:bodyPr>
          <a:lstStyle>
            <a:lvl1pPr algn="ctr">
              <a:defRPr sz="3199"/>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1378" y="4025468"/>
            <a:ext cx="7386069" cy="916420"/>
          </a:xfrm>
          <a:prstGeom prst="rect">
            <a:avLst/>
          </a:prstGeom>
        </p:spPr>
        <p:txBody>
          <a:bodyPr wrap="square">
            <a:noAutofit/>
          </a:bodyPr>
          <a:lstStyle>
            <a:lvl1pPr algn="ctr">
              <a:defRPr sz="1999"/>
            </a:lvl1pPr>
            <a:lvl2pPr>
              <a:defRPr sz="1999"/>
            </a:lvl2pPr>
            <a:lvl3pPr>
              <a:defRPr sz="1999"/>
            </a:lvl3pPr>
            <a:lvl4pPr>
              <a:defRPr sz="1999"/>
            </a:lvl4pPr>
            <a:lvl5pPr>
              <a:defRPr sz="1999"/>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pPr>
            <a:r>
              <a:rPr lang="en-IN"/>
              <a:t>Company Confidential © Capgemini 2026.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pPr>
            <a:r>
              <a:rPr lang="en-US"/>
              <a:t>AI Data Copilot - AskData</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465803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1378" y="1916113"/>
            <a:ext cx="7386069" cy="1512887"/>
          </a:xfrm>
        </p:spPr>
        <p:txBody>
          <a:bodyPr wrap="square" anchor="b">
            <a:noAutofit/>
          </a:bodyPr>
          <a:lstStyle>
            <a:lvl1pPr algn="ctr">
              <a:defRPr sz="3199">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1378" y="4025468"/>
            <a:ext cx="7386069" cy="916420"/>
          </a:xfrm>
          <a:prstGeom prst="rect">
            <a:avLst/>
          </a:prstGeom>
        </p:spPr>
        <p:txBody>
          <a:bodyPr wrap="square">
            <a:noAutofit/>
          </a:bodyPr>
          <a:lstStyle>
            <a:lvl1pPr algn="ctr">
              <a:defRPr sz="1999">
                <a:solidFill>
                  <a:schemeClr val="bg1"/>
                </a:solidFill>
              </a:defRPr>
            </a:lvl1pPr>
            <a:lvl2pPr>
              <a:defRPr sz="1999"/>
            </a:lvl2pPr>
            <a:lvl3pPr>
              <a:defRPr sz="1999"/>
            </a:lvl3pPr>
            <a:lvl4pPr>
              <a:defRPr sz="1999"/>
            </a:lvl4pPr>
            <a:lvl5pPr>
              <a:defRPr sz="1999"/>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pPr>
            <a:r>
              <a:rPr lang="en-IN"/>
              <a:t>Company Confidential © Capgemini 2026.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pPr>
            <a:r>
              <a:rPr lang="en-US"/>
              <a:t>AI Data Copilot - AskData</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F2C6038E-E13F-AE5B-E1D9-974A91E4E127}"/>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8223422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720" y="2154596"/>
            <a:ext cx="4169243" cy="2737444"/>
          </a:xfrm>
        </p:spPr>
        <p:txBody>
          <a:bodyPr anchor="t">
            <a:noAutofit/>
          </a:bodyPr>
          <a:lstStyle>
            <a:lvl1pPr>
              <a:defRPr sz="4799"/>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4413" y="2154597"/>
            <a:ext cx="5523061" cy="4154128"/>
          </a:xfrm>
          <a:prstGeom prst="rect">
            <a:avLst/>
          </a:prstGeom>
        </p:spPr>
        <p:txBody>
          <a:bodyPr/>
          <a:lstStyle>
            <a:lvl1pPr>
              <a:defRPr sz="1999"/>
            </a:lvl1pPr>
            <a:lvl2pPr>
              <a:defRPr sz="1999"/>
            </a:lvl2pPr>
            <a:lvl3pPr>
              <a:defRPr sz="1999"/>
            </a:lvl3pPr>
            <a:lvl4pPr>
              <a:defRPr sz="1999"/>
            </a:lvl4pPr>
            <a:lvl5pPr>
              <a:defRPr sz="19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8009316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720" y="2154596"/>
            <a:ext cx="4169243" cy="2737444"/>
          </a:xfrm>
        </p:spPr>
        <p:txBody>
          <a:bodyPr anchor="t">
            <a:noAutofit/>
          </a:bodyPr>
          <a:lstStyle>
            <a:lvl1pPr>
              <a:defRPr sz="4799"/>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4413" y="2154597"/>
            <a:ext cx="5523061" cy="4154128"/>
          </a:xfrm>
          <a:prstGeom prst="rect">
            <a:avLst/>
          </a:prstGeom>
        </p:spPr>
        <p:txBody>
          <a:bodyPr/>
          <a:lstStyle>
            <a:lvl1pPr>
              <a:defRPr sz="1999"/>
            </a:lvl1pPr>
            <a:lvl2pPr>
              <a:defRPr sz="1999"/>
            </a:lvl2pPr>
            <a:lvl3pPr>
              <a:defRPr sz="1999"/>
            </a:lvl3pPr>
            <a:lvl4pPr>
              <a:defRPr sz="1999"/>
            </a:lvl4pPr>
            <a:lvl5pPr>
              <a:defRPr sz="19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pPr>
            <a:r>
              <a:rPr lang="en-US"/>
              <a:t>AI Data Copilot - AskData</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486602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0942" y="1517905"/>
            <a:ext cx="3684072" cy="3185499"/>
          </a:xfrm>
        </p:spPr>
        <p:txBody>
          <a:bodyPr anchor="t">
            <a:noAutofit/>
          </a:bodyPr>
          <a:lstStyle>
            <a:lvl1pPr>
              <a:defRPr sz="2399"/>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7026" y="4882896"/>
            <a:ext cx="3670448" cy="1425829"/>
          </a:xfrm>
          <a:prstGeom prst="rect">
            <a:avLst/>
          </a:prstGeom>
        </p:spPr>
        <p:txBody>
          <a:bodyPr/>
          <a:lstStyle>
            <a:lvl1pPr>
              <a:defRPr sz="3199"/>
            </a:lvl1pPr>
            <a:lvl2pPr>
              <a:defRPr sz="3199"/>
            </a:lvl2pPr>
            <a:lvl3pPr>
              <a:defRPr sz="3199"/>
            </a:lvl3pPr>
            <a:lvl4pPr>
              <a:defRPr sz="3199"/>
            </a:lvl4pPr>
            <a:lvl5pPr>
              <a:defRPr sz="3199"/>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pPr>
            <a:r>
              <a:rPr lang="en-US"/>
              <a:t>AI Data Copilot - AskData</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7487923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0942" y="1517905"/>
            <a:ext cx="3684072" cy="3185499"/>
          </a:xfrm>
        </p:spPr>
        <p:txBody>
          <a:bodyPr anchor="t">
            <a:noAutofit/>
          </a:bodyPr>
          <a:lstStyle>
            <a:lvl1pPr>
              <a:defRPr sz="2399">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7026" y="4882896"/>
            <a:ext cx="3670448" cy="1425829"/>
          </a:xfrm>
          <a:prstGeom prst="rect">
            <a:avLst/>
          </a:prstGeom>
        </p:spPr>
        <p:txBody>
          <a:bodyPr/>
          <a:lstStyle>
            <a:lvl1pPr>
              <a:defRPr sz="3199">
                <a:solidFill>
                  <a:schemeClr val="bg1"/>
                </a:solidFill>
              </a:defRPr>
            </a:lvl1pPr>
            <a:lvl2pPr>
              <a:defRPr sz="3199"/>
            </a:lvl2pPr>
            <a:lvl3pPr>
              <a:defRPr sz="3199"/>
            </a:lvl3pPr>
            <a:lvl4pPr>
              <a:defRPr sz="3199"/>
            </a:lvl4pPr>
            <a:lvl5pPr>
              <a:defRPr sz="3199"/>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pPr>
            <a:r>
              <a:rPr lang="en-IN"/>
              <a:t>Company Confidential © Capgemini 2026.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pPr>
            <a:r>
              <a:rPr lang="en-US"/>
              <a:t>AI Data Copilot - AskData</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4531366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48231" y="2154596"/>
            <a:ext cx="4169243" cy="2737444"/>
          </a:xfrm>
        </p:spPr>
        <p:txBody>
          <a:bodyPr anchor="b">
            <a:noAutofit/>
          </a:bodyPr>
          <a:lstStyle>
            <a:lvl1pPr algn="r">
              <a:defRPr sz="4799"/>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730742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88826"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48231" y="2154596"/>
            <a:ext cx="4169243" cy="2737444"/>
          </a:xfrm>
        </p:spPr>
        <p:txBody>
          <a:bodyPr anchor="b">
            <a:noAutofit/>
          </a:bodyPr>
          <a:lstStyle>
            <a:lvl1pPr algn="r">
              <a:defRPr sz="4799">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pPr>
            <a:r>
              <a:rPr lang="en-IN"/>
              <a:t>Company Confidential © Capgemini 2026.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pPr>
            <a:r>
              <a:rPr lang="en-US"/>
              <a:t>AI Data Copilot - AskData</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2562" y="128961"/>
            <a:ext cx="26897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932658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4412" y="854465"/>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7522" y="854465"/>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4412" y="2118390"/>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7522" y="2118390"/>
            <a:ext cx="2239697"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1970" y="6053226"/>
            <a:ext cx="287897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719" y="6021288"/>
            <a:ext cx="1871513"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799"/>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799"/>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799"/>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799"/>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799"/>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720" y="2834640"/>
            <a:ext cx="4344044"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126"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126"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Ubuntu" panose="020B0504030602030204" pitchFamily="34" charset="0"/>
              </a:rPr>
              <a:t>w</a:t>
            </a:r>
            <a:r>
              <a:rPr lang="en-US" sz="1050">
                <a:solidFill>
                  <a:schemeClr val="tx1"/>
                </a:solidFill>
                <a:latin typeface="Ubuntu" panose="020B0504030602030204" pitchFamily="34" charset="0"/>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721" y="854464"/>
            <a:ext cx="4247365"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126"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126"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308" y="3657600"/>
            <a:ext cx="4344044"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126"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1969" y="5569004"/>
            <a:ext cx="1950562"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4954"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697760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719" y="3325369"/>
            <a:ext cx="4344044"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126"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126"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720" y="1384201"/>
            <a:ext cx="4247365"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126"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126"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1970" y="6053226"/>
            <a:ext cx="287897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718" y="6021288"/>
            <a:ext cx="1871513"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799"/>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799"/>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799"/>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799"/>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799"/>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1969" y="5569004"/>
            <a:ext cx="1950562"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Tree>
    <p:extLst>
      <p:ext uri="{BB962C8B-B14F-4D97-AF65-F5344CB8AC3E}">
        <p14:creationId xmlns:p14="http://schemas.microsoft.com/office/powerpoint/2010/main" val="36161595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4458" y="0"/>
            <a:ext cx="404436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719" y="6021288"/>
            <a:ext cx="1871513"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799">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799">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1970" y="6053226"/>
            <a:ext cx="287897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721" y="1384201"/>
            <a:ext cx="4247365"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126"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126"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720" y="3325369"/>
            <a:ext cx="4344044"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126"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126"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5483" y="3339025"/>
            <a:ext cx="6857998" cy="179953"/>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1969" y="5569004"/>
            <a:ext cx="1950562"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40028377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14180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pic>
        <p:nvPicPr>
          <p:cNvPr id="4" name="Picture Placeholder 6">
            <a:extLst>
              <a:ext uri="{FF2B5EF4-FFF2-40B4-BE49-F238E27FC236}">
                <a16:creationId xmlns:a16="http://schemas.microsoft.com/office/drawing/2014/main" id="{2B3E7159-CE19-F21D-2FBF-039B4C91C01C}"/>
              </a:ext>
            </a:extLst>
          </p:cNvPr>
          <p:cNvPicPr>
            <a:picLocks noChangeAspect="1"/>
          </p:cNvPicPr>
          <p:nvPr userDrawn="1"/>
        </p:nvPicPr>
        <p:blipFill>
          <a:blip r:embed="rId3"/>
          <a:srcRect t="7733" b="7733"/>
          <a:stretch/>
        </p:blipFill>
        <p:spPr>
          <a:xfrm>
            <a:off x="0" y="0"/>
            <a:ext cx="12188825" cy="6858000"/>
          </a:xfrm>
          <a:prstGeom prst="rect">
            <a:avLst/>
          </a:prstGeom>
        </p:spPr>
      </p:pic>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284" y="908720"/>
            <a:ext cx="10196595"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sz="1799"/>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707" y="4416883"/>
            <a:ext cx="11376237" cy="307777"/>
          </a:xfrm>
          <a:prstGeom prst="rect">
            <a:avLst/>
          </a:prstGeom>
        </p:spPr>
        <p:txBody>
          <a:bodyPr wrap="square" lIns="36000" tIns="0" rIns="36000">
            <a:spAutoFit/>
          </a:bodyPr>
          <a:lstStyle>
            <a:lvl1pPr marL="0" indent="0" algn="l">
              <a:buNone/>
              <a:defRPr sz="19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hasCustomPrompt="1"/>
          </p:nvPr>
        </p:nvSpPr>
        <p:spPr>
          <a:xfrm>
            <a:off x="404708" y="2339649"/>
            <a:ext cx="11383169" cy="2030684"/>
          </a:xfrm>
        </p:spPr>
        <p:txBody>
          <a:bodyPr wrap="square" lIns="36000" rIns="36000" bIns="0" anchor="b" anchorCtr="0">
            <a:spAutoFit/>
          </a:bodyPr>
          <a:lstStyle>
            <a:lvl1pPr algn="l">
              <a:lnSpc>
                <a:spcPct val="100000"/>
              </a:lnSpc>
              <a:tabLst>
                <a:tab pos="1258510" algn="l"/>
              </a:tabLst>
              <a:defRPr sz="6598" b="0" cap="all" baseline="0">
                <a:solidFill>
                  <a:schemeClr val="bg1"/>
                </a:solidFill>
                <a:latin typeface="+mj-lt"/>
              </a:defRPr>
            </a:lvl1pPr>
          </a:lstStyle>
          <a:p>
            <a:r>
              <a:rPr lang="en-US"/>
              <a:t>Click to edit Master 		 	title style</a:t>
            </a:r>
            <a:endParaRPr lang="en-GB"/>
          </a:p>
        </p:txBody>
      </p:sp>
      <p:grpSp>
        <p:nvGrpSpPr>
          <p:cNvPr id="21" name="Graphic 4">
            <a:extLst>
              <a:ext uri="{FF2B5EF4-FFF2-40B4-BE49-F238E27FC236}">
                <a16:creationId xmlns:a16="http://schemas.microsoft.com/office/drawing/2014/main" id="{7BF3ECFE-E58F-4539-85E7-AE81B78DD1BD}"/>
              </a:ext>
            </a:extLst>
          </p:cNvPr>
          <p:cNvGrpSpPr>
            <a:grpSpLocks noChangeAspect="1"/>
          </p:cNvGrpSpPr>
          <p:nvPr userDrawn="1"/>
        </p:nvGrpSpPr>
        <p:grpSpPr>
          <a:xfrm>
            <a:off x="8570615" y="612775"/>
            <a:ext cx="3258387" cy="500422"/>
            <a:chOff x="3176111" y="1257136"/>
            <a:chExt cx="5719756" cy="878207"/>
          </a:xfrm>
        </p:grpSpPr>
        <p:sp>
          <p:nvSpPr>
            <p:cNvPr id="22" name="Freeform: Shape 21">
              <a:extLst>
                <a:ext uri="{FF2B5EF4-FFF2-40B4-BE49-F238E27FC236}">
                  <a16:creationId xmlns:a16="http://schemas.microsoft.com/office/drawing/2014/main" id="{10309AC3-C122-4C74-88E7-99E581BBEC7F}"/>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3" name="Freeform: Shape 22">
              <a:extLst>
                <a:ext uri="{FF2B5EF4-FFF2-40B4-BE49-F238E27FC236}">
                  <a16:creationId xmlns:a16="http://schemas.microsoft.com/office/drawing/2014/main" id="{5B7AA504-1AE3-4045-A6AF-065DAF6C25BF}"/>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4" name="Freeform: Shape 23">
              <a:extLst>
                <a:ext uri="{FF2B5EF4-FFF2-40B4-BE49-F238E27FC236}">
                  <a16:creationId xmlns:a16="http://schemas.microsoft.com/office/drawing/2014/main" id="{B5A57C37-16E6-42D6-A260-599049014ADD}"/>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5" name="Freeform: Shape 24">
              <a:extLst>
                <a:ext uri="{FF2B5EF4-FFF2-40B4-BE49-F238E27FC236}">
                  <a16:creationId xmlns:a16="http://schemas.microsoft.com/office/drawing/2014/main" id="{8A008D74-B0E0-42E6-BF3A-A69FDEE3A1CA}"/>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6" name="Freeform: Shape 25">
              <a:extLst>
                <a:ext uri="{FF2B5EF4-FFF2-40B4-BE49-F238E27FC236}">
                  <a16:creationId xmlns:a16="http://schemas.microsoft.com/office/drawing/2014/main" id="{E292B3DC-1391-48D9-846E-05CEFD0416BB}"/>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7" name="Freeform: Shape 26">
              <a:extLst>
                <a:ext uri="{FF2B5EF4-FFF2-40B4-BE49-F238E27FC236}">
                  <a16:creationId xmlns:a16="http://schemas.microsoft.com/office/drawing/2014/main" id="{833E1EC1-25FD-4624-BD09-B217498D6D1D}"/>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8" name="Freeform: Shape 27">
              <a:extLst>
                <a:ext uri="{FF2B5EF4-FFF2-40B4-BE49-F238E27FC236}">
                  <a16:creationId xmlns:a16="http://schemas.microsoft.com/office/drawing/2014/main" id="{11BC357C-8099-449E-A990-E836FE02153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29" name="Freeform: Shape 28">
              <a:extLst>
                <a:ext uri="{FF2B5EF4-FFF2-40B4-BE49-F238E27FC236}">
                  <a16:creationId xmlns:a16="http://schemas.microsoft.com/office/drawing/2014/main" id="{FE77743C-7D47-43DB-9886-C1ACA5F2E254}"/>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sz="1799"/>
            </a:p>
          </p:txBody>
        </p:sp>
        <p:sp>
          <p:nvSpPr>
            <p:cNvPr id="30" name="Freeform: Shape 29">
              <a:extLst>
                <a:ext uri="{FF2B5EF4-FFF2-40B4-BE49-F238E27FC236}">
                  <a16:creationId xmlns:a16="http://schemas.microsoft.com/office/drawing/2014/main" id="{D0B084C4-673C-4E90-AD06-8A2154558592}"/>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31" name="Freeform: Shape 30">
              <a:extLst>
                <a:ext uri="{FF2B5EF4-FFF2-40B4-BE49-F238E27FC236}">
                  <a16:creationId xmlns:a16="http://schemas.microsoft.com/office/drawing/2014/main" id="{AC7F4546-B02F-4C41-8E3A-9A1EA333273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32" name="Freeform: Shape 31">
              <a:extLst>
                <a:ext uri="{FF2B5EF4-FFF2-40B4-BE49-F238E27FC236}">
                  <a16:creationId xmlns:a16="http://schemas.microsoft.com/office/drawing/2014/main" id="{E9EEFE14-696B-4433-A402-9B256D708F06}"/>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sz="1799"/>
            </a:p>
          </p:txBody>
        </p:sp>
        <p:sp>
          <p:nvSpPr>
            <p:cNvPr id="33" name="Freeform: Shape 32">
              <a:extLst>
                <a:ext uri="{FF2B5EF4-FFF2-40B4-BE49-F238E27FC236}">
                  <a16:creationId xmlns:a16="http://schemas.microsoft.com/office/drawing/2014/main" id="{2C10FE68-C742-4D9D-B2A8-E3F146C9514D}"/>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sz="1799"/>
            </a:p>
          </p:txBody>
        </p:sp>
      </p:grpSp>
      <p:sp>
        <p:nvSpPr>
          <p:cNvPr id="58" name="TextBox 57">
            <a:extLst>
              <a:ext uri="{FF2B5EF4-FFF2-40B4-BE49-F238E27FC236}">
                <a16:creationId xmlns:a16="http://schemas.microsoft.com/office/drawing/2014/main" id="{630DE403-61F5-4FC6-B012-8090B738401E}"/>
              </a:ext>
            </a:extLst>
          </p:cNvPr>
          <p:cNvSpPr txBox="1"/>
          <p:nvPr userDrawn="1">
            <p:custDataLst>
              <p:tags r:id="rId1"/>
            </p:custDataLst>
          </p:nvPr>
        </p:nvSpPr>
        <p:spPr>
          <a:xfrm>
            <a:off x="10206989" y="6268479"/>
            <a:ext cx="1634638" cy="184666"/>
          </a:xfrm>
          <a:prstGeom prst="rect">
            <a:avLst/>
          </a:prstGeom>
          <a:noFill/>
        </p:spPr>
        <p:txBody>
          <a:bodyPr vert="horz" wrap="none" lIns="0" tIns="0" rIns="0" bIns="0" rtlCol="0" anchor="ctr" anchorCtr="0">
            <a:spAutoFit/>
          </a:bodyPr>
          <a:lstStyle/>
          <a:p>
            <a:pPr algn="r">
              <a:spcBef>
                <a:spcPts val="1000"/>
              </a:spcBef>
            </a:pPr>
            <a:r>
              <a:rPr lang="en-GB" sz="1200" b="1">
                <a:solidFill>
                  <a:schemeClr val="accent2">
                    <a:lumMod val="100000"/>
                  </a:schemeClr>
                </a:solidFill>
                <a:latin typeface="Ubuntu" panose="020B0504030602030204"/>
                <a:cs typeface="Times New Roman" pitchFamily="18" charset="0"/>
              </a:rPr>
              <a:t>Company Confidential</a:t>
            </a:r>
            <a:endParaRPr lang="en-GB" sz="1200" b="1">
              <a:solidFill>
                <a:schemeClr val="accent2">
                  <a:lumMod val="100000"/>
                </a:schemeClr>
              </a:solidFill>
              <a:latin typeface="Ubuntu" panose="020B0504030602030204"/>
              <a:ea typeface="Times New Roman" pitchFamily="18" charset="0"/>
              <a:cs typeface="Times New Roman" pitchFamily="18" charset="0"/>
            </a:endParaRP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4707" y="4869308"/>
            <a:ext cx="11376237" cy="503908"/>
          </a:xfrm>
        </p:spPr>
        <p:txBody>
          <a:bodyPr lIns="36000" rIns="36000" anchor="t" anchorCtr="0">
            <a:noAutofit/>
          </a:bodyPr>
          <a:lstStyle>
            <a:lvl1pPr>
              <a:spcBef>
                <a:spcPts val="0"/>
              </a:spcBef>
              <a:defRPr sz="1600" b="0">
                <a:solidFill>
                  <a:schemeClr val="bg1"/>
                </a:solidFill>
              </a:defRPr>
            </a:lvl1pPr>
            <a:lvl2pPr>
              <a:defRPr sz="1400"/>
            </a:lvl2pPr>
            <a:lvl3pPr>
              <a:defRPr sz="1400"/>
            </a:lvl3pPr>
            <a:lvl4pPr>
              <a:defRPr sz="1400"/>
            </a:lvl4pPr>
            <a:lvl5pPr>
              <a:defRPr sz="1400"/>
            </a:lvl5pPr>
          </a:lstStyle>
          <a:p>
            <a:pPr lvl="0"/>
            <a:r>
              <a:rPr lang="en-US"/>
              <a:t>Optional: Click to insert name</a:t>
            </a:r>
          </a:p>
        </p:txBody>
      </p:sp>
    </p:spTree>
    <p:extLst>
      <p:ext uri="{BB962C8B-B14F-4D97-AF65-F5344CB8AC3E}">
        <p14:creationId xmlns:p14="http://schemas.microsoft.com/office/powerpoint/2010/main" val="42569449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302">
          <p15:clr>
            <a:srgbClr val="FBAE40"/>
          </p15:clr>
        </p15:guide>
        <p15:guide id="2" pos="7423">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1402" y="3199769"/>
            <a:ext cx="9077095"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103" y="1628775"/>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103" y="2221388"/>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103" y="2814001"/>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219" y="1628775"/>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219" y="2221388"/>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219" y="2814001"/>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103" y="3406614"/>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103" y="3999227"/>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103" y="4591841"/>
            <a:ext cx="5812084" cy="369332"/>
          </a:xfrm>
          <a:prstGeom prst="rect">
            <a:avLst/>
          </a:prstGeom>
        </p:spPr>
        <p:txBody>
          <a:bodyPr>
            <a:normAutofit/>
          </a:bodyPr>
          <a:lstStyle>
            <a:lvl1pPr>
              <a:spcBef>
                <a:spcPts val="0"/>
              </a:spcBef>
              <a:defRPr sz="2399"/>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219" y="3406614"/>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219" y="3999227"/>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219" y="4591841"/>
            <a:ext cx="335893" cy="369888"/>
          </a:xfrm>
          <a:prstGeom prst="rect">
            <a:avLst/>
          </a:prstGeom>
        </p:spPr>
        <p:txBody>
          <a:bodyPr vert="horz" wrap="none" lIns="0" tIns="0" rIns="0" bIns="0" rtlCol="0">
            <a:normAutofit/>
          </a:bodyPr>
          <a:lstStyle>
            <a:lvl1pPr algn="r">
              <a:defRPr lang="de-DE" sz="2399" b="1" dirty="0">
                <a:solidFill>
                  <a:schemeClr val="accent1"/>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040" y="260351"/>
            <a:ext cx="863851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3957127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103" y="1628775"/>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103" y="2221388"/>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103" y="2814001"/>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219" y="1628775"/>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219" y="2221388"/>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219" y="2814001"/>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103" y="3406614"/>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103" y="3999227"/>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103" y="4591841"/>
            <a:ext cx="5812084" cy="369332"/>
          </a:xfrm>
          <a:prstGeom prst="rect">
            <a:avLst/>
          </a:prstGeom>
        </p:spPr>
        <p:txBody>
          <a:bodyPr>
            <a:normAutofit/>
          </a:bodyPr>
          <a:lstStyle>
            <a:lvl1pPr>
              <a:spcBef>
                <a:spcPts val="0"/>
              </a:spcBef>
              <a:defRPr sz="2399">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219" y="3406614"/>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219" y="3999227"/>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219" y="4591841"/>
            <a:ext cx="335893" cy="369888"/>
          </a:xfrm>
          <a:prstGeom prst="rect">
            <a:avLst/>
          </a:prstGeom>
        </p:spPr>
        <p:txBody>
          <a:bodyPr vert="horz" wrap="none" lIns="0" tIns="0" rIns="0" bIns="0" rtlCol="0">
            <a:normAutofit/>
          </a:bodyPr>
          <a:lstStyle>
            <a:lvl1pPr algn="r">
              <a:defRPr lang="de-DE" sz="2399"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040" y="260351"/>
            <a:ext cx="8638513" cy="792163"/>
          </a:xfrm>
        </p:spPr>
        <p:txBody>
          <a:bodyPr/>
          <a:lstStyle>
            <a:lvl1pPr>
              <a:defRPr>
                <a:solidFill>
                  <a:schemeClr val="accent2"/>
                </a:solidFill>
              </a:defRPr>
            </a:lvl1pPr>
          </a:lstStyle>
          <a:p>
            <a:r>
              <a:rPr lang="en-US"/>
              <a:t>Click to edit Master title style</a:t>
            </a:r>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4682" y="1700808"/>
            <a:ext cx="8279201" cy="6858000"/>
          </a:xfrm>
          <a:prstGeom prst="rect">
            <a:avLst/>
          </a:prstGeom>
        </p:spPr>
      </p:pic>
    </p:spTree>
    <p:extLst>
      <p:ext uri="{BB962C8B-B14F-4D97-AF65-F5344CB8AC3E}">
        <p14:creationId xmlns:p14="http://schemas.microsoft.com/office/powerpoint/2010/main" val="23610265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ivider Page">
    <p:bg>
      <p:bgPr>
        <a:solidFill>
          <a:schemeClr val="accent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8714" y="588210"/>
            <a:ext cx="8279201"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036" y="1556792"/>
            <a:ext cx="647903" cy="648072"/>
          </a:xfrm>
          <a:prstGeom prst="rect">
            <a:avLst/>
          </a:prstGeom>
        </p:spPr>
        <p:txBody>
          <a:bodyPr wrap="none" lIns="0" tIns="0" rIns="0" bIns="0" anchor="t" anchorCtr="0">
            <a:noAutofit/>
          </a:bodyPr>
          <a:lstStyle>
            <a:lvl1pPr>
              <a:defRPr lang="en-US" sz="3199"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2907" y="1556792"/>
            <a:ext cx="8861100" cy="648072"/>
          </a:xfrm>
          <a:prstGeom prst="rect">
            <a:avLst/>
          </a:prstGeom>
        </p:spPr>
        <p:txBody>
          <a:bodyPr>
            <a:noAutofit/>
          </a:bodyPr>
          <a:lstStyle>
            <a:lvl1pPr>
              <a:defRPr sz="3199">
                <a:solidFill>
                  <a:schemeClr val="bg1"/>
                </a:solidFill>
              </a:defRPr>
            </a:lvl1pPr>
            <a:lvl2pPr>
              <a:defRPr sz="3199">
                <a:solidFill>
                  <a:schemeClr val="bg1"/>
                </a:solidFill>
              </a:defRPr>
            </a:lvl2pPr>
            <a:lvl3pPr>
              <a:defRPr sz="3199">
                <a:solidFill>
                  <a:schemeClr val="bg1"/>
                </a:solidFill>
              </a:defRPr>
            </a:lvl3pPr>
            <a:lvl4pPr>
              <a:defRPr sz="3199">
                <a:solidFill>
                  <a:schemeClr val="bg1"/>
                </a:solidFill>
              </a:defRPr>
            </a:lvl4pPr>
            <a:lvl5pPr>
              <a:defRPr sz="3199">
                <a:solidFill>
                  <a:schemeClr val="bg1"/>
                </a:solidFill>
              </a:defRPr>
            </a:lvl5pPr>
          </a:lstStyle>
          <a:p>
            <a:pPr lvl="0"/>
            <a:r>
              <a:rPr lang="en-US"/>
              <a:t>Click to add text</a:t>
            </a:r>
          </a:p>
        </p:txBody>
      </p:sp>
    </p:spTree>
    <p:extLst>
      <p:ext uri="{BB962C8B-B14F-4D97-AF65-F5344CB8AC3E}">
        <p14:creationId xmlns:p14="http://schemas.microsoft.com/office/powerpoint/2010/main" val="40198281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948252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863" y="1125539"/>
            <a:ext cx="11366081"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954872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863" y="1125539"/>
            <a:ext cx="11366081"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863" y="1624108"/>
            <a:ext cx="11366081"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13085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0" y="0"/>
            <a:ext cx="4206957"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3586" y="1126801"/>
            <a:ext cx="6960731"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4249" y="1627200"/>
            <a:ext cx="6960731" cy="4825988"/>
          </a:xfrm>
          <a:prstGeom prst="rect">
            <a:avLst/>
          </a:prstGeom>
        </p:spPr>
        <p:txBody>
          <a:bodyPr vert="horz" lIns="0" tIns="0" rIns="0" bIns="0" rtlCol="0">
            <a:noAutofit/>
          </a:bodyPr>
          <a:lstStyle>
            <a:lvl1pPr>
              <a:defRPr lang="en-US" sz="1400" smtClean="0">
                <a:solidFill>
                  <a:schemeClr val="bg1"/>
                </a:solidFill>
              </a:defRPr>
            </a:lvl1pPr>
            <a:lvl2pPr marL="180921" indent="-180921">
              <a:buClrTx/>
              <a:defRPr lang="en-US" sz="1400" kern="1200" dirty="0" smtClean="0">
                <a:solidFill>
                  <a:schemeClr val="bg1"/>
                </a:solidFill>
                <a:latin typeface="+mn-lt"/>
                <a:ea typeface="+mn-ea"/>
                <a:cs typeface="+mn-cs"/>
              </a:defRPr>
            </a:lvl2pPr>
            <a:lvl3pPr marL="359892" indent="-179946">
              <a:buClrTx/>
              <a:defRPr lang="en-US" sz="1400" kern="1200" dirty="0" smtClean="0">
                <a:solidFill>
                  <a:schemeClr val="bg1"/>
                </a:solidFill>
                <a:latin typeface="+mn-lt"/>
                <a:ea typeface="+mn-ea"/>
                <a:cs typeface="+mn-cs"/>
              </a:defRPr>
            </a:lvl3pPr>
            <a:lvl4pPr marL="539588" indent="-179946">
              <a:buClrTx/>
              <a:defRPr lang="en-US" sz="1200" kern="1200" dirty="0" smtClean="0">
                <a:solidFill>
                  <a:schemeClr val="bg1"/>
                </a:solidFill>
                <a:latin typeface="+mn-lt"/>
                <a:ea typeface="+mn-ea"/>
                <a:cs typeface="+mn-cs"/>
              </a:defRPr>
            </a:lvl4pPr>
            <a:lvl5pPr marL="718922" indent="-180921">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3586" y="260351"/>
            <a:ext cx="6976823"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650276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511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and picture dark grey 4">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4413" cy="6858000"/>
          </a:xfrm>
          <a:prstGeom prst="rect">
            <a:avLst/>
          </a:prstGeom>
          <a:solidFill>
            <a:schemeClr val="bg1">
              <a:lumMod val="95000"/>
            </a:schemeClr>
          </a:solidFill>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2370" y="1125539"/>
            <a:ext cx="504656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2370" y="6907"/>
            <a:ext cx="5046564"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2370" y="1627200"/>
            <a:ext cx="5046564" cy="4825988"/>
          </a:xfrm>
          <a:prstGeom prst="rect">
            <a:avLst/>
          </a:prstGeom>
        </p:spPr>
        <p:txBody>
          <a:bodyPr vert="horz" lIns="0" tIns="0" rIns="0" bIns="0" rtlCol="0">
            <a:noAutofit/>
          </a:bodyPr>
          <a:lstStyle>
            <a:lvl1pPr>
              <a:defRPr lang="en-US" sz="1400" smtClean="0">
                <a:solidFill>
                  <a:schemeClr val="bg1"/>
                </a:solidFill>
              </a:defRPr>
            </a:lvl1pPr>
            <a:lvl2pPr marL="180921" indent="-180921">
              <a:buClrTx/>
              <a:defRPr lang="en-US" sz="1400" kern="1200" dirty="0" smtClean="0">
                <a:solidFill>
                  <a:schemeClr val="bg1"/>
                </a:solidFill>
                <a:latin typeface="+mn-lt"/>
                <a:ea typeface="+mn-ea"/>
                <a:cs typeface="+mn-cs"/>
              </a:defRPr>
            </a:lvl2pPr>
            <a:lvl3pPr marL="359892" indent="-179946">
              <a:buClrTx/>
              <a:defRPr lang="en-US" sz="1400" kern="1200" dirty="0" smtClean="0">
                <a:solidFill>
                  <a:schemeClr val="bg1"/>
                </a:solidFill>
                <a:latin typeface="+mn-lt"/>
                <a:ea typeface="+mn-ea"/>
                <a:cs typeface="+mn-cs"/>
              </a:defRPr>
            </a:lvl3pPr>
            <a:lvl4pPr marL="539588" indent="-179946">
              <a:buClrTx/>
              <a:defRPr lang="en-US" sz="1200" kern="1200" dirty="0" smtClean="0">
                <a:solidFill>
                  <a:schemeClr val="bg1"/>
                </a:solidFill>
                <a:latin typeface="+mn-lt"/>
                <a:ea typeface="+mn-ea"/>
                <a:cs typeface="+mn-cs"/>
              </a:defRPr>
            </a:lvl4pPr>
            <a:lvl5pPr marL="718922" indent="-180921">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Tree>
    <p:extLst>
      <p:ext uri="{BB962C8B-B14F-4D97-AF65-F5344CB8AC3E}">
        <p14:creationId xmlns:p14="http://schemas.microsoft.com/office/powerpoint/2010/main" val="37304944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5135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Only Short Dark">
    <p:bg>
      <p:bgPr>
        <a:solidFill>
          <a:schemeClr val="bg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265B2F8-F345-47A8-995D-086F4524E78E}"/>
              </a:ext>
            </a:extLst>
          </p:cNvPr>
          <p:cNvSpPr>
            <a:spLocks noGrp="1"/>
          </p:cNvSpPr>
          <p:nvPr>
            <p:ph type="pic" sz="quarter" idx="18" hasCustomPrompt="1"/>
          </p:nvPr>
        </p:nvSpPr>
        <p:spPr>
          <a:xfrm>
            <a:off x="8110013" y="0"/>
            <a:ext cx="4078813" cy="6851650"/>
          </a:xfrm>
          <a:custGeom>
            <a:avLst/>
            <a:gdLst>
              <a:gd name="connsiteX0" fmla="*/ 3613361 w 4079875"/>
              <a:gd name="connsiteY0" fmla="*/ 171572 h 6851650"/>
              <a:gd name="connsiteX1" fmla="*/ 3388977 w 4079875"/>
              <a:gd name="connsiteY1" fmla="*/ 403485 h 6851650"/>
              <a:gd name="connsiteX2" fmla="*/ 3466705 w 4079875"/>
              <a:gd name="connsiteY2" fmla="*/ 517973 h 6851650"/>
              <a:gd name="connsiteX3" fmla="*/ 3545899 w 4079875"/>
              <a:gd name="connsiteY3" fmla="*/ 519441 h 6851650"/>
              <a:gd name="connsiteX4" fmla="*/ 3577980 w 4079875"/>
              <a:gd name="connsiteY4" fmla="*/ 503479 h 6851650"/>
              <a:gd name="connsiteX5" fmla="*/ 3604362 w 4079875"/>
              <a:gd name="connsiteY5" fmla="*/ 479988 h 6851650"/>
              <a:gd name="connsiteX6" fmla="*/ 3597318 w 4079875"/>
              <a:gd name="connsiteY6" fmla="*/ 502912 h 6851650"/>
              <a:gd name="connsiteX7" fmla="*/ 3532517 w 4079875"/>
              <a:gd name="connsiteY7" fmla="*/ 545873 h 6851650"/>
              <a:gd name="connsiteX8" fmla="*/ 3586816 w 4079875"/>
              <a:gd name="connsiteY8" fmla="*/ 560560 h 6851650"/>
              <a:gd name="connsiteX9" fmla="*/ 3715958 w 4079875"/>
              <a:gd name="connsiteY9" fmla="*/ 517967 h 6851650"/>
              <a:gd name="connsiteX10" fmla="*/ 3651387 w 4079875"/>
              <a:gd name="connsiteY10" fmla="*/ 460686 h 6851650"/>
              <a:gd name="connsiteX11" fmla="*/ 3715958 w 4079875"/>
              <a:gd name="connsiteY11" fmla="*/ 491530 h 6851650"/>
              <a:gd name="connsiteX12" fmla="*/ 3801190 w 4079875"/>
              <a:gd name="connsiteY12" fmla="*/ 433905 h 6851650"/>
              <a:gd name="connsiteX13" fmla="*/ 3808405 w 4079875"/>
              <a:gd name="connsiteY13" fmla="*/ 397572 h 6851650"/>
              <a:gd name="connsiteX14" fmla="*/ 3808413 w 4079875"/>
              <a:gd name="connsiteY14" fmla="*/ 397614 h 6851650"/>
              <a:gd name="connsiteX15" fmla="*/ 3808413 w 4079875"/>
              <a:gd name="connsiteY15" fmla="*/ 397531 h 6851650"/>
              <a:gd name="connsiteX16" fmla="*/ 3808413 w 4079875"/>
              <a:gd name="connsiteY16" fmla="*/ 394678 h 6851650"/>
              <a:gd name="connsiteX17" fmla="*/ 3736552 w 4079875"/>
              <a:gd name="connsiteY17" fmla="*/ 246430 h 6851650"/>
              <a:gd name="connsiteX18" fmla="*/ 3623627 w 4079875"/>
              <a:gd name="connsiteY18" fmla="*/ 175975 h 6851650"/>
              <a:gd name="connsiteX19" fmla="*/ 3613361 w 4079875"/>
              <a:gd name="connsiteY19" fmla="*/ 171572 h 6851650"/>
              <a:gd name="connsiteX20" fmla="*/ 0 w 4079875"/>
              <a:gd name="connsiteY20" fmla="*/ 0 h 6851650"/>
              <a:gd name="connsiteX21" fmla="*/ 4079875 w 4079875"/>
              <a:gd name="connsiteY21" fmla="*/ 0 h 6851650"/>
              <a:gd name="connsiteX22" fmla="*/ 4079875 w 4079875"/>
              <a:gd name="connsiteY22" fmla="*/ 6851650 h 6851650"/>
              <a:gd name="connsiteX23" fmla="*/ 0 w 4079875"/>
              <a:gd name="connsiteY23" fmla="*/ 6851650 h 685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79875" h="6851650">
                <a:moveTo>
                  <a:pt x="3613361" y="171572"/>
                </a:moveTo>
                <a:cubicBezTo>
                  <a:pt x="3563498" y="231752"/>
                  <a:pt x="3388977" y="277254"/>
                  <a:pt x="3388977" y="403485"/>
                </a:cubicBezTo>
                <a:cubicBezTo>
                  <a:pt x="3388977" y="453390"/>
                  <a:pt x="3419775" y="500360"/>
                  <a:pt x="3466705" y="517973"/>
                </a:cubicBezTo>
                <a:cubicBezTo>
                  <a:pt x="3493103" y="528248"/>
                  <a:pt x="3519501" y="528248"/>
                  <a:pt x="3545899" y="519441"/>
                </a:cubicBezTo>
                <a:cubicBezTo>
                  <a:pt x="3557632" y="515772"/>
                  <a:pt x="3568264" y="510267"/>
                  <a:pt x="3577980" y="503479"/>
                </a:cubicBezTo>
                <a:lnTo>
                  <a:pt x="3604362" y="479988"/>
                </a:lnTo>
                <a:lnTo>
                  <a:pt x="3597318" y="502912"/>
                </a:lnTo>
                <a:cubicBezTo>
                  <a:pt x="3585623" y="524668"/>
                  <a:pt x="3561134" y="541467"/>
                  <a:pt x="3532517" y="545873"/>
                </a:cubicBezTo>
                <a:cubicBezTo>
                  <a:pt x="3541322" y="554685"/>
                  <a:pt x="3561868" y="560560"/>
                  <a:pt x="3586816" y="560560"/>
                </a:cubicBezTo>
                <a:cubicBezTo>
                  <a:pt x="3632309" y="560560"/>
                  <a:pt x="3688075" y="547341"/>
                  <a:pt x="3715958" y="517967"/>
                </a:cubicBezTo>
                <a:cubicBezTo>
                  <a:pt x="3677803" y="519435"/>
                  <a:pt x="3652855" y="494467"/>
                  <a:pt x="3651387" y="460686"/>
                </a:cubicBezTo>
                <a:cubicBezTo>
                  <a:pt x="3668997" y="482717"/>
                  <a:pt x="3691010" y="491530"/>
                  <a:pt x="3715958" y="491530"/>
                </a:cubicBezTo>
                <a:cubicBezTo>
                  <a:pt x="3754481" y="491530"/>
                  <a:pt x="3787225" y="467571"/>
                  <a:pt x="3801190" y="433905"/>
                </a:cubicBezTo>
                <a:lnTo>
                  <a:pt x="3808405" y="397572"/>
                </a:lnTo>
                <a:lnTo>
                  <a:pt x="3808413" y="397614"/>
                </a:lnTo>
                <a:lnTo>
                  <a:pt x="3808413" y="397531"/>
                </a:lnTo>
                <a:lnTo>
                  <a:pt x="3808413" y="394678"/>
                </a:lnTo>
                <a:cubicBezTo>
                  <a:pt x="3808413" y="335966"/>
                  <a:pt x="3779082" y="286061"/>
                  <a:pt x="3736552" y="246430"/>
                </a:cubicBezTo>
                <a:cubicBezTo>
                  <a:pt x="3704287" y="215606"/>
                  <a:pt x="3664690" y="193589"/>
                  <a:pt x="3623627" y="175975"/>
                </a:cubicBezTo>
                <a:cubicBezTo>
                  <a:pt x="3620693" y="174508"/>
                  <a:pt x="3617760" y="173040"/>
                  <a:pt x="3613361" y="171572"/>
                </a:cubicBezTo>
                <a:close/>
                <a:moveTo>
                  <a:pt x="0" y="0"/>
                </a:moveTo>
                <a:lnTo>
                  <a:pt x="4079875" y="0"/>
                </a:lnTo>
                <a:lnTo>
                  <a:pt x="4079875" y="6851650"/>
                </a:lnTo>
                <a:lnTo>
                  <a:pt x="0" y="6851650"/>
                </a:lnTo>
                <a:close/>
              </a:path>
            </a:pathLst>
          </a:custGeom>
        </p:spPr>
        <p:txBody>
          <a:bodyPr wrap="square">
            <a:noAutofit/>
          </a:bodyPr>
          <a:lstStyle>
            <a:lvl1pPr marL="0" marR="0" indent="0" algn="ctr"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r>
              <a:rPr lang="en-US"/>
              <a:t>Click icon to add picture and send picture to back</a:t>
            </a:r>
          </a:p>
        </p:txBody>
      </p:sp>
      <p:sp>
        <p:nvSpPr>
          <p:cNvPr id="19" name="Rectangle 18">
            <a:extLst>
              <a:ext uri="{FF2B5EF4-FFF2-40B4-BE49-F238E27FC236}">
                <a16:creationId xmlns:a16="http://schemas.microsoft.com/office/drawing/2014/main" id="{F739495D-D944-452B-B11E-F8824CAF9904}"/>
              </a:ext>
            </a:extLst>
          </p:cNvPr>
          <p:cNvSpPr/>
          <p:nvPr userDrawn="1"/>
        </p:nvSpPr>
        <p:spPr>
          <a:xfrm>
            <a:off x="1" y="0"/>
            <a:ext cx="811001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719" y="6907"/>
            <a:ext cx="7559294" cy="1116000"/>
          </a:xfrm>
        </p:spPr>
        <p:txBody>
          <a:bodyPr rIns="72000"/>
          <a:lstStyle>
            <a:lvl1pPr>
              <a:defRPr>
                <a:solidFill>
                  <a:schemeClr val="bg1"/>
                </a:solidFill>
              </a:defRPr>
            </a:lvl1pPr>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550057" y="1125539"/>
            <a:ext cx="7559294"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16" name="TextBox 15">
            <a:extLst>
              <a:ext uri="{FF2B5EF4-FFF2-40B4-BE49-F238E27FC236}">
                <a16:creationId xmlns:a16="http://schemas.microsoft.com/office/drawing/2014/main" id="{1F62E3C9-BB70-4CF4-98F9-292D7381F72C}"/>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551241" y="1628800"/>
            <a:ext cx="7559294" cy="4824388"/>
          </a:xfrm>
          <a:prstGeom prst="rect">
            <a:avLst/>
          </a:prstGeom>
        </p:spPr>
        <p:txBody>
          <a:bodyPr rIns="216000">
            <a:noAutofit/>
          </a:bodyPr>
          <a:lstStyle>
            <a:lvl1pPr>
              <a:defRPr sz="1200">
                <a:solidFill>
                  <a:schemeClr val="bg1"/>
                </a:solidFill>
              </a:defRPr>
            </a:lvl1pPr>
            <a:lvl2pPr>
              <a:buClrTx/>
              <a:defRPr sz="1200">
                <a:solidFill>
                  <a:schemeClr val="bg1"/>
                </a:solidFill>
              </a:defRPr>
            </a:lvl2pPr>
            <a:lvl3pPr>
              <a:buClrTx/>
              <a:defRPr sz="1200">
                <a:solidFill>
                  <a:schemeClr val="bg1"/>
                </a:solidFill>
              </a:defRPr>
            </a:lvl3pPr>
            <a:lvl4pPr>
              <a:buClrTx/>
              <a:defRPr sz="1100">
                <a:solidFill>
                  <a:schemeClr val="bg1"/>
                </a:solidFill>
              </a:defRPr>
            </a:lvl4pPr>
            <a:lvl5pPr>
              <a:buClrTx/>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36663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511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2_Title Only Short Dark">
    <p:bg>
      <p:bgPr>
        <a:solidFill>
          <a:schemeClr val="bg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CF04019-A1DB-4741-8F6A-0715A53FCB86}"/>
              </a:ext>
            </a:extLst>
          </p:cNvPr>
          <p:cNvSpPr>
            <a:spLocks noGrp="1"/>
          </p:cNvSpPr>
          <p:nvPr>
            <p:ph type="pic" sz="quarter" idx="18" hasCustomPrompt="1"/>
          </p:nvPr>
        </p:nvSpPr>
        <p:spPr>
          <a:xfrm>
            <a:off x="6094412" y="0"/>
            <a:ext cx="6094413" cy="6851650"/>
          </a:xfrm>
          <a:custGeom>
            <a:avLst/>
            <a:gdLst>
              <a:gd name="connsiteX0" fmla="*/ 5629486 w 6096000"/>
              <a:gd name="connsiteY0" fmla="*/ 171572 h 6851650"/>
              <a:gd name="connsiteX1" fmla="*/ 5405102 w 6096000"/>
              <a:gd name="connsiteY1" fmla="*/ 403485 h 6851650"/>
              <a:gd name="connsiteX2" fmla="*/ 5482830 w 6096000"/>
              <a:gd name="connsiteY2" fmla="*/ 517973 h 6851650"/>
              <a:gd name="connsiteX3" fmla="*/ 5562024 w 6096000"/>
              <a:gd name="connsiteY3" fmla="*/ 519441 h 6851650"/>
              <a:gd name="connsiteX4" fmla="*/ 5594105 w 6096000"/>
              <a:gd name="connsiteY4" fmla="*/ 503479 h 6851650"/>
              <a:gd name="connsiteX5" fmla="*/ 5620487 w 6096000"/>
              <a:gd name="connsiteY5" fmla="*/ 479988 h 6851650"/>
              <a:gd name="connsiteX6" fmla="*/ 5613443 w 6096000"/>
              <a:gd name="connsiteY6" fmla="*/ 502912 h 6851650"/>
              <a:gd name="connsiteX7" fmla="*/ 5548642 w 6096000"/>
              <a:gd name="connsiteY7" fmla="*/ 545873 h 6851650"/>
              <a:gd name="connsiteX8" fmla="*/ 5602941 w 6096000"/>
              <a:gd name="connsiteY8" fmla="*/ 560560 h 6851650"/>
              <a:gd name="connsiteX9" fmla="*/ 5732083 w 6096000"/>
              <a:gd name="connsiteY9" fmla="*/ 517967 h 6851650"/>
              <a:gd name="connsiteX10" fmla="*/ 5667512 w 6096000"/>
              <a:gd name="connsiteY10" fmla="*/ 460686 h 6851650"/>
              <a:gd name="connsiteX11" fmla="*/ 5732083 w 6096000"/>
              <a:gd name="connsiteY11" fmla="*/ 491530 h 6851650"/>
              <a:gd name="connsiteX12" fmla="*/ 5817315 w 6096000"/>
              <a:gd name="connsiteY12" fmla="*/ 433905 h 6851650"/>
              <a:gd name="connsiteX13" fmla="*/ 5824530 w 6096000"/>
              <a:gd name="connsiteY13" fmla="*/ 397572 h 6851650"/>
              <a:gd name="connsiteX14" fmla="*/ 5824538 w 6096000"/>
              <a:gd name="connsiteY14" fmla="*/ 397614 h 6851650"/>
              <a:gd name="connsiteX15" fmla="*/ 5824538 w 6096000"/>
              <a:gd name="connsiteY15" fmla="*/ 397531 h 6851650"/>
              <a:gd name="connsiteX16" fmla="*/ 5824538 w 6096000"/>
              <a:gd name="connsiteY16" fmla="*/ 394678 h 6851650"/>
              <a:gd name="connsiteX17" fmla="*/ 5752677 w 6096000"/>
              <a:gd name="connsiteY17" fmla="*/ 246430 h 6851650"/>
              <a:gd name="connsiteX18" fmla="*/ 5639752 w 6096000"/>
              <a:gd name="connsiteY18" fmla="*/ 175975 h 6851650"/>
              <a:gd name="connsiteX19" fmla="*/ 5629486 w 6096000"/>
              <a:gd name="connsiteY19" fmla="*/ 171572 h 6851650"/>
              <a:gd name="connsiteX20" fmla="*/ 0 w 6096000"/>
              <a:gd name="connsiteY20" fmla="*/ 0 h 6851650"/>
              <a:gd name="connsiteX21" fmla="*/ 6096000 w 6096000"/>
              <a:gd name="connsiteY21" fmla="*/ 0 h 6851650"/>
              <a:gd name="connsiteX22" fmla="*/ 6096000 w 6096000"/>
              <a:gd name="connsiteY22" fmla="*/ 6851650 h 6851650"/>
              <a:gd name="connsiteX23" fmla="*/ 0 w 6096000"/>
              <a:gd name="connsiteY23" fmla="*/ 6851650 h 685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0" h="6851650">
                <a:moveTo>
                  <a:pt x="5629486" y="171572"/>
                </a:moveTo>
                <a:cubicBezTo>
                  <a:pt x="5579623" y="231752"/>
                  <a:pt x="5405102" y="277254"/>
                  <a:pt x="5405102" y="403485"/>
                </a:cubicBezTo>
                <a:cubicBezTo>
                  <a:pt x="5405102" y="453390"/>
                  <a:pt x="5435900" y="500360"/>
                  <a:pt x="5482830" y="517973"/>
                </a:cubicBezTo>
                <a:cubicBezTo>
                  <a:pt x="5509228" y="528248"/>
                  <a:pt x="5535626" y="528248"/>
                  <a:pt x="5562024" y="519441"/>
                </a:cubicBezTo>
                <a:cubicBezTo>
                  <a:pt x="5573757" y="515772"/>
                  <a:pt x="5584389" y="510267"/>
                  <a:pt x="5594105" y="503479"/>
                </a:cubicBezTo>
                <a:lnTo>
                  <a:pt x="5620487" y="479988"/>
                </a:lnTo>
                <a:lnTo>
                  <a:pt x="5613443" y="502912"/>
                </a:lnTo>
                <a:cubicBezTo>
                  <a:pt x="5601748" y="524668"/>
                  <a:pt x="5577259" y="541467"/>
                  <a:pt x="5548642" y="545873"/>
                </a:cubicBezTo>
                <a:cubicBezTo>
                  <a:pt x="5557447" y="554685"/>
                  <a:pt x="5577993" y="560560"/>
                  <a:pt x="5602941" y="560560"/>
                </a:cubicBezTo>
                <a:cubicBezTo>
                  <a:pt x="5648434" y="560560"/>
                  <a:pt x="5704200" y="547341"/>
                  <a:pt x="5732083" y="517967"/>
                </a:cubicBezTo>
                <a:cubicBezTo>
                  <a:pt x="5693928" y="519435"/>
                  <a:pt x="5668980" y="494467"/>
                  <a:pt x="5667512" y="460686"/>
                </a:cubicBezTo>
                <a:cubicBezTo>
                  <a:pt x="5685122" y="482717"/>
                  <a:pt x="5707135" y="491530"/>
                  <a:pt x="5732083" y="491530"/>
                </a:cubicBezTo>
                <a:cubicBezTo>
                  <a:pt x="5770606" y="491530"/>
                  <a:pt x="5803350" y="467571"/>
                  <a:pt x="5817315" y="433905"/>
                </a:cubicBezTo>
                <a:lnTo>
                  <a:pt x="5824530" y="397572"/>
                </a:lnTo>
                <a:lnTo>
                  <a:pt x="5824538" y="397614"/>
                </a:lnTo>
                <a:lnTo>
                  <a:pt x="5824538" y="397531"/>
                </a:lnTo>
                <a:lnTo>
                  <a:pt x="5824538" y="394678"/>
                </a:lnTo>
                <a:cubicBezTo>
                  <a:pt x="5824538" y="335966"/>
                  <a:pt x="5795207" y="286061"/>
                  <a:pt x="5752677" y="246430"/>
                </a:cubicBezTo>
                <a:cubicBezTo>
                  <a:pt x="5720412" y="215606"/>
                  <a:pt x="5680815" y="193589"/>
                  <a:pt x="5639752" y="175975"/>
                </a:cubicBezTo>
                <a:cubicBezTo>
                  <a:pt x="5636818" y="174508"/>
                  <a:pt x="5633885" y="173040"/>
                  <a:pt x="5629486" y="171572"/>
                </a:cubicBezTo>
                <a:close/>
                <a:moveTo>
                  <a:pt x="0" y="0"/>
                </a:moveTo>
                <a:lnTo>
                  <a:pt x="6096000" y="0"/>
                </a:lnTo>
                <a:lnTo>
                  <a:pt x="6096000" y="6851650"/>
                </a:lnTo>
                <a:lnTo>
                  <a:pt x="0" y="6851650"/>
                </a:lnTo>
                <a:close/>
              </a:path>
            </a:pathLst>
          </a:custGeom>
        </p:spPr>
        <p:txBody>
          <a:bodyPr wrap="square">
            <a:noAutofit/>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r>
              <a:rPr lang="en-US"/>
              <a:t>Click icon to add picture and send picture to back</a:t>
            </a:r>
          </a:p>
        </p:txBody>
      </p:sp>
      <p:sp>
        <p:nvSpPr>
          <p:cNvPr id="19" name="Rectangle 18">
            <a:extLst>
              <a:ext uri="{FF2B5EF4-FFF2-40B4-BE49-F238E27FC236}">
                <a16:creationId xmlns:a16="http://schemas.microsoft.com/office/drawing/2014/main" id="{3159DB76-BDF6-4570-B3F9-7584F97BA403}"/>
              </a:ext>
            </a:extLst>
          </p:cNvPr>
          <p:cNvSpPr/>
          <p:nvPr userDrawn="1"/>
        </p:nvSpPr>
        <p:spPr>
          <a:xfrm>
            <a:off x="0" y="0"/>
            <a:ext cx="609441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720" y="6907"/>
            <a:ext cx="5543693" cy="1116000"/>
          </a:xfrm>
        </p:spPr>
        <p:txBody>
          <a:bodyPr rIns="72000"/>
          <a:lstStyle>
            <a:lvl1pPr>
              <a:defRPr>
                <a:solidFill>
                  <a:schemeClr val="bg1"/>
                </a:solidFill>
              </a:defRPr>
            </a:lvl1pPr>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550057" y="1126801"/>
            <a:ext cx="5544356"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14" name="TextBox 13">
            <a:extLst>
              <a:ext uri="{FF2B5EF4-FFF2-40B4-BE49-F238E27FC236}">
                <a16:creationId xmlns:a16="http://schemas.microsoft.com/office/drawing/2014/main" id="{5711E1CB-6482-4703-A2CF-1E8703520C4C}"/>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550720" y="1627200"/>
            <a:ext cx="5543693" cy="4825988"/>
          </a:xfrm>
          <a:prstGeom prst="rect">
            <a:avLst/>
          </a:prstGeom>
        </p:spPr>
        <p:txBody>
          <a:bodyPr vert="horz" lIns="0" tIns="0" rIns="216000" bIns="0" rtlCol="0">
            <a:noAutofit/>
          </a:bodyPr>
          <a:lstStyle>
            <a:lvl1pPr>
              <a:defRPr lang="en-US" sz="1200" smtClean="0">
                <a:solidFill>
                  <a:schemeClr val="bg1"/>
                </a:solidFill>
              </a:defRPr>
            </a:lvl1pPr>
            <a:lvl2pPr marL="180921" indent="-180921">
              <a:buClrTx/>
              <a:defRPr lang="en-US" sz="1200" kern="1200" dirty="0" smtClean="0">
                <a:solidFill>
                  <a:schemeClr val="bg1"/>
                </a:solidFill>
                <a:latin typeface="+mn-lt"/>
                <a:ea typeface="+mn-ea"/>
                <a:cs typeface="+mn-cs"/>
              </a:defRPr>
            </a:lvl2pPr>
            <a:lvl3pPr marL="359892" indent="-179946">
              <a:buClrTx/>
              <a:defRPr lang="en-US" sz="1200" kern="1200" dirty="0" smtClean="0">
                <a:solidFill>
                  <a:schemeClr val="bg1"/>
                </a:solidFill>
                <a:latin typeface="+mn-lt"/>
                <a:ea typeface="+mn-ea"/>
                <a:cs typeface="+mn-cs"/>
              </a:defRPr>
            </a:lvl3pPr>
            <a:lvl4pPr marL="539588" indent="-179946">
              <a:buClrTx/>
              <a:defRPr lang="en-US" sz="1100" kern="1200" dirty="0" smtClean="0">
                <a:solidFill>
                  <a:schemeClr val="bg1"/>
                </a:solidFill>
                <a:latin typeface="+mn-lt"/>
                <a:ea typeface="+mn-ea"/>
                <a:cs typeface="+mn-cs"/>
              </a:defRPr>
            </a:lvl4pPr>
            <a:lvl5pPr marL="718922" indent="-180921">
              <a:buClrTx/>
              <a:defRPr lang="en-US" sz="11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9516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3_Title Only Short Dark">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0" y="0"/>
            <a:ext cx="4089923" cy="6858000"/>
          </a:xfrm>
          <a:prstGeom prst="rect">
            <a:avLst/>
          </a:prstGeom>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5" name="Rectangle 24">
            <a:extLst>
              <a:ext uri="{FF2B5EF4-FFF2-40B4-BE49-F238E27FC236}">
                <a16:creationId xmlns:a16="http://schemas.microsoft.com/office/drawing/2014/main" id="{7976266F-C45A-4BCC-B2BF-CCD2AE738353}"/>
              </a:ext>
            </a:extLst>
          </p:cNvPr>
          <p:cNvSpPr/>
          <p:nvPr userDrawn="1"/>
        </p:nvSpPr>
        <p:spPr>
          <a:xfrm>
            <a:off x="4090406" y="0"/>
            <a:ext cx="811001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3586" y="1126801"/>
            <a:ext cx="6960731"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21" name="Title 3">
            <a:extLst>
              <a:ext uri="{FF2B5EF4-FFF2-40B4-BE49-F238E27FC236}">
                <a16:creationId xmlns:a16="http://schemas.microsoft.com/office/drawing/2014/main" id="{A6A50AD2-25C8-4484-B9B5-B453B7E4AA6D}"/>
              </a:ext>
            </a:extLst>
          </p:cNvPr>
          <p:cNvSpPr>
            <a:spLocks noGrp="1"/>
          </p:cNvSpPr>
          <p:nvPr>
            <p:ph type="title"/>
          </p:nvPr>
        </p:nvSpPr>
        <p:spPr>
          <a:xfrm>
            <a:off x="4444249" y="6907"/>
            <a:ext cx="6960731" cy="1116000"/>
          </a:xfrm>
        </p:spPr>
        <p:txBody>
          <a:bodyPr rIns="72000"/>
          <a:lstStyle>
            <a:lvl1pPr>
              <a:defRPr>
                <a:solidFill>
                  <a:schemeClr val="bg1"/>
                </a:solidFill>
              </a:defRPr>
            </a:lvl1pPr>
          </a:lstStyle>
          <a:p>
            <a:r>
              <a:rPr lang="en-US"/>
              <a:t>Click to edit Master title style</a:t>
            </a:r>
            <a:endParaRPr lang="de-DE"/>
          </a:p>
        </p:txBody>
      </p:sp>
      <p:sp>
        <p:nvSpPr>
          <p:cNvPr id="23" name="TextBox 22">
            <a:extLst>
              <a:ext uri="{FF2B5EF4-FFF2-40B4-BE49-F238E27FC236}">
                <a16:creationId xmlns:a16="http://schemas.microsoft.com/office/drawing/2014/main" id="{5CF29121-337D-4F7E-960E-8EFC1066DBB5}"/>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4249" y="1627200"/>
            <a:ext cx="6960731" cy="4825988"/>
          </a:xfrm>
          <a:prstGeom prst="rect">
            <a:avLst/>
          </a:prstGeom>
        </p:spPr>
        <p:txBody>
          <a:bodyPr vert="horz" lIns="0" tIns="0" rIns="0" bIns="0" rtlCol="0">
            <a:noAutofit/>
          </a:bodyPr>
          <a:lstStyle>
            <a:lvl1pPr>
              <a:defRPr lang="en-US" sz="1200" smtClean="0">
                <a:solidFill>
                  <a:schemeClr val="bg1"/>
                </a:solidFill>
              </a:defRPr>
            </a:lvl1pPr>
            <a:lvl2pPr marL="180921" indent="-180921">
              <a:buClrTx/>
              <a:defRPr lang="en-US" sz="1200" kern="1200" dirty="0" smtClean="0">
                <a:solidFill>
                  <a:schemeClr val="bg1"/>
                </a:solidFill>
                <a:latin typeface="+mn-lt"/>
                <a:ea typeface="+mn-ea"/>
                <a:cs typeface="+mn-cs"/>
              </a:defRPr>
            </a:lvl2pPr>
            <a:lvl3pPr marL="359892" indent="-179946">
              <a:buClrTx/>
              <a:defRPr lang="en-US" sz="1200" kern="1200" dirty="0" smtClean="0">
                <a:solidFill>
                  <a:schemeClr val="bg1"/>
                </a:solidFill>
                <a:latin typeface="+mn-lt"/>
                <a:ea typeface="+mn-ea"/>
                <a:cs typeface="+mn-cs"/>
              </a:defRPr>
            </a:lvl3pPr>
            <a:lvl4pPr marL="539588" indent="-179946">
              <a:buClrTx/>
              <a:defRPr lang="en-US" sz="1100" kern="1200" dirty="0" smtClean="0">
                <a:solidFill>
                  <a:schemeClr val="bg1"/>
                </a:solidFill>
                <a:latin typeface="+mn-lt"/>
                <a:ea typeface="+mn-ea"/>
                <a:cs typeface="+mn-cs"/>
              </a:defRPr>
            </a:lvl4pPr>
            <a:lvl5pPr marL="718922" indent="-180921">
              <a:buClrTx/>
              <a:defRPr lang="en-US" sz="11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Tree>
    <p:extLst>
      <p:ext uri="{BB962C8B-B14F-4D97-AF65-F5344CB8AC3E}">
        <p14:creationId xmlns:p14="http://schemas.microsoft.com/office/powerpoint/2010/main" val="7162289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extLst>
    <p:ext uri="{DCECCB84-F9BA-43D5-87BE-67443E8EF086}">
      <p15:sldGuideLst xmlns:p15="http://schemas.microsoft.com/office/powerpoint/2012/main">
        <p15:guide id="1" pos="511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4_Title Only Short Dark">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4413" cy="6858000"/>
          </a:xfrm>
          <a:prstGeom prst="rect">
            <a:avLst/>
          </a:prstGeom>
        </p:spPr>
        <p:txBody>
          <a:bodyPr/>
          <a:lstStyle>
            <a:lvl1pPr marL="0" marR="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5" name="Rectangle 24">
            <a:extLst>
              <a:ext uri="{FF2B5EF4-FFF2-40B4-BE49-F238E27FC236}">
                <a16:creationId xmlns:a16="http://schemas.microsoft.com/office/drawing/2014/main" id="{5CC1D70B-5F15-40A5-977B-8F3B78827D72}"/>
              </a:ext>
            </a:extLst>
          </p:cNvPr>
          <p:cNvSpPr/>
          <p:nvPr userDrawn="1"/>
        </p:nvSpPr>
        <p:spPr>
          <a:xfrm>
            <a:off x="6094412" y="0"/>
            <a:ext cx="609441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pPr>
            <a:r>
              <a:rPr lang="en-IN"/>
              <a:t>Company Confidential © Capgemini 2026. All rights reserved.</a:t>
            </a:r>
            <a:endParaRPr lang="en-US"/>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pPr>
            <a:r>
              <a:rPr lang="en-US"/>
              <a:t>AI Data Copilot - AskData</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478313" y="1126801"/>
            <a:ext cx="4950621"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478313" y="6907"/>
            <a:ext cx="4950621" cy="1127300"/>
          </a:xfrm>
        </p:spPr>
        <p:txBody>
          <a:bodyPr/>
          <a:lstStyle>
            <a:lvl1pPr>
              <a:defRPr>
                <a:solidFill>
                  <a:schemeClr val="bg1"/>
                </a:solidFill>
              </a:defRPr>
            </a:lvl1pPr>
          </a:lstStyle>
          <a:p>
            <a:r>
              <a:rPr lang="en-US"/>
              <a:t>Click to edit Master title style</a:t>
            </a:r>
            <a:endParaRPr lang="de-DE"/>
          </a:p>
        </p:txBody>
      </p:sp>
      <p:sp>
        <p:nvSpPr>
          <p:cNvPr id="23" name="TextBox 22">
            <a:extLst>
              <a:ext uri="{FF2B5EF4-FFF2-40B4-BE49-F238E27FC236}">
                <a16:creationId xmlns:a16="http://schemas.microsoft.com/office/drawing/2014/main" id="{66247B5C-06D3-440E-ABB6-60410C09B05A}"/>
              </a:ext>
            </a:extLst>
          </p:cNvPr>
          <p:cNvSpPr txBox="1"/>
          <p:nvPr userDrawn="1">
            <p:custDataLst>
              <p:tags r:id="rId1"/>
            </p:custDataLst>
          </p:nvPr>
        </p:nvSpPr>
        <p:spPr>
          <a:xfrm>
            <a:off x="8100191" y="6650662"/>
            <a:ext cx="1089758"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478313" y="1627200"/>
            <a:ext cx="4950621" cy="4825988"/>
          </a:xfrm>
          <a:prstGeom prst="rect">
            <a:avLst/>
          </a:prstGeom>
        </p:spPr>
        <p:txBody>
          <a:bodyPr vert="horz" lIns="0" tIns="0" rIns="0" bIns="0" rtlCol="0">
            <a:noAutofit/>
          </a:bodyPr>
          <a:lstStyle>
            <a:lvl1pPr>
              <a:defRPr lang="en-US" sz="1200" smtClean="0">
                <a:solidFill>
                  <a:schemeClr val="bg1"/>
                </a:solidFill>
              </a:defRPr>
            </a:lvl1pPr>
            <a:lvl2pPr marL="180921" indent="-180921">
              <a:buClrTx/>
              <a:defRPr lang="en-US" sz="1200" kern="1200" dirty="0" smtClean="0">
                <a:solidFill>
                  <a:schemeClr val="bg1"/>
                </a:solidFill>
                <a:latin typeface="+mn-lt"/>
                <a:ea typeface="+mn-ea"/>
                <a:cs typeface="+mn-cs"/>
              </a:defRPr>
            </a:lvl2pPr>
            <a:lvl3pPr marL="359892" indent="-179946">
              <a:buClrTx/>
              <a:defRPr lang="en-US" sz="1200" kern="1200" dirty="0" smtClean="0">
                <a:solidFill>
                  <a:schemeClr val="bg1"/>
                </a:solidFill>
                <a:latin typeface="+mn-lt"/>
                <a:ea typeface="+mn-ea"/>
                <a:cs typeface="+mn-cs"/>
              </a:defRPr>
            </a:lvl3pPr>
            <a:lvl4pPr marL="539588" indent="-179946">
              <a:buClrTx/>
              <a:defRPr lang="en-US" sz="1100" kern="1200" dirty="0" smtClean="0">
                <a:solidFill>
                  <a:schemeClr val="bg1"/>
                </a:solidFill>
                <a:latin typeface="+mn-lt"/>
                <a:ea typeface="+mn-ea"/>
                <a:cs typeface="+mn-cs"/>
              </a:defRPr>
            </a:lvl4pPr>
            <a:lvl5pPr marL="718922" indent="-180921">
              <a:buClrTx/>
              <a:defRPr lang="en-US" sz="11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498107" y="171573"/>
            <a:ext cx="419327"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Tree>
    <p:extLst>
      <p:ext uri="{BB962C8B-B14F-4D97-AF65-F5344CB8AC3E}">
        <p14:creationId xmlns:p14="http://schemas.microsoft.com/office/powerpoint/2010/main" val="36829561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23" name="Image 15">
            <a:extLst>
              <a:ext uri="{FF2B5EF4-FFF2-40B4-BE49-F238E27FC236}">
                <a16:creationId xmlns:a16="http://schemas.microsoft.com/office/drawing/2014/main" id="{72353042-8620-4589-828D-2CC6B49B1C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102" y="1634188"/>
            <a:ext cx="9699859" cy="6043284"/>
          </a:xfrm>
          <a:prstGeom prst="rect">
            <a:avLst/>
          </a:prstGeom>
        </p:spPr>
      </p:pic>
      <p:sp>
        <p:nvSpPr>
          <p:cNvPr id="24" name="Rectangle 23">
            <a:extLst>
              <a:ext uri="{FF2B5EF4-FFF2-40B4-BE49-F238E27FC236}">
                <a16:creationId xmlns:a16="http://schemas.microsoft.com/office/drawing/2014/main" id="{4A111039-914C-4DB4-9DF3-DF6AF113071A}"/>
              </a:ext>
            </a:extLst>
          </p:cNvPr>
          <p:cNvSpPr/>
          <p:nvPr userDrawn="1"/>
        </p:nvSpPr>
        <p:spPr>
          <a:xfrm>
            <a:off x="428521" y="1446176"/>
            <a:ext cx="4731018"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kern="1200">
                <a:solidFill>
                  <a:schemeClr val="lt1"/>
                </a:solidFill>
                <a:effectLst/>
                <a:latin typeface="+mn-lt"/>
                <a:ea typeface="+mn-ea"/>
                <a:cs typeface="+mn-cs"/>
              </a:rPr>
              <a:t>As the digital innovation, design and transformation brand of the Capgemini Group, Capgemini Invent enables </a:t>
            </a:r>
            <a:r>
              <a:rPr lang="en-US" sz="900" kern="1200" err="1">
                <a:solidFill>
                  <a:schemeClr val="lt1"/>
                </a:solidFill>
                <a:effectLst/>
                <a:latin typeface="+mn-lt"/>
                <a:ea typeface="+mn-ea"/>
                <a:cs typeface="+mn-cs"/>
              </a:rPr>
              <a:t>CxOs</a:t>
            </a:r>
            <a:r>
              <a:rPr lang="en-US" sz="900" kern="1200">
                <a:solidFill>
                  <a:schemeClr val="lt1"/>
                </a:solidFill>
                <a:effectLst/>
                <a:latin typeface="+mn-lt"/>
                <a:ea typeface="+mn-ea"/>
                <a:cs typeface="+mn-cs"/>
              </a:rPr>
              <a:t> to envision and shape the future of their businesses. Located in nearly 40 studios and more than 60 offices around the world, it comprises a 10,000+ strong team of strategists, data scientists, product and experience designers, brand experts and technologists who develop new digital services, products, experiences and business models for sustainable growth.</a:t>
            </a:r>
          </a:p>
          <a:p>
            <a:pPr algn="just"/>
            <a:endParaRPr lang="en-US"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p>
        </p:txBody>
      </p:sp>
      <p:sp>
        <p:nvSpPr>
          <p:cNvPr id="57" name="Rectangle 56"/>
          <p:cNvSpPr/>
          <p:nvPr userDrawn="1"/>
        </p:nvSpPr>
        <p:spPr>
          <a:xfrm>
            <a:off x="426609" y="5840235"/>
            <a:ext cx="3220169"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2026 Capgemini. All rights reserved.</a:t>
            </a:r>
          </a:p>
        </p:txBody>
      </p:sp>
      <p:sp>
        <p:nvSpPr>
          <p:cNvPr id="48" name="Rectangle 47"/>
          <p:cNvSpPr/>
          <p:nvPr userDrawn="1"/>
        </p:nvSpPr>
        <p:spPr>
          <a:xfrm>
            <a:off x="426412" y="1068314"/>
            <a:ext cx="2219382"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1999"/>
              </a:lnSpc>
            </a:pPr>
            <a:r>
              <a:rPr lang="en-US" sz="140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63493" y="5383763"/>
            <a:ext cx="4023194" cy="1212215"/>
          </a:xfrm>
          <a:prstGeom prst="rect">
            <a:avLst/>
          </a:prstGeom>
        </p:spPr>
      </p:pic>
      <p:sp>
        <p:nvSpPr>
          <p:cNvPr id="31" name="Rectangle 30">
            <a:extLst>
              <a:ext uri="{FF2B5EF4-FFF2-40B4-BE49-F238E27FC236}">
                <a16:creationId xmlns:a16="http://schemas.microsoft.com/office/drawing/2014/main" id="{7F14F5AA-D00E-4FC7-8FAC-94D846AF11AE}"/>
              </a:ext>
            </a:extLst>
          </p:cNvPr>
          <p:cNvSpPr/>
          <p:nvPr userDrawn="1"/>
        </p:nvSpPr>
        <p:spPr>
          <a:xfrm>
            <a:off x="426412" y="3813794"/>
            <a:ext cx="4344044"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126"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pic>
        <p:nvPicPr>
          <p:cNvPr id="25" name="Picture 2">
            <a:hlinkClick r:id="rId4"/>
            <a:extLst>
              <a:ext uri="{FF2B5EF4-FFF2-40B4-BE49-F238E27FC236}">
                <a16:creationId xmlns:a16="http://schemas.microsoft.com/office/drawing/2014/main" id="{24E210E9-BF28-4277-A7E4-7F75612DA699}"/>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47491" y="5214283"/>
            <a:ext cx="333108" cy="333195"/>
          </a:xfrm>
          <a:prstGeom prst="rect">
            <a:avLst/>
          </a:prstGeom>
          <a:noFill/>
        </p:spPr>
      </p:pic>
      <p:pic>
        <p:nvPicPr>
          <p:cNvPr id="27" name="Picture 4">
            <a:hlinkClick r:id="rId6"/>
            <a:extLst>
              <a:ext uri="{FF2B5EF4-FFF2-40B4-BE49-F238E27FC236}">
                <a16:creationId xmlns:a16="http://schemas.microsoft.com/office/drawing/2014/main" id="{825CF878-6B7E-4940-91A6-12F0F5A6B1E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230768" y="5214283"/>
            <a:ext cx="333108" cy="333195"/>
          </a:xfrm>
          <a:prstGeom prst="rect">
            <a:avLst/>
          </a:prstGeom>
          <a:noFill/>
        </p:spPr>
      </p:pic>
      <p:pic>
        <p:nvPicPr>
          <p:cNvPr id="28" name="Picture 5">
            <a:hlinkClick r:id="rId8"/>
            <a:extLst>
              <a:ext uri="{FF2B5EF4-FFF2-40B4-BE49-F238E27FC236}">
                <a16:creationId xmlns:a16="http://schemas.microsoft.com/office/drawing/2014/main" id="{5B092861-FD2B-41E4-9D5C-4F9DB8C78CA6}"/>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614045" y="5214283"/>
            <a:ext cx="333108" cy="333195"/>
          </a:xfrm>
          <a:prstGeom prst="rect">
            <a:avLst/>
          </a:prstGeom>
          <a:noFill/>
        </p:spPr>
      </p:pic>
      <p:pic>
        <p:nvPicPr>
          <p:cNvPr id="29" name="Picture 6">
            <a:hlinkClick r:id="rId10"/>
            <a:extLst>
              <a:ext uri="{FF2B5EF4-FFF2-40B4-BE49-F238E27FC236}">
                <a16:creationId xmlns:a16="http://schemas.microsoft.com/office/drawing/2014/main" id="{0C1579FB-7326-4173-920B-70C40143C135}"/>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97321" y="5214283"/>
            <a:ext cx="333108" cy="333195"/>
          </a:xfrm>
          <a:prstGeom prst="rect">
            <a:avLst/>
          </a:prstGeom>
          <a:noFill/>
        </p:spPr>
      </p:pic>
      <p:pic>
        <p:nvPicPr>
          <p:cNvPr id="30" name="Picture 7">
            <a:hlinkClick r:id="rId12"/>
            <a:extLst>
              <a:ext uri="{FF2B5EF4-FFF2-40B4-BE49-F238E27FC236}">
                <a16:creationId xmlns:a16="http://schemas.microsoft.com/office/drawing/2014/main" id="{6FA6840F-AB00-4901-91D9-5E2D057477F4}"/>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64214" y="5214283"/>
            <a:ext cx="333108" cy="333195"/>
          </a:xfrm>
          <a:prstGeom prst="rect">
            <a:avLst/>
          </a:prstGeom>
          <a:noFill/>
        </p:spPr>
      </p:pic>
    </p:spTree>
    <p:extLst>
      <p:ext uri="{BB962C8B-B14F-4D97-AF65-F5344CB8AC3E}">
        <p14:creationId xmlns:p14="http://schemas.microsoft.com/office/powerpoint/2010/main" val="35488765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image" Target="../media/image1.png"/><Relationship Id="rId2" Type="http://schemas.openxmlformats.org/officeDocument/2006/relationships/slideLayout" Target="../slideLayouts/slideLayout60.xml"/><Relationship Id="rId16" Type="http://schemas.openxmlformats.org/officeDocument/2006/relationships/theme" Target="../theme/theme2.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0">
            <a:extLst>
              <a:ext uri="{28A0092B-C50C-407E-A947-70E740481C1C}">
                <a14:useLocalDpi xmlns:a14="http://schemas.microsoft.com/office/drawing/2010/main"/>
              </a:ext>
            </a:extLst>
          </a:blip>
          <a:stretch>
            <a:fillRect/>
          </a:stretch>
        </p:blipFill>
        <p:spPr>
          <a:xfrm>
            <a:off x="550720" y="560562"/>
            <a:ext cx="11086865"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7372" y="6650662"/>
            <a:ext cx="1830733"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IN"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5274" y="6650662"/>
            <a:ext cx="232604"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240" y="549274"/>
            <a:ext cx="1108805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719" y="6650662"/>
            <a:ext cx="4715296"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pPr>
            <a:r>
              <a:rPr lang="en-US"/>
              <a:t>AI Data Copilot - AskData</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1469" y="1124745"/>
            <a:ext cx="804598" cy="402775"/>
          </a:xfrm>
          <a:prstGeom prst="rect">
            <a:avLst/>
          </a:prstGeom>
          <a:solidFill>
            <a:schemeClr val="accent2"/>
          </a:solidFill>
          <a:ln w="10795">
            <a:noFill/>
            <a:round/>
            <a:headEnd/>
            <a:tailEnd/>
          </a:ln>
          <a:effectLst/>
        </p:spPr>
        <p:txBody>
          <a:bodyPr vert="horz" wrap="none" lIns="107972" tIns="107972" rIns="107972" bIns="107972" anchor="ctr" anchorCtr="0">
            <a:sp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0" y="0"/>
            <a:ext cx="1837182" cy="260350"/>
          </a:xfrm>
          <a:prstGeom prst="rect">
            <a:avLst/>
          </a:prstGeom>
        </p:spPr>
        <p:txBody>
          <a:bodyPr vert="horz" lIns="0" tIns="0" rIns="17995"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a:t>Capgemini Invent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181" y="6304130"/>
            <a:ext cx="11337047" cy="162096"/>
          </a:xfrm>
          <a:prstGeom prst="rect">
            <a:avLst/>
          </a:prstGeom>
          <a:noFill/>
        </p:spPr>
        <p:txBody>
          <a:bodyPr vert="horz" wrap="square" lIns="0" tIns="25393" rIns="0" bIns="25393" rtlCol="0" anchor="b" anchorCtr="0">
            <a:spAutoFit/>
          </a:bodyPr>
          <a:lstStyle>
            <a:defPPr>
              <a:defRPr lang="pt-PT"/>
            </a:defPPr>
            <a:lvl1pPr marL="429768" indent="-429768">
              <a:lnSpc>
                <a:spcPct val="90000"/>
              </a:lnSpc>
              <a:tabLst>
                <a:tab pos="347472" algn="r"/>
              </a:tabLst>
              <a:defRPr sz="800"/>
            </a:lvl1pPr>
          </a:lstStyle>
          <a:p>
            <a:pPr marL="429639" indent="-429639" defTabSz="914126">
              <a:lnSpc>
                <a:spcPct val="90000"/>
              </a:lnSpc>
              <a:tabLst>
                <a:tab pos="347368"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67257" y="176700"/>
            <a:ext cx="260162"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sz="1799">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240" y="1628800"/>
            <a:ext cx="1108805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727272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hdr="0"/>
  <p:txStyles>
    <p:title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pt-PT"/>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17" cstate="screen">
            <a:extLst>
              <a:ext uri="{28A0092B-C50C-407E-A947-70E740481C1C}">
                <a14:useLocalDpi xmlns:a14="http://schemas.microsoft.com/office/drawing/2010/main"/>
              </a:ext>
            </a:extLst>
          </a:blip>
          <a:stretch>
            <a:fillRect/>
          </a:stretch>
        </p:blipFill>
        <p:spPr>
          <a:xfrm>
            <a:off x="414863" y="388938"/>
            <a:ext cx="11366079" cy="6067248"/>
          </a:xfrm>
          <a:prstGeom prst="rect">
            <a:avLst/>
          </a:prstGeom>
        </p:spPr>
      </p:pic>
      <p:sp>
        <p:nvSpPr>
          <p:cNvPr id="4" name="Text Placeholder 1"/>
          <p:cNvSpPr>
            <a:spLocks noGrp="1"/>
          </p:cNvSpPr>
          <p:nvPr>
            <p:ph type="body" idx="1"/>
          </p:nvPr>
        </p:nvSpPr>
        <p:spPr>
          <a:xfrm>
            <a:off x="407882" y="1628800"/>
            <a:ext cx="11366079"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498107" y="171573"/>
            <a:ext cx="419327"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799"/>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864" y="260351"/>
            <a:ext cx="11005546"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6346" y="1068491"/>
            <a:ext cx="804598" cy="402775"/>
          </a:xfrm>
          <a:prstGeom prst="rect">
            <a:avLst/>
          </a:prstGeom>
          <a:solidFill>
            <a:schemeClr val="accent2"/>
          </a:solidFill>
          <a:ln w="10795">
            <a:noFill/>
            <a:round/>
            <a:headEnd/>
            <a:tailEnd/>
          </a:ln>
          <a:effectLst/>
        </p:spPr>
        <p:txBody>
          <a:bodyPr vert="horz" wrap="none" lIns="107972" tIns="107972" rIns="107972" bIns="107972" anchor="ctr" anchorCtr="0">
            <a:sp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0" y="0"/>
            <a:ext cx="1837182" cy="260350"/>
          </a:xfrm>
          <a:prstGeom prst="rect">
            <a:avLst/>
          </a:prstGeom>
        </p:spPr>
        <p:txBody>
          <a:bodyPr vert="horz" lIns="0" tIns="0" rIns="17995"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634" y="6304130"/>
            <a:ext cx="11337047" cy="162096"/>
          </a:xfrm>
          <a:prstGeom prst="rect">
            <a:avLst/>
          </a:prstGeom>
          <a:noFill/>
        </p:spPr>
        <p:txBody>
          <a:bodyPr vert="horz" wrap="square" lIns="0" tIns="25393" rIns="0" bIns="25393" rtlCol="0" anchor="b" anchorCtr="0">
            <a:spAutoFit/>
          </a:bodyPr>
          <a:lstStyle>
            <a:defPPr>
              <a:defRPr lang="pt-PT"/>
            </a:defPPr>
            <a:lvl1pPr marL="429768" indent="-429768">
              <a:lnSpc>
                <a:spcPct val="90000"/>
              </a:lnSpc>
              <a:tabLst>
                <a:tab pos="347472" algn="r"/>
              </a:tabLst>
              <a:defRPr sz="800"/>
            </a:lvl1pPr>
          </a:lstStyle>
          <a:p>
            <a:pPr marL="429639" indent="-429639" defTabSz="914126">
              <a:lnSpc>
                <a:spcPct val="90000"/>
              </a:lnSpc>
              <a:tabLst>
                <a:tab pos="347368"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727" y="6517871"/>
            <a:ext cx="3409959" cy="219456"/>
          </a:xfrm>
          <a:prstGeom prst="rect">
            <a:avLst/>
          </a:prstGeom>
        </p:spPr>
        <p:txBody>
          <a:bodyPr wrap="square" lIns="0" tIns="0" rIns="0" bIns="0" anchor="ctr" anchorCtr="0">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GO! Data &amp; AI Strategy and Governance | [NAME OF SUB-OFFER]</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29963" y="6517871"/>
            <a:ext cx="4530982" cy="219456"/>
          </a:xfrm>
          <a:prstGeom prst="rect">
            <a:avLst/>
          </a:prstGeom>
        </p:spPr>
        <p:txBody>
          <a:bodyPr wrap="square" lIns="0" tIns="0" rIns="0" bIns="0" anchor="ctr" anchorCtr="0">
            <a:no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2026.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5845" y="6517658"/>
            <a:ext cx="22920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68677719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hf hdr="0"/>
  <p:txStyles>
    <p:titleStyle>
      <a:lvl1pPr marL="0" marR="0" indent="0" algn="l" defTabSz="914126" rtl="0" eaLnBrk="1" fontAlgn="auto" latinLnBrk="0" hangingPunct="1">
        <a:lnSpc>
          <a:spcPct val="90000"/>
        </a:lnSpc>
        <a:spcBef>
          <a:spcPct val="0"/>
        </a:spcBef>
        <a:spcAft>
          <a:spcPts val="0"/>
        </a:spcAft>
        <a:buClrTx/>
        <a:buSzTx/>
        <a:buFontTx/>
        <a:buNone/>
        <a:tabLst/>
        <a:defRPr kumimoji="0" lang="en-US" sz="2799"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126"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pt-PT"/>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4.xml"/></Relationships>
</file>

<file path=ppt/slides/_rels/slide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3" Type="http://schemas.openxmlformats.org/officeDocument/2006/relationships/diagramLayout" Target="../diagrams/layout1.xml"/><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11" Type="http://schemas.openxmlformats.org/officeDocument/2006/relationships/image" Target="../media/image31.png"/><Relationship Id="rId5" Type="http://schemas.openxmlformats.org/officeDocument/2006/relationships/diagramColors" Target="../diagrams/colors1.xml"/><Relationship Id="rId10" Type="http://schemas.openxmlformats.org/officeDocument/2006/relationships/image" Target="../media/image30.svg"/><Relationship Id="rId4" Type="http://schemas.openxmlformats.org/officeDocument/2006/relationships/diagramQuickStyle" Target="../diagrams/quickStyle1.xml"/><Relationship Id="rId9" Type="http://schemas.openxmlformats.org/officeDocument/2006/relationships/image" Target="../media/image29.png"/><Relationship Id="rId14" Type="http://schemas.openxmlformats.org/officeDocument/2006/relationships/image" Target="../media/image34.svg"/></Relationships>
</file>

<file path=ppt/slides/_rels/slide4.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16.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jpeg"/><Relationship Id="rId9" Type="http://schemas.openxmlformats.org/officeDocument/2006/relationships/image" Target="../media/image42.png"/></Relationships>
</file>

<file path=ppt/slides/_rels/slide5.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36.png"/><Relationship Id="rId1" Type="http://schemas.openxmlformats.org/officeDocument/2006/relationships/slideLayout" Target="../slideLayouts/slideLayout16.xml"/><Relationship Id="rId6" Type="http://schemas.openxmlformats.org/officeDocument/2006/relationships/image" Target="../media/image50.sv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jpeg"/><Relationship Id="rId4" Type="http://schemas.openxmlformats.org/officeDocument/2006/relationships/image" Target="../media/image48.svg"/><Relationship Id="rId9" Type="http://schemas.openxmlformats.org/officeDocument/2006/relationships/image" Target="../media/image53.png"/></Relationships>
</file>

<file path=ppt/slides/_rels/slide8.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8" Type="http://schemas.openxmlformats.org/officeDocument/2006/relationships/image" Target="../media/image66.jpe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1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0.xml.rels><?xml version="1.0" encoding="UTF-8" standalone="yes"?>
<Relationships xmlns="http://schemas.openxmlformats.org/package/2006/relationships"><Relationship Id="rId3" Type="http://schemas.openxmlformats.org/officeDocument/2006/relationships/hyperlink" Target="file:///C:\Users\rdashara\OneDrive%20-%20Capgemini\Desktop\ai_data\AskDB.mp4" TargetMode="External"/><Relationship Id="rId2" Type="http://schemas.openxmlformats.org/officeDocument/2006/relationships/hyperlink" Target="file:///C:\Users\rdashara\OneDrive%20-%20Capgemini\Desktop\ai_data\Databricks_Genie.mp4" TargetMode="Externa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ity lights focused in magnifying glass">
            <a:extLst>
              <a:ext uri="{FF2B5EF4-FFF2-40B4-BE49-F238E27FC236}">
                <a16:creationId xmlns:a16="http://schemas.microsoft.com/office/drawing/2014/main" id="{C6E89C26-70F4-AFF7-6F6A-D1163E692F1B}"/>
              </a:ext>
            </a:extLst>
          </p:cNvPr>
          <p:cNvPicPr>
            <a:picLocks noChangeAspect="1"/>
          </p:cNvPicPr>
          <p:nvPr/>
        </p:nvPicPr>
        <p:blipFill>
          <a:blip r:embed="rId2"/>
          <a:stretch>
            <a:fillRect/>
          </a:stretch>
        </p:blipFill>
        <p:spPr>
          <a:xfrm>
            <a:off x="1" y="0"/>
            <a:ext cx="12188824" cy="6858000"/>
          </a:xfrm>
          <a:prstGeom prst="rect">
            <a:avLst/>
          </a:prstGeom>
        </p:spPr>
      </p:pic>
      <p:sp>
        <p:nvSpPr>
          <p:cNvPr id="18" name="Date Placeholder 2">
            <a:extLst>
              <a:ext uri="{FF2B5EF4-FFF2-40B4-BE49-F238E27FC236}">
                <a16:creationId xmlns:a16="http://schemas.microsoft.com/office/drawing/2014/main" id="{4E360583-02A7-6520-0B0B-A75C7D2FD87B}"/>
              </a:ext>
            </a:extLst>
          </p:cNvPr>
          <p:cNvSpPr>
            <a:spLocks noGrp="1"/>
          </p:cNvSpPr>
          <p:nvPr>
            <p:ph type="dt" sz="half" idx="24"/>
          </p:nvPr>
        </p:nvSpPr>
        <p:spPr>
          <a:xfrm>
            <a:off x="9807372" y="6650662"/>
            <a:ext cx="1830733" cy="123111"/>
          </a:xfrm>
        </p:spPr>
        <p:txBody>
          <a:bodyPr/>
          <a:lstStyle/>
          <a:p>
            <a:pPr>
              <a:spcBef>
                <a:spcPts val="1000"/>
              </a:spcBef>
            </a:pPr>
            <a:r>
              <a:rPr lang="en-IN"/>
              <a:t>Company Confidential © Capgemini 2026. All rights reserved.</a:t>
            </a:r>
            <a:endParaRPr lang="en-US"/>
          </a:p>
        </p:txBody>
      </p:sp>
      <p:sp>
        <p:nvSpPr>
          <p:cNvPr id="20" name="Footer Placeholder 3">
            <a:extLst>
              <a:ext uri="{FF2B5EF4-FFF2-40B4-BE49-F238E27FC236}">
                <a16:creationId xmlns:a16="http://schemas.microsoft.com/office/drawing/2014/main" id="{F1C93677-22C2-11AE-6605-7EFC6D132DD8}"/>
              </a:ext>
            </a:extLst>
          </p:cNvPr>
          <p:cNvSpPr>
            <a:spLocks noGrp="1"/>
          </p:cNvSpPr>
          <p:nvPr>
            <p:ph type="ftr" sz="quarter" idx="25"/>
          </p:nvPr>
        </p:nvSpPr>
        <p:spPr>
          <a:xfrm>
            <a:off x="550719" y="6650662"/>
            <a:ext cx="4715296" cy="123111"/>
          </a:xfrm>
        </p:spPr>
        <p:txBody>
          <a:bodyPr/>
          <a:lstStyle/>
          <a:p>
            <a:pPr>
              <a:spcBef>
                <a:spcPts val="1000"/>
              </a:spcBef>
            </a:pPr>
            <a:r>
              <a:rPr lang="en-US"/>
              <a:t>AI Data Copilot - AskData</a:t>
            </a:r>
            <a:endParaRPr lang="en-US" dirty="0"/>
          </a:p>
        </p:txBody>
      </p:sp>
      <p:sp>
        <p:nvSpPr>
          <p:cNvPr id="22" name="Slide Number Placeholder 4">
            <a:extLst>
              <a:ext uri="{FF2B5EF4-FFF2-40B4-BE49-F238E27FC236}">
                <a16:creationId xmlns:a16="http://schemas.microsoft.com/office/drawing/2014/main" id="{0F2E0C8D-E18D-E081-D0F2-4903D4AF9AA5}"/>
              </a:ext>
            </a:extLst>
          </p:cNvPr>
          <p:cNvSpPr>
            <a:spLocks noGrp="1"/>
          </p:cNvSpPr>
          <p:nvPr>
            <p:ph type="sldNum" sz="quarter" idx="26"/>
          </p:nvPr>
        </p:nvSpPr>
        <p:spPr>
          <a:xfrm>
            <a:off x="11775274" y="6650662"/>
            <a:ext cx="232604" cy="123111"/>
          </a:xfrm>
        </p:spPr>
        <p:txBody>
          <a:bodyPr/>
          <a:lstStyle/>
          <a:p>
            <a:pPr algn="r">
              <a:spcAft>
                <a:spcPts val="600"/>
              </a:spcAft>
            </a:pPr>
            <a:fld id="{5D9A5160-6218-4E5A-B9E6-B93E3DAE377C}" type="slidenum">
              <a:rPr lang="en-US" smtClean="0"/>
              <a:pPr algn="r">
                <a:spcAft>
                  <a:spcPts val="600"/>
                </a:spcAft>
              </a:pPr>
              <a:t>1</a:t>
            </a:fld>
            <a:endParaRPr lang="en-US"/>
          </a:p>
        </p:txBody>
      </p:sp>
      <p:sp>
        <p:nvSpPr>
          <p:cNvPr id="17" name="Text Placeholder 5">
            <a:extLst>
              <a:ext uri="{FF2B5EF4-FFF2-40B4-BE49-F238E27FC236}">
                <a16:creationId xmlns:a16="http://schemas.microsoft.com/office/drawing/2014/main" id="{0BB9434A-08FB-939B-7BE5-37268AA15EE0}"/>
              </a:ext>
            </a:extLst>
          </p:cNvPr>
          <p:cNvSpPr>
            <a:spLocks noGrp="1"/>
          </p:cNvSpPr>
          <p:nvPr>
            <p:ph type="body" sz="quarter" idx="22"/>
          </p:nvPr>
        </p:nvSpPr>
        <p:spPr>
          <a:xfrm>
            <a:off x="63228" y="3094880"/>
            <a:ext cx="5039768" cy="615553"/>
          </a:xfrm>
        </p:spPr>
        <p:txBody>
          <a:bodyPr/>
          <a:lstStyle/>
          <a:p>
            <a:r>
              <a:rPr lang="en-US" sz="2000" dirty="0">
                <a:solidFill>
                  <a:srgbClr val="002060"/>
                </a:solidFill>
              </a:rPr>
              <a:t>From Natural Language Questions to Actionable Business Insights</a:t>
            </a:r>
          </a:p>
        </p:txBody>
      </p:sp>
      <p:sp>
        <p:nvSpPr>
          <p:cNvPr id="19" name="Title 6">
            <a:extLst>
              <a:ext uri="{FF2B5EF4-FFF2-40B4-BE49-F238E27FC236}">
                <a16:creationId xmlns:a16="http://schemas.microsoft.com/office/drawing/2014/main" id="{CD0275B0-3893-94E3-32FF-D3C2EBF2F116}"/>
              </a:ext>
            </a:extLst>
          </p:cNvPr>
          <p:cNvSpPr>
            <a:spLocks noGrp="1"/>
          </p:cNvSpPr>
          <p:nvPr>
            <p:ph type="title"/>
          </p:nvPr>
        </p:nvSpPr>
        <p:spPr>
          <a:xfrm>
            <a:off x="64412" y="2009868"/>
            <a:ext cx="5039768" cy="930372"/>
          </a:xfrm>
        </p:spPr>
        <p:txBody>
          <a:bodyPr/>
          <a:lstStyle/>
          <a:p>
            <a:r>
              <a:rPr lang="en-IN" sz="3200" b="1" dirty="0">
                <a:solidFill>
                  <a:srgbClr val="002060"/>
                </a:solidFill>
              </a:rPr>
              <a:t>AI Data Platform - </a:t>
            </a:r>
            <a:r>
              <a:rPr lang="en-IN" sz="3200" b="1" dirty="0" err="1">
                <a:solidFill>
                  <a:srgbClr val="F59E0B"/>
                </a:solidFill>
              </a:rPr>
              <a:t>AskDB</a:t>
            </a:r>
            <a:endParaRPr lang="en-US" dirty="0">
              <a:solidFill>
                <a:srgbClr val="F59E0B"/>
              </a:solidFill>
            </a:endParaRPr>
          </a:p>
        </p:txBody>
      </p:sp>
    </p:spTree>
    <p:extLst>
      <p:ext uri="{BB962C8B-B14F-4D97-AF65-F5344CB8AC3E}">
        <p14:creationId xmlns:p14="http://schemas.microsoft.com/office/powerpoint/2010/main" val="422420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76767C0-85AD-77F9-2CDC-AD9589351CE4}"/>
              </a:ext>
            </a:extLst>
          </p:cNvPr>
          <p:cNvSpPr>
            <a:spLocks noGrp="1"/>
          </p:cNvSpPr>
          <p:nvPr>
            <p:ph type="pic" sz="quarter" idx="18"/>
          </p:nvPr>
        </p:nvSpPr>
        <p:spPr/>
        <p:txBody>
          <a:bodyPr/>
          <a:lstStyle/>
          <a:p>
            <a:endParaRPr lang="en-US"/>
          </a:p>
        </p:txBody>
      </p:sp>
      <p:sp>
        <p:nvSpPr>
          <p:cNvPr id="3" name="Date Placeholder 2">
            <a:extLst>
              <a:ext uri="{FF2B5EF4-FFF2-40B4-BE49-F238E27FC236}">
                <a16:creationId xmlns:a16="http://schemas.microsoft.com/office/drawing/2014/main" id="{1B84F830-B570-C703-3376-043EDECEB2DA}"/>
              </a:ext>
            </a:extLst>
          </p:cNvPr>
          <p:cNvSpPr>
            <a:spLocks noGrp="1"/>
          </p:cNvSpPr>
          <p:nvPr>
            <p:ph type="dt" sz="half" idx="36"/>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B50EDB7C-26C3-E7FA-9CF8-540D15EDF3AA}"/>
              </a:ext>
            </a:extLst>
          </p:cNvPr>
          <p:cNvSpPr>
            <a:spLocks noGrp="1"/>
          </p:cNvSpPr>
          <p:nvPr>
            <p:ph type="ftr" sz="quarter" idx="37"/>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247B3797-31E2-5B85-D2C7-DF4E789C69EE}"/>
              </a:ext>
            </a:extLst>
          </p:cNvPr>
          <p:cNvSpPr>
            <a:spLocks noGrp="1"/>
          </p:cNvSpPr>
          <p:nvPr>
            <p:ph type="sldNum" sz="quarter" idx="38"/>
          </p:nvPr>
        </p:nvSpPr>
        <p:spPr/>
        <p:txBody>
          <a:bodyPr/>
          <a:lstStyle/>
          <a:p>
            <a:pPr algn="r"/>
            <a:fld id="{5D9A5160-6218-4E5A-B9E6-B93E3DAE377C}" type="slidenum">
              <a:rPr lang="en-US" smtClean="0"/>
              <a:pPr algn="r"/>
              <a:t>2</a:t>
            </a:fld>
            <a:endParaRPr lang="en-US"/>
          </a:p>
        </p:txBody>
      </p:sp>
      <p:sp>
        <p:nvSpPr>
          <p:cNvPr id="6" name="Title 5">
            <a:extLst>
              <a:ext uri="{FF2B5EF4-FFF2-40B4-BE49-F238E27FC236}">
                <a16:creationId xmlns:a16="http://schemas.microsoft.com/office/drawing/2014/main" id="{C8F64BB0-9F0D-A60A-E36A-BEF1193BA1D6}"/>
              </a:ext>
            </a:extLst>
          </p:cNvPr>
          <p:cNvSpPr>
            <a:spLocks noGrp="1"/>
          </p:cNvSpPr>
          <p:nvPr>
            <p:ph type="title"/>
          </p:nvPr>
        </p:nvSpPr>
        <p:spPr>
          <a:xfrm>
            <a:off x="6598337" y="549274"/>
            <a:ext cx="5040953" cy="930372"/>
          </a:xfrm>
        </p:spPr>
        <p:txBody>
          <a:bodyPr/>
          <a:lstStyle/>
          <a:p>
            <a:pPr algn="ctr"/>
            <a:r>
              <a:rPr lang="en-IN" sz="3200" b="1">
                <a:solidFill>
                  <a:srgbClr val="0070C0"/>
                </a:solidFill>
              </a:rPr>
              <a:t>Agenda</a:t>
            </a:r>
            <a:endParaRPr lang="en-US"/>
          </a:p>
        </p:txBody>
      </p:sp>
      <p:pic>
        <p:nvPicPr>
          <p:cNvPr id="14" name="Picture 13" descr="Robot Reading Information Free Stock Photo - Public Domain Pictures">
            <a:extLst>
              <a:ext uri="{FF2B5EF4-FFF2-40B4-BE49-F238E27FC236}">
                <a16:creationId xmlns:a16="http://schemas.microsoft.com/office/drawing/2014/main" id="{AFAFF2AD-EB71-47FB-F44F-0F32AED79AB8}"/>
              </a:ext>
            </a:extLst>
          </p:cNvPr>
          <p:cNvPicPr>
            <a:picLocks noChangeAspect="1"/>
          </p:cNvPicPr>
          <p:nvPr/>
        </p:nvPicPr>
        <p:blipFill rotWithShape="1">
          <a:blip r:embed="rId3"/>
          <a:srcRect l="7934" t="327" r="60" b="327"/>
          <a:stretch>
            <a:fillRect/>
          </a:stretch>
        </p:blipFill>
        <p:spPr>
          <a:xfrm>
            <a:off x="-1" y="1"/>
            <a:ext cx="6351593" cy="6858000"/>
          </a:xfrm>
          <a:prstGeom prst="rect">
            <a:avLst/>
          </a:prstGeom>
        </p:spPr>
      </p:pic>
      <p:sp>
        <p:nvSpPr>
          <p:cNvPr id="15" name="Text Placeholder 1">
            <a:extLst>
              <a:ext uri="{FF2B5EF4-FFF2-40B4-BE49-F238E27FC236}">
                <a16:creationId xmlns:a16="http://schemas.microsoft.com/office/drawing/2014/main" id="{7AD63DC0-6641-898B-715C-F45BEBFF60B2}"/>
              </a:ext>
            </a:extLst>
          </p:cNvPr>
          <p:cNvSpPr txBox="1">
            <a:spLocks/>
          </p:cNvSpPr>
          <p:nvPr/>
        </p:nvSpPr>
        <p:spPr>
          <a:xfrm>
            <a:off x="7220822" y="1671247"/>
            <a:ext cx="3795982" cy="3704317"/>
          </a:xfrm>
          <a:prstGeom prst="rect">
            <a:avLst/>
          </a:prstGeom>
        </p:spPr>
        <p:txBody>
          <a:bodyPr>
            <a:normAutofit/>
          </a:bodyPr>
          <a:lst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285750" indent="-285750">
              <a:buClr>
                <a:schemeClr val="tx2"/>
              </a:buClr>
              <a:buFont typeface="Arial" panose="020B0604020202020204" pitchFamily="34" charset="0"/>
              <a:buChar char="•"/>
            </a:pPr>
            <a:r>
              <a:rPr lang="en-IN" sz="1600" b="1" dirty="0">
                <a:solidFill>
                  <a:schemeClr val="bg1"/>
                </a:solidFill>
              </a:rPr>
              <a:t>Business Problem</a:t>
            </a:r>
          </a:p>
          <a:p>
            <a:pPr marL="285750" indent="-285750">
              <a:buClr>
                <a:schemeClr val="tx2"/>
              </a:buClr>
              <a:buFont typeface="Arial" panose="020B0604020202020204" pitchFamily="34" charset="0"/>
              <a:buChar char="•"/>
            </a:pPr>
            <a:r>
              <a:rPr lang="en-IN" sz="1600" b="1" dirty="0">
                <a:solidFill>
                  <a:schemeClr val="bg1"/>
                </a:solidFill>
              </a:rPr>
              <a:t>Our Solution</a:t>
            </a:r>
          </a:p>
          <a:p>
            <a:pPr marL="285750" indent="-285750">
              <a:buClr>
                <a:schemeClr val="tx2"/>
              </a:buClr>
              <a:buFont typeface="Arial" panose="020B0604020202020204" pitchFamily="34" charset="0"/>
              <a:buChar char="•"/>
            </a:pPr>
            <a:r>
              <a:rPr lang="en-US" sz="1600" b="1" dirty="0">
                <a:solidFill>
                  <a:schemeClr val="bg1"/>
                </a:solidFill>
              </a:rPr>
              <a:t>Solution Framework</a:t>
            </a:r>
          </a:p>
          <a:p>
            <a:pPr marL="285750" indent="-285750">
              <a:buClr>
                <a:schemeClr val="tx2"/>
              </a:buClr>
              <a:buFont typeface="Arial" panose="020B0604020202020204" pitchFamily="34" charset="0"/>
              <a:buChar char="•"/>
            </a:pPr>
            <a:r>
              <a:rPr lang="en-US" sz="1600" b="1" dirty="0">
                <a:solidFill>
                  <a:schemeClr val="bg1"/>
                </a:solidFill>
              </a:rPr>
              <a:t>Implementation Framework</a:t>
            </a:r>
          </a:p>
          <a:p>
            <a:pPr marL="285750" indent="-285750">
              <a:buClr>
                <a:schemeClr val="tx2"/>
              </a:buClr>
              <a:buFont typeface="Arial" panose="020B0604020202020204" pitchFamily="34" charset="0"/>
              <a:buChar char="•"/>
            </a:pPr>
            <a:r>
              <a:rPr lang="en-US" sz="1600" b="1" dirty="0">
                <a:solidFill>
                  <a:schemeClr val="bg1"/>
                </a:solidFill>
              </a:rPr>
              <a:t>Key Features &amp; Comparison</a:t>
            </a:r>
          </a:p>
          <a:p>
            <a:pPr marL="285750" indent="-285750">
              <a:buClr>
                <a:schemeClr val="tx2"/>
              </a:buClr>
              <a:buFont typeface="Arial" panose="020B0604020202020204" pitchFamily="34" charset="0"/>
              <a:buChar char="•"/>
            </a:pPr>
            <a:r>
              <a:rPr lang="en-US" sz="1600" b="1" dirty="0">
                <a:solidFill>
                  <a:schemeClr val="bg1"/>
                </a:solidFill>
              </a:rPr>
              <a:t>Live Demo / Use Cases</a:t>
            </a:r>
          </a:p>
          <a:p>
            <a:pPr marL="285750" indent="-285750">
              <a:buClr>
                <a:schemeClr val="tx2"/>
              </a:buClr>
              <a:buFont typeface="Arial" panose="020B0604020202020204" pitchFamily="34" charset="0"/>
              <a:buChar char="•"/>
            </a:pPr>
            <a:r>
              <a:rPr lang="en-US" sz="1600" b="1" dirty="0">
                <a:solidFill>
                  <a:schemeClr val="bg1"/>
                </a:solidFill>
              </a:rPr>
              <a:t>Future Roadmap</a:t>
            </a:r>
          </a:p>
        </p:txBody>
      </p:sp>
    </p:spTree>
    <p:extLst>
      <p:ext uri="{BB962C8B-B14F-4D97-AF65-F5344CB8AC3E}">
        <p14:creationId xmlns:p14="http://schemas.microsoft.com/office/powerpoint/2010/main" val="3364855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8ACC3-ABA7-2001-1549-BD1CECF54A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CEC7FB-6F03-B094-7875-2935492711A8}"/>
              </a:ext>
            </a:extLst>
          </p:cNvPr>
          <p:cNvSpPr>
            <a:spLocks noGrp="1"/>
          </p:cNvSpPr>
          <p:nvPr>
            <p:ph type="title"/>
          </p:nvPr>
        </p:nvSpPr>
        <p:spPr>
          <a:xfrm>
            <a:off x="550387" y="53958"/>
            <a:ext cx="11088050" cy="930372"/>
          </a:xfrm>
        </p:spPr>
        <p:txBody>
          <a:bodyPr/>
          <a:lstStyle/>
          <a:p>
            <a:r>
              <a:rPr lang="en-IN" sz="3200" b="1">
                <a:solidFill>
                  <a:srgbClr val="0070C0"/>
                </a:solidFill>
              </a:rPr>
              <a:t>Business Problem</a:t>
            </a:r>
            <a:endParaRPr lang="en-US"/>
          </a:p>
        </p:txBody>
      </p:sp>
      <p:sp>
        <p:nvSpPr>
          <p:cNvPr id="92" name="Title 1">
            <a:extLst>
              <a:ext uri="{FF2B5EF4-FFF2-40B4-BE49-F238E27FC236}">
                <a16:creationId xmlns:a16="http://schemas.microsoft.com/office/drawing/2014/main" id="{17CA0F11-1560-1475-43C5-3A665E2A7FC1}"/>
              </a:ext>
            </a:extLst>
          </p:cNvPr>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sz="3599">
              <a:solidFill>
                <a:srgbClr val="0070C0"/>
              </a:solidFill>
            </a:endParaRPr>
          </a:p>
        </p:txBody>
      </p:sp>
      <p:graphicFrame>
        <p:nvGraphicFramePr>
          <p:cNvPr id="5" name="Diagram 4">
            <a:extLst>
              <a:ext uri="{FF2B5EF4-FFF2-40B4-BE49-F238E27FC236}">
                <a16:creationId xmlns:a16="http://schemas.microsoft.com/office/drawing/2014/main" id="{DFF6C56A-348C-12F8-D623-968FA11BC98D}"/>
              </a:ext>
            </a:extLst>
          </p:cNvPr>
          <p:cNvGraphicFramePr/>
          <p:nvPr>
            <p:extLst>
              <p:ext uri="{D42A27DB-BD31-4B8C-83A1-F6EECF244321}">
                <p14:modId xmlns:p14="http://schemas.microsoft.com/office/powerpoint/2010/main" val="1551424192"/>
              </p:ext>
            </p:extLst>
          </p:nvPr>
        </p:nvGraphicFramePr>
        <p:xfrm>
          <a:off x="380148" y="1799560"/>
          <a:ext cx="4513591" cy="4377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ounded Rectangle 5">
            <a:extLst>
              <a:ext uri="{FF2B5EF4-FFF2-40B4-BE49-F238E27FC236}">
                <a16:creationId xmlns:a16="http://schemas.microsoft.com/office/drawing/2014/main" id="{94295ABD-41F0-845E-C3CF-CE4BC9342778}"/>
              </a:ext>
            </a:extLst>
          </p:cNvPr>
          <p:cNvSpPr/>
          <p:nvPr/>
        </p:nvSpPr>
        <p:spPr>
          <a:xfrm>
            <a:off x="347009" y="1070778"/>
            <a:ext cx="5238000" cy="567540"/>
          </a:xfrm>
          <a:prstGeom prst="roundRect">
            <a:avLst/>
          </a:prstGeom>
          <a:solidFill>
            <a:srgbClr val="475569"/>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Current Workflow</a:t>
            </a:r>
          </a:p>
        </p:txBody>
      </p:sp>
      <p:sp>
        <p:nvSpPr>
          <p:cNvPr id="9" name="Rounded Rectangle 8">
            <a:extLst>
              <a:ext uri="{FF2B5EF4-FFF2-40B4-BE49-F238E27FC236}">
                <a16:creationId xmlns:a16="http://schemas.microsoft.com/office/drawing/2014/main" id="{0AAE6965-2ACF-9915-86AF-25A2DFB575FD}"/>
              </a:ext>
            </a:extLst>
          </p:cNvPr>
          <p:cNvSpPr/>
          <p:nvPr/>
        </p:nvSpPr>
        <p:spPr>
          <a:xfrm>
            <a:off x="6402209" y="1055441"/>
            <a:ext cx="5238000" cy="567540"/>
          </a:xfrm>
          <a:prstGeom prst="roundRect">
            <a:avLst/>
          </a:prstGeom>
          <a:solidFill>
            <a:srgbClr val="475569"/>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Current Problems</a:t>
            </a:r>
          </a:p>
        </p:txBody>
      </p:sp>
      <p:sp>
        <p:nvSpPr>
          <p:cNvPr id="2" name="Rounded Rectangular Callout 6">
            <a:extLst>
              <a:ext uri="{FF2B5EF4-FFF2-40B4-BE49-F238E27FC236}">
                <a16:creationId xmlns:a16="http://schemas.microsoft.com/office/drawing/2014/main" id="{08DC1CBB-B7BA-D97D-B27F-3F8C84261EA3}"/>
              </a:ext>
            </a:extLst>
          </p:cNvPr>
          <p:cNvSpPr/>
          <p:nvPr/>
        </p:nvSpPr>
        <p:spPr>
          <a:xfrm>
            <a:off x="6803107" y="1865037"/>
            <a:ext cx="1198666" cy="928109"/>
          </a:xfrm>
          <a:prstGeom prst="wedgeRoundRectCallout">
            <a:avLst>
              <a:gd name="adj1" fmla="val 92437"/>
              <a:gd name="adj2" fmla="val -12756"/>
              <a:gd name="adj3" fmla="val 16667"/>
            </a:avLst>
          </a:prstGeom>
          <a:solidFill>
            <a:schemeClr val="accent1"/>
          </a:solidFill>
          <a:ln w="25400" cap="flat" cmpd="sng" algn="ctr">
            <a:noFill/>
            <a:prstDash val="solid"/>
          </a:ln>
          <a:effectLst/>
        </p:spPr>
        <p:txBody>
          <a:bodyPr wrap="square" lIns="0" tIns="0" rIns="0" bIns="0"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a:ea typeface="+mn-ea"/>
                <a:cs typeface="+mn-cs"/>
              </a:rPr>
              <a:t>“I don’t know how to use SQL”</a:t>
            </a:r>
          </a:p>
        </p:txBody>
      </p:sp>
      <p:sp>
        <p:nvSpPr>
          <p:cNvPr id="7" name="Oval Callout 15">
            <a:extLst>
              <a:ext uri="{FF2B5EF4-FFF2-40B4-BE49-F238E27FC236}">
                <a16:creationId xmlns:a16="http://schemas.microsoft.com/office/drawing/2014/main" id="{491A2F4E-3B98-9411-4705-D47362788264}"/>
              </a:ext>
            </a:extLst>
          </p:cNvPr>
          <p:cNvSpPr/>
          <p:nvPr/>
        </p:nvSpPr>
        <p:spPr>
          <a:xfrm>
            <a:off x="8106997" y="2781300"/>
            <a:ext cx="1676400" cy="1295400"/>
          </a:xfrm>
          <a:prstGeom prst="wedgeEllipseCallout">
            <a:avLst>
              <a:gd name="adj1" fmla="val 43861"/>
              <a:gd name="adj2" fmla="val -80318"/>
            </a:avLst>
          </a:prstGeom>
          <a:solidFill>
            <a:srgbClr val="95E616"/>
          </a:solidFill>
          <a:ln w="25400" cap="flat" cmpd="sng" algn="ctr">
            <a:noFill/>
            <a:prstDash val="solid"/>
          </a:ln>
          <a:effectLst/>
        </p:spPr>
        <p:txBody>
          <a:bodyPr wrap="square" lIns="0" tIns="0" rIns="0" bIns="0"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463A45"/>
                </a:solidFill>
                <a:effectLst/>
                <a:uLnTx/>
                <a:uFillTx/>
                <a:latin typeface="Segoe UI"/>
                <a:ea typeface="+mn-ea"/>
                <a:cs typeface="Arial" charset="0"/>
              </a:rPr>
              <a:t>“…Data team, when will I get my answers”, “How long will you take?”</a:t>
            </a:r>
            <a:endParaRPr kumimoji="0" lang="en-US" sz="1200" b="0" i="0" u="none" strike="noStrike" kern="0" cap="none" spc="0" normalizeH="0" baseline="0" noProof="0">
              <a:ln>
                <a:noFill/>
              </a:ln>
              <a:solidFill>
                <a:srgbClr val="FFFFFF"/>
              </a:solidFill>
              <a:effectLst/>
              <a:uLnTx/>
              <a:uFillTx/>
              <a:latin typeface="Segoe UI"/>
              <a:ea typeface="+mn-ea"/>
              <a:cs typeface="+mn-cs"/>
            </a:endParaRPr>
          </a:p>
        </p:txBody>
      </p:sp>
      <p:sp>
        <p:nvSpPr>
          <p:cNvPr id="10" name="Rectangular Callout 4">
            <a:extLst>
              <a:ext uri="{FF2B5EF4-FFF2-40B4-BE49-F238E27FC236}">
                <a16:creationId xmlns:a16="http://schemas.microsoft.com/office/drawing/2014/main" id="{92040C23-2C8C-732F-C892-05A902279B6B}"/>
              </a:ext>
            </a:extLst>
          </p:cNvPr>
          <p:cNvSpPr/>
          <p:nvPr/>
        </p:nvSpPr>
        <p:spPr>
          <a:xfrm>
            <a:off x="10357726" y="5383684"/>
            <a:ext cx="1738200" cy="1367397"/>
          </a:xfrm>
          <a:prstGeom prst="wedgeRectCallout">
            <a:avLst>
              <a:gd name="adj1" fmla="val -39148"/>
              <a:gd name="adj2" fmla="val -77873"/>
            </a:avLst>
          </a:prstGeom>
          <a:solidFill>
            <a:schemeClr val="accent1">
              <a:lumMod val="50000"/>
            </a:schemeClr>
          </a:solidFill>
          <a:ln w="25400" cap="flat" cmpd="sng" algn="ctr">
            <a:noFill/>
            <a:prstDash val="solid"/>
          </a:ln>
          <a:effectLst/>
        </p:spPr>
        <p:txBody>
          <a:bodyPr wrap="square" lIns="9144" tIns="0" rIns="9144" bIns="0"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Segoe UI"/>
                <a:ea typeface="+mn-ea"/>
                <a:cs typeface="Arial" charset="0"/>
              </a:rPr>
              <a:t>“Hey… I got the same request from another business analyst”</a:t>
            </a:r>
            <a:endParaRPr kumimoji="0" lang="en-US" sz="1200" b="0" i="0" u="none" strike="noStrike" kern="0" cap="none" spc="0" normalizeH="0" baseline="0" noProof="0">
              <a:ln>
                <a:noFill/>
              </a:ln>
              <a:solidFill>
                <a:srgbClr val="FFFFFF"/>
              </a:solidFill>
              <a:effectLst/>
              <a:uLnTx/>
              <a:uFillTx/>
              <a:latin typeface="Segoe UI"/>
              <a:ea typeface="+mn-ea"/>
              <a:cs typeface="+mn-cs"/>
            </a:endParaRPr>
          </a:p>
        </p:txBody>
      </p:sp>
      <p:sp>
        <p:nvSpPr>
          <p:cNvPr id="16" name="Cloud Callout 12">
            <a:extLst>
              <a:ext uri="{FF2B5EF4-FFF2-40B4-BE49-F238E27FC236}">
                <a16:creationId xmlns:a16="http://schemas.microsoft.com/office/drawing/2014/main" id="{C56682AA-FA2E-6973-3513-6F2B2B265040}"/>
              </a:ext>
            </a:extLst>
          </p:cNvPr>
          <p:cNvSpPr/>
          <p:nvPr/>
        </p:nvSpPr>
        <p:spPr>
          <a:xfrm>
            <a:off x="9816795" y="2578536"/>
            <a:ext cx="1950434" cy="1367405"/>
          </a:xfrm>
          <a:prstGeom prst="cloudCallout">
            <a:avLst>
              <a:gd name="adj1" fmla="val -39368"/>
              <a:gd name="adj2" fmla="val -58801"/>
            </a:avLst>
          </a:prstGeom>
          <a:solidFill>
            <a:srgbClr val="88D5ED"/>
          </a:solidFill>
          <a:ln w="25400" cap="flat" cmpd="sng" algn="ctr">
            <a:noFill/>
            <a:prstDash val="solid"/>
          </a:ln>
          <a:effectLst/>
        </p:spPr>
        <p:txBody>
          <a:bodyPr wrap="square" lIns="0" tIns="0" rIns="0" bIns="0"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Segoe UI"/>
                <a:ea typeface="+mn-ea"/>
                <a:cs typeface="+mn-cs"/>
              </a:rPr>
              <a:t>“…oh! Are there multiple sources of truth?”</a:t>
            </a:r>
          </a:p>
        </p:txBody>
      </p:sp>
      <p:sp>
        <p:nvSpPr>
          <p:cNvPr id="17" name="Cloud Callout 12">
            <a:extLst>
              <a:ext uri="{FF2B5EF4-FFF2-40B4-BE49-F238E27FC236}">
                <a16:creationId xmlns:a16="http://schemas.microsoft.com/office/drawing/2014/main" id="{69E7FD81-E09F-A862-D00C-8EE044EFA24B}"/>
              </a:ext>
            </a:extLst>
          </p:cNvPr>
          <p:cNvSpPr/>
          <p:nvPr/>
        </p:nvSpPr>
        <p:spPr>
          <a:xfrm>
            <a:off x="8001773" y="5469092"/>
            <a:ext cx="1949926" cy="1367049"/>
          </a:xfrm>
          <a:prstGeom prst="cloudCallout">
            <a:avLst>
              <a:gd name="adj1" fmla="val 58778"/>
              <a:gd name="adj2" fmla="val -89944"/>
            </a:avLst>
          </a:prstGeom>
          <a:solidFill>
            <a:srgbClr val="88D5ED"/>
          </a:solidFill>
          <a:ln w="25400" cap="flat" cmpd="sng" algn="ctr">
            <a:noFill/>
            <a:prstDash val="solid"/>
          </a:ln>
          <a:effectLst/>
        </p:spPr>
        <p:txBody>
          <a:bodyPr wrap="square" lIns="0" tIns="0" rIns="0" bIns="0"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126">
              <a:defRPr/>
            </a:pPr>
            <a:r>
              <a:rPr lang="en-US" sz="1200" kern="0">
                <a:solidFill>
                  <a:prstClr val="black"/>
                </a:solidFill>
                <a:latin typeface="Segoe UI"/>
              </a:rPr>
              <a:t>“This is too much to process, can’t manage alone”</a:t>
            </a:r>
          </a:p>
        </p:txBody>
      </p:sp>
      <p:sp>
        <p:nvSpPr>
          <p:cNvPr id="19" name="Oval Callout 15">
            <a:extLst>
              <a:ext uri="{FF2B5EF4-FFF2-40B4-BE49-F238E27FC236}">
                <a16:creationId xmlns:a16="http://schemas.microsoft.com/office/drawing/2014/main" id="{8B3B3B50-1EC8-F585-FF8B-789EB6D2905B}"/>
              </a:ext>
            </a:extLst>
          </p:cNvPr>
          <p:cNvSpPr/>
          <p:nvPr/>
        </p:nvSpPr>
        <p:spPr>
          <a:xfrm>
            <a:off x="5735411" y="5401632"/>
            <a:ext cx="1676400" cy="1295400"/>
          </a:xfrm>
          <a:prstGeom prst="wedgeEllipseCallout">
            <a:avLst>
              <a:gd name="adj1" fmla="val 54644"/>
              <a:gd name="adj2" fmla="val -101658"/>
            </a:avLst>
          </a:prstGeom>
          <a:solidFill>
            <a:srgbClr val="95E616"/>
          </a:solidFill>
          <a:ln w="25400" cap="flat" cmpd="sng" algn="ctr">
            <a:noFill/>
            <a:prstDash val="solid"/>
          </a:ln>
          <a:effectLst/>
        </p:spPr>
        <p:txBody>
          <a:bodyPr wrap="square" lIns="0" tIns="0" rIns="0" bIns="0" rtlCol="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463A45"/>
                </a:solidFill>
                <a:effectLst/>
                <a:uLnTx/>
                <a:uFillTx/>
                <a:latin typeface="Segoe UI"/>
                <a:ea typeface="+mn-ea"/>
                <a:cs typeface="Arial" charset="0"/>
              </a:rPr>
              <a:t>“I don’t know what you mean by FTR, pls explain”</a:t>
            </a:r>
            <a:endParaRPr kumimoji="0" lang="en-US" sz="1200" b="0" i="0" u="none" strike="noStrike" kern="0" cap="none" spc="0" normalizeH="0" baseline="0" noProof="0">
              <a:ln>
                <a:noFill/>
              </a:ln>
              <a:solidFill>
                <a:srgbClr val="FFFFFF"/>
              </a:solidFill>
              <a:effectLst/>
              <a:uLnTx/>
              <a:uFillTx/>
              <a:latin typeface="Segoe UI"/>
              <a:ea typeface="+mn-ea"/>
              <a:cs typeface="+mn-cs"/>
            </a:endParaRPr>
          </a:p>
        </p:txBody>
      </p:sp>
      <p:pic>
        <p:nvPicPr>
          <p:cNvPr id="21" name="Graphic 20" descr="Sunglasses face outline with solid fill">
            <a:extLst>
              <a:ext uri="{FF2B5EF4-FFF2-40B4-BE49-F238E27FC236}">
                <a16:creationId xmlns:a16="http://schemas.microsoft.com/office/drawing/2014/main" id="{01183295-852D-E1C6-8C22-272DC4F18F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21179" y="1638318"/>
            <a:ext cx="914400" cy="914400"/>
          </a:xfrm>
          <a:prstGeom prst="rect">
            <a:avLst/>
          </a:prstGeom>
        </p:spPr>
      </p:pic>
      <p:pic>
        <p:nvPicPr>
          <p:cNvPr id="23" name="Graphic 22" descr="Confused face outline outline">
            <a:extLst>
              <a:ext uri="{FF2B5EF4-FFF2-40B4-BE49-F238E27FC236}">
                <a16:creationId xmlns:a16="http://schemas.microsoft.com/office/drawing/2014/main" id="{94E5DB28-5FC5-178F-65E1-0879F566961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92856" y="4207612"/>
            <a:ext cx="914400" cy="914400"/>
          </a:xfrm>
          <a:prstGeom prst="rect">
            <a:avLst/>
          </a:prstGeom>
        </p:spPr>
      </p:pic>
      <p:pic>
        <p:nvPicPr>
          <p:cNvPr id="24" name="Graphic 23" descr="Sunglasses face outline with solid fill">
            <a:extLst>
              <a:ext uri="{FF2B5EF4-FFF2-40B4-BE49-F238E27FC236}">
                <a16:creationId xmlns:a16="http://schemas.microsoft.com/office/drawing/2014/main" id="{ABAFBB1A-E8CB-1C0D-8273-CB99416CCFC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64784" y="1611054"/>
            <a:ext cx="914400" cy="914400"/>
          </a:xfrm>
          <a:prstGeom prst="rect">
            <a:avLst/>
          </a:prstGeom>
        </p:spPr>
      </p:pic>
      <p:pic>
        <p:nvPicPr>
          <p:cNvPr id="26" name="Graphic 25" descr="Worried face with solid fill with solid fill">
            <a:extLst>
              <a:ext uri="{FF2B5EF4-FFF2-40B4-BE49-F238E27FC236}">
                <a16:creationId xmlns:a16="http://schemas.microsoft.com/office/drawing/2014/main" id="{8AD6D0C3-DA2C-2466-4B10-AA7ADC32F13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291199" y="4182857"/>
            <a:ext cx="914400" cy="914400"/>
          </a:xfrm>
          <a:prstGeom prst="rect">
            <a:avLst/>
          </a:prstGeom>
        </p:spPr>
      </p:pic>
      <p:cxnSp>
        <p:nvCxnSpPr>
          <p:cNvPr id="28" name="Straight Connector 27">
            <a:extLst>
              <a:ext uri="{FF2B5EF4-FFF2-40B4-BE49-F238E27FC236}">
                <a16:creationId xmlns:a16="http://schemas.microsoft.com/office/drawing/2014/main" id="{EF79BE66-69B9-CBCD-6C49-EC3464793831}"/>
              </a:ext>
            </a:extLst>
          </p:cNvPr>
          <p:cNvCxnSpPr>
            <a:cxnSpLocks/>
          </p:cNvCxnSpPr>
          <p:nvPr/>
        </p:nvCxnSpPr>
        <p:spPr>
          <a:xfrm>
            <a:off x="6402209" y="4207612"/>
            <a:ext cx="5238000" cy="23855"/>
          </a:xfrm>
          <a:prstGeom prst="line">
            <a:avLst/>
          </a:prstGeom>
          <a:ln>
            <a:prstDash val="sysDash"/>
          </a:ln>
        </p:spPr>
        <p:style>
          <a:lnRef idx="3">
            <a:schemeClr val="accent1"/>
          </a:lnRef>
          <a:fillRef idx="0">
            <a:schemeClr val="accent1"/>
          </a:fillRef>
          <a:effectRef idx="2">
            <a:schemeClr val="accent1"/>
          </a:effectRef>
          <a:fontRef idx="minor">
            <a:schemeClr val="tx1"/>
          </a:fontRef>
        </p:style>
      </p:cxnSp>
      <p:sp>
        <p:nvSpPr>
          <p:cNvPr id="30" name="TextBox 29">
            <a:extLst>
              <a:ext uri="{FF2B5EF4-FFF2-40B4-BE49-F238E27FC236}">
                <a16:creationId xmlns:a16="http://schemas.microsoft.com/office/drawing/2014/main" id="{6A411B8E-CE15-4146-E779-F2670820657E}"/>
              </a:ext>
            </a:extLst>
          </p:cNvPr>
          <p:cNvSpPr txBox="1"/>
          <p:nvPr/>
        </p:nvSpPr>
        <p:spPr>
          <a:xfrm>
            <a:off x="6636198" y="2969987"/>
            <a:ext cx="1551225"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bg1"/>
                </a:solidFill>
              </a:rPr>
              <a:t>Leadership Layer</a:t>
            </a:r>
          </a:p>
        </p:txBody>
      </p:sp>
      <p:sp>
        <p:nvSpPr>
          <p:cNvPr id="31" name="TextBox 30">
            <a:extLst>
              <a:ext uri="{FF2B5EF4-FFF2-40B4-BE49-F238E27FC236}">
                <a16:creationId xmlns:a16="http://schemas.microsoft.com/office/drawing/2014/main" id="{C896F756-89D3-9002-2D8F-53EE23B75BC8}"/>
              </a:ext>
            </a:extLst>
          </p:cNvPr>
          <p:cNvSpPr txBox="1"/>
          <p:nvPr/>
        </p:nvSpPr>
        <p:spPr>
          <a:xfrm>
            <a:off x="8519580" y="4448535"/>
            <a:ext cx="1087455" cy="309958"/>
          </a:xfrm>
          <a:prstGeom prst="rect">
            <a:avLst/>
          </a:prstGeom>
          <a:noFill/>
        </p:spPr>
        <p:txBody>
          <a:bodyPr vert="horz" wrap="none" lIns="90000" tIns="46800" rIns="90000" bIns="46800" rtlCol="0" anchor="ctr">
            <a:spAutoFit/>
          </a:bodyPr>
          <a:lstStyle/>
          <a:p>
            <a:pPr algn="l">
              <a:spcBef>
                <a:spcPct val="0"/>
              </a:spcBef>
            </a:pPr>
            <a:r>
              <a:rPr lang="en-US" sz="1400">
                <a:solidFill>
                  <a:schemeClr val="bg1"/>
                </a:solidFill>
              </a:rPr>
              <a:t>Analyst/DE</a:t>
            </a:r>
          </a:p>
        </p:txBody>
      </p:sp>
      <p:sp>
        <p:nvSpPr>
          <p:cNvPr id="33" name="Striped Right Arrow 32">
            <a:extLst>
              <a:ext uri="{FF2B5EF4-FFF2-40B4-BE49-F238E27FC236}">
                <a16:creationId xmlns:a16="http://schemas.microsoft.com/office/drawing/2014/main" id="{43821248-B8EF-6E1B-87A7-4C6A35F8B18A}"/>
              </a:ext>
            </a:extLst>
          </p:cNvPr>
          <p:cNvSpPr/>
          <p:nvPr/>
        </p:nvSpPr>
        <p:spPr>
          <a:xfrm>
            <a:off x="457199" y="6081470"/>
            <a:ext cx="4031673" cy="484632"/>
          </a:xfrm>
          <a:prstGeom prst="stripedRightArrow">
            <a:avLst/>
          </a:prstGeom>
          <a:gradFill>
            <a:gsLst>
              <a:gs pos="100000">
                <a:srgbClr val="FF0000"/>
              </a:gs>
              <a:gs pos="0">
                <a:srgbClr val="00B050"/>
              </a:gs>
              <a:gs pos="50000">
                <a:schemeClr val="accent1">
                  <a:lumMod val="45000"/>
                  <a:lumOff val="55000"/>
                </a:schemeClr>
              </a:gs>
            </a:gsLst>
            <a:lin ang="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Turn around time</a:t>
            </a:r>
          </a:p>
        </p:txBody>
      </p:sp>
      <p:cxnSp>
        <p:nvCxnSpPr>
          <p:cNvPr id="35" name="Straight Arrow Connector 34">
            <a:extLst>
              <a:ext uri="{FF2B5EF4-FFF2-40B4-BE49-F238E27FC236}">
                <a16:creationId xmlns:a16="http://schemas.microsoft.com/office/drawing/2014/main" id="{572BDBD9-CB50-4964-FB11-D48D5EABAC63}"/>
              </a:ext>
            </a:extLst>
          </p:cNvPr>
          <p:cNvCxnSpPr>
            <a:cxnSpLocks/>
          </p:cNvCxnSpPr>
          <p:nvPr/>
        </p:nvCxnSpPr>
        <p:spPr>
          <a:xfrm flipH="1">
            <a:off x="7198950" y="3889899"/>
            <a:ext cx="6352" cy="815929"/>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BEA37F9-6936-CF4C-FAE0-A3CF9EC7C03A}"/>
              </a:ext>
            </a:extLst>
          </p:cNvPr>
          <p:cNvCxnSpPr>
            <a:cxnSpLocks/>
          </p:cNvCxnSpPr>
          <p:nvPr/>
        </p:nvCxnSpPr>
        <p:spPr>
          <a:xfrm flipH="1">
            <a:off x="8249542" y="3889899"/>
            <a:ext cx="6352" cy="815929"/>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370B2FF-3A8B-3461-C2BF-CE9DC4545BCF}"/>
              </a:ext>
            </a:extLst>
          </p:cNvPr>
          <p:cNvCxnSpPr>
            <a:cxnSpLocks/>
          </p:cNvCxnSpPr>
          <p:nvPr/>
        </p:nvCxnSpPr>
        <p:spPr>
          <a:xfrm flipH="1">
            <a:off x="9646559" y="3889899"/>
            <a:ext cx="6352" cy="815929"/>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CCA1B2A-FCE6-253D-9B6D-2B593C399CDB}"/>
              </a:ext>
            </a:extLst>
          </p:cNvPr>
          <p:cNvCxnSpPr>
            <a:cxnSpLocks/>
          </p:cNvCxnSpPr>
          <p:nvPr/>
        </p:nvCxnSpPr>
        <p:spPr>
          <a:xfrm flipH="1">
            <a:off x="11297819" y="3889899"/>
            <a:ext cx="6352" cy="815929"/>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16073336-63B1-6ADB-0F7B-8EE666BF0694}"/>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8" name="Footer Placeholder 7">
            <a:extLst>
              <a:ext uri="{FF2B5EF4-FFF2-40B4-BE49-F238E27FC236}">
                <a16:creationId xmlns:a16="http://schemas.microsoft.com/office/drawing/2014/main" id="{61F408C4-6BD2-E5E0-894F-DC6F382D6C56}"/>
              </a:ext>
            </a:extLst>
          </p:cNvPr>
          <p:cNvSpPr>
            <a:spLocks noGrp="1"/>
          </p:cNvSpPr>
          <p:nvPr>
            <p:ph type="ftr" sz="quarter" idx="11"/>
          </p:nvPr>
        </p:nvSpPr>
        <p:spPr/>
        <p:txBody>
          <a:bodyPr/>
          <a:lstStyle/>
          <a:p>
            <a:pPr>
              <a:spcBef>
                <a:spcPts val="1000"/>
              </a:spcBef>
            </a:pPr>
            <a:r>
              <a:rPr lang="en-US"/>
              <a:t>AI Data Copilot - AskData</a:t>
            </a:r>
          </a:p>
        </p:txBody>
      </p:sp>
      <p:sp>
        <p:nvSpPr>
          <p:cNvPr id="11" name="Slide Number Placeholder 10">
            <a:extLst>
              <a:ext uri="{FF2B5EF4-FFF2-40B4-BE49-F238E27FC236}">
                <a16:creationId xmlns:a16="http://schemas.microsoft.com/office/drawing/2014/main" id="{FE10D994-83F5-D07A-416B-B07B80C9F042}"/>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Tree>
    <p:extLst>
      <p:ext uri="{BB962C8B-B14F-4D97-AF65-F5344CB8AC3E}">
        <p14:creationId xmlns:p14="http://schemas.microsoft.com/office/powerpoint/2010/main" val="394042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61E08F7-7DA0-1174-4BC6-272D6DDBBC66}"/>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13CBA644-85DD-318B-1A1E-06E9909DC8DD}"/>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7CA38FAF-583A-DA76-32D8-9284A115BFF0}"/>
              </a:ext>
            </a:extLst>
          </p:cNvPr>
          <p:cNvSpPr>
            <a:spLocks noGrp="1"/>
          </p:cNvSpPr>
          <p:nvPr>
            <p:ph type="sldNum" sz="quarter" idx="12"/>
          </p:nvPr>
        </p:nvSpPr>
        <p:spPr/>
        <p:txBody>
          <a:bodyPr/>
          <a:lstStyle/>
          <a:p>
            <a:pPr algn="r"/>
            <a:fld id="{5D9A5160-6218-4E5A-B9E6-B93E3DAE377C}" type="slidenum">
              <a:rPr lang="en-US" smtClean="0"/>
              <a:pPr algn="r"/>
              <a:t>4</a:t>
            </a:fld>
            <a:endParaRPr lang="en-US"/>
          </a:p>
        </p:txBody>
      </p:sp>
      <p:sp>
        <p:nvSpPr>
          <p:cNvPr id="6" name="Pie 5">
            <a:extLst>
              <a:ext uri="{FF2B5EF4-FFF2-40B4-BE49-F238E27FC236}">
                <a16:creationId xmlns:a16="http://schemas.microsoft.com/office/drawing/2014/main" id="{A82BD479-2E94-544F-23F2-D9D74EB49A9A}"/>
              </a:ext>
            </a:extLst>
          </p:cNvPr>
          <p:cNvSpPr>
            <a:spLocks noChangeAspect="1"/>
          </p:cNvSpPr>
          <p:nvPr/>
        </p:nvSpPr>
        <p:spPr>
          <a:xfrm rot="16200000">
            <a:off x="9383663" y="3263138"/>
            <a:ext cx="884005" cy="884005"/>
          </a:xfrm>
          <a:prstGeom prst="pie">
            <a:avLst/>
          </a:prstGeom>
          <a:solidFill>
            <a:srgbClr val="177B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 name="Pie 6">
            <a:extLst>
              <a:ext uri="{FF2B5EF4-FFF2-40B4-BE49-F238E27FC236}">
                <a16:creationId xmlns:a16="http://schemas.microsoft.com/office/drawing/2014/main" id="{833239A7-F3A4-544D-1905-2C27F1AA5C75}"/>
              </a:ext>
            </a:extLst>
          </p:cNvPr>
          <p:cNvSpPr>
            <a:spLocks noChangeAspect="1"/>
          </p:cNvSpPr>
          <p:nvPr/>
        </p:nvSpPr>
        <p:spPr>
          <a:xfrm rot="5400000">
            <a:off x="1854149" y="3696817"/>
            <a:ext cx="900000" cy="900000"/>
          </a:xfrm>
          <a:prstGeom prst="pie">
            <a:avLst/>
          </a:prstGeom>
          <a:solidFill>
            <a:srgbClr val="01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8" name="Title 3">
            <a:extLst>
              <a:ext uri="{FF2B5EF4-FFF2-40B4-BE49-F238E27FC236}">
                <a16:creationId xmlns:a16="http://schemas.microsoft.com/office/drawing/2014/main" id="{E9BD339F-D4DD-B3E5-B9A7-2AB34C6BDA2B}"/>
              </a:ext>
            </a:extLst>
          </p:cNvPr>
          <p:cNvSpPr txBox="1">
            <a:spLocks/>
          </p:cNvSpPr>
          <p:nvPr/>
        </p:nvSpPr>
        <p:spPr>
          <a:xfrm>
            <a:off x="550387" y="53958"/>
            <a:ext cx="11088050" cy="930372"/>
          </a:xfrm>
          <a:prstGeom prst="rect">
            <a:avLst/>
          </a:prstGeom>
        </p:spPr>
        <p:txBody>
          <a:bodyPr vert="horz" lIns="0" tIns="0" rIns="0" bIns="126000" rtlCol="0" anchor="b" anchorCtr="0">
            <a:no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r>
              <a:rPr lang="en-IN" sz="3200" b="1" dirty="0">
                <a:solidFill>
                  <a:srgbClr val="0070C0"/>
                </a:solidFill>
              </a:rPr>
              <a:t>Our Solution</a:t>
            </a:r>
            <a:endParaRPr lang="en-US" dirty="0"/>
          </a:p>
        </p:txBody>
      </p:sp>
      <p:sp>
        <p:nvSpPr>
          <p:cNvPr id="9" name="Rounded Rectangle 8">
            <a:extLst>
              <a:ext uri="{FF2B5EF4-FFF2-40B4-BE49-F238E27FC236}">
                <a16:creationId xmlns:a16="http://schemas.microsoft.com/office/drawing/2014/main" id="{A5C20ED4-D538-A925-A8A6-7C0957AD0022}"/>
              </a:ext>
            </a:extLst>
          </p:cNvPr>
          <p:cNvSpPr/>
          <p:nvPr/>
        </p:nvSpPr>
        <p:spPr>
          <a:xfrm>
            <a:off x="1394906" y="1790314"/>
            <a:ext cx="914400" cy="914400"/>
          </a:xfrm>
          <a:prstGeom prst="roundRect">
            <a:avLst/>
          </a:prstGeom>
          <a:solidFill>
            <a:srgbClr val="177B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0" name="Rectangle 9">
            <a:extLst>
              <a:ext uri="{FF2B5EF4-FFF2-40B4-BE49-F238E27FC236}">
                <a16:creationId xmlns:a16="http://schemas.microsoft.com/office/drawing/2014/main" id="{5126A605-2CD1-4456-BEFC-C6E6F6E594FB}"/>
              </a:ext>
            </a:extLst>
          </p:cNvPr>
          <p:cNvSpPr/>
          <p:nvPr/>
        </p:nvSpPr>
        <p:spPr>
          <a:xfrm>
            <a:off x="2305873" y="2012200"/>
            <a:ext cx="7510071" cy="450000"/>
          </a:xfrm>
          <a:prstGeom prst="rect">
            <a:avLst/>
          </a:prstGeom>
          <a:solidFill>
            <a:srgbClr val="177B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Rectangle 10">
            <a:extLst>
              <a:ext uri="{FF2B5EF4-FFF2-40B4-BE49-F238E27FC236}">
                <a16:creationId xmlns:a16="http://schemas.microsoft.com/office/drawing/2014/main" id="{1B49D627-992E-26D9-0D56-3F53BC14FA44}"/>
              </a:ext>
            </a:extLst>
          </p:cNvPr>
          <p:cNvSpPr/>
          <p:nvPr/>
        </p:nvSpPr>
        <p:spPr>
          <a:xfrm rot="10800000">
            <a:off x="2305873" y="3697142"/>
            <a:ext cx="7510071" cy="450000"/>
          </a:xfrm>
          <a:prstGeom prst="rect">
            <a:avLst/>
          </a:prstGeom>
          <a:gradFill flip="none" rotWithShape="1">
            <a:gsLst>
              <a:gs pos="100000">
                <a:srgbClr val="0370AD"/>
              </a:gs>
              <a:gs pos="0">
                <a:srgbClr val="177B36"/>
              </a:gs>
              <a:gs pos="50000">
                <a:schemeClr val="accent1">
                  <a:lumMod val="45000"/>
                  <a:lumOff val="55000"/>
                </a:schemeClr>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2" name="Rectangle 11">
            <a:extLst>
              <a:ext uri="{FF2B5EF4-FFF2-40B4-BE49-F238E27FC236}">
                <a16:creationId xmlns:a16="http://schemas.microsoft.com/office/drawing/2014/main" id="{DE530CF3-E183-0C3D-3DAF-33259EBDBBC0}"/>
              </a:ext>
            </a:extLst>
          </p:cNvPr>
          <p:cNvSpPr/>
          <p:nvPr/>
        </p:nvSpPr>
        <p:spPr>
          <a:xfrm>
            <a:off x="2304467" y="5362534"/>
            <a:ext cx="7510071" cy="450000"/>
          </a:xfrm>
          <a:prstGeom prst="rect">
            <a:avLst/>
          </a:prstGeom>
          <a:solidFill>
            <a:srgbClr val="01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Rounded Rectangle 12">
            <a:extLst>
              <a:ext uri="{FF2B5EF4-FFF2-40B4-BE49-F238E27FC236}">
                <a16:creationId xmlns:a16="http://schemas.microsoft.com/office/drawing/2014/main" id="{20581935-5D3C-EFB9-81F4-5D258597240B}"/>
              </a:ext>
            </a:extLst>
          </p:cNvPr>
          <p:cNvSpPr/>
          <p:nvPr/>
        </p:nvSpPr>
        <p:spPr>
          <a:xfrm>
            <a:off x="9814538" y="5139570"/>
            <a:ext cx="914400" cy="914400"/>
          </a:xfrm>
          <a:prstGeom prst="roundRect">
            <a:avLst/>
          </a:prstGeom>
          <a:solidFill>
            <a:srgbClr val="00B0F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4" name="Rectangle 13">
            <a:extLst>
              <a:ext uri="{FF2B5EF4-FFF2-40B4-BE49-F238E27FC236}">
                <a16:creationId xmlns:a16="http://schemas.microsoft.com/office/drawing/2014/main" id="{2BF736FC-20CA-5677-8C71-2A5BA17A5519}"/>
              </a:ext>
            </a:extLst>
          </p:cNvPr>
          <p:cNvSpPr/>
          <p:nvPr/>
        </p:nvSpPr>
        <p:spPr>
          <a:xfrm rot="5400000">
            <a:off x="9423473" y="2859829"/>
            <a:ext cx="1224626" cy="450000"/>
          </a:xfrm>
          <a:prstGeom prst="rect">
            <a:avLst/>
          </a:prstGeom>
          <a:solidFill>
            <a:srgbClr val="177B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5" name="Pie 14">
            <a:extLst>
              <a:ext uri="{FF2B5EF4-FFF2-40B4-BE49-F238E27FC236}">
                <a16:creationId xmlns:a16="http://schemas.microsoft.com/office/drawing/2014/main" id="{E7CA48D5-6254-FFAF-2CC4-F4DDF15124DE}"/>
              </a:ext>
            </a:extLst>
          </p:cNvPr>
          <p:cNvSpPr/>
          <p:nvPr/>
        </p:nvSpPr>
        <p:spPr>
          <a:xfrm rot="10800000">
            <a:off x="9360786" y="2012200"/>
            <a:ext cx="900000" cy="900000"/>
          </a:xfrm>
          <a:prstGeom prst="pie">
            <a:avLst/>
          </a:prstGeom>
          <a:solidFill>
            <a:srgbClr val="177B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Rectangle 15">
            <a:extLst>
              <a:ext uri="{FF2B5EF4-FFF2-40B4-BE49-F238E27FC236}">
                <a16:creationId xmlns:a16="http://schemas.microsoft.com/office/drawing/2014/main" id="{207BE3BB-95B0-2061-0A7B-74DA7E65D4F2}"/>
              </a:ext>
            </a:extLst>
          </p:cNvPr>
          <p:cNvSpPr/>
          <p:nvPr/>
        </p:nvSpPr>
        <p:spPr>
          <a:xfrm rot="5400000">
            <a:off x="1467154" y="4534457"/>
            <a:ext cx="1224626" cy="450000"/>
          </a:xfrm>
          <a:prstGeom prst="rect">
            <a:avLst/>
          </a:prstGeom>
          <a:solidFill>
            <a:srgbClr val="01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7" name="Pie 16">
            <a:extLst>
              <a:ext uri="{FF2B5EF4-FFF2-40B4-BE49-F238E27FC236}">
                <a16:creationId xmlns:a16="http://schemas.microsoft.com/office/drawing/2014/main" id="{039BAA79-ECB4-51CC-2F69-ADAD09FBB260}"/>
              </a:ext>
            </a:extLst>
          </p:cNvPr>
          <p:cNvSpPr>
            <a:spLocks noChangeAspect="1"/>
          </p:cNvSpPr>
          <p:nvPr/>
        </p:nvSpPr>
        <p:spPr>
          <a:xfrm>
            <a:off x="1854467" y="4918003"/>
            <a:ext cx="900000" cy="900000"/>
          </a:xfrm>
          <a:prstGeom prst="pie">
            <a:avLst/>
          </a:prstGeom>
          <a:solidFill>
            <a:srgbClr val="01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18" name="Picture 17" descr="Tilted macbook pro mockup">
            <a:extLst>
              <a:ext uri="{FF2B5EF4-FFF2-40B4-BE49-F238E27FC236}">
                <a16:creationId xmlns:a16="http://schemas.microsoft.com/office/drawing/2014/main" id="{F5C2B080-E5AD-9AD7-1584-93ECB8FCF343}"/>
              </a:ext>
            </a:extLst>
          </p:cNvPr>
          <p:cNvPicPr>
            <a:picLocks noChangeAspect="1"/>
          </p:cNvPicPr>
          <p:nvPr/>
        </p:nvPicPr>
        <p:blipFill>
          <a:blip r:embed="rId2"/>
          <a:stretch/>
        </p:blipFill>
        <p:spPr>
          <a:xfrm>
            <a:off x="3032504" y="1479441"/>
            <a:ext cx="1875594" cy="1250395"/>
          </a:xfrm>
          <a:prstGeom prst="rect">
            <a:avLst/>
          </a:prstGeom>
        </p:spPr>
      </p:pic>
      <p:pic>
        <p:nvPicPr>
          <p:cNvPr id="19" name="Picture 18" descr="Vector User Icon Stock Illustrations – 567,014 Vector User Icon Stock Illustrations, Vectors &amp; Clipart - Dreamstime">
            <a:extLst>
              <a:ext uri="{FF2B5EF4-FFF2-40B4-BE49-F238E27FC236}">
                <a16:creationId xmlns:a16="http://schemas.microsoft.com/office/drawing/2014/main" id="{8F5C933D-0F79-6715-9665-951C433113AC}"/>
              </a:ext>
            </a:extLst>
          </p:cNvPr>
          <p:cNvPicPr>
            <a:picLocks noChangeAspect="1"/>
          </p:cNvPicPr>
          <p:nvPr/>
        </p:nvPicPr>
        <p:blipFill>
          <a:blip r:embed="rId3"/>
          <a:stretch/>
        </p:blipFill>
        <p:spPr>
          <a:xfrm>
            <a:off x="1473923" y="1798118"/>
            <a:ext cx="889054" cy="889054"/>
          </a:xfrm>
          <a:prstGeom prst="rect">
            <a:avLst/>
          </a:prstGeom>
        </p:spPr>
      </p:pic>
      <p:pic>
        <p:nvPicPr>
          <p:cNvPr id="20" name="Picture 19" descr="What is a web portal and what is the difference from a website? - Red Portal">
            <a:extLst>
              <a:ext uri="{FF2B5EF4-FFF2-40B4-BE49-F238E27FC236}">
                <a16:creationId xmlns:a16="http://schemas.microsoft.com/office/drawing/2014/main" id="{D85873E4-35A8-86F7-0BE2-E119FCD56DBE}"/>
              </a:ext>
            </a:extLst>
          </p:cNvPr>
          <p:cNvPicPr>
            <a:picLocks noChangeAspect="1"/>
          </p:cNvPicPr>
          <p:nvPr/>
        </p:nvPicPr>
        <p:blipFill>
          <a:blip r:embed="rId4"/>
          <a:srcRect l="9052" r="9052"/>
          <a:stretch>
            <a:fillRect/>
          </a:stretch>
        </p:blipFill>
        <p:spPr>
          <a:xfrm>
            <a:off x="9584843" y="5139570"/>
            <a:ext cx="1336294" cy="914400"/>
          </a:xfrm>
          <a:prstGeom prst="rect">
            <a:avLst/>
          </a:prstGeom>
        </p:spPr>
      </p:pic>
      <p:sp>
        <p:nvSpPr>
          <p:cNvPr id="21" name="TextBox 20">
            <a:extLst>
              <a:ext uri="{FF2B5EF4-FFF2-40B4-BE49-F238E27FC236}">
                <a16:creationId xmlns:a16="http://schemas.microsoft.com/office/drawing/2014/main" id="{0D73DF53-24B4-9681-BBF9-CD4788A4390D}"/>
              </a:ext>
            </a:extLst>
          </p:cNvPr>
          <p:cNvSpPr txBox="1"/>
          <p:nvPr/>
        </p:nvSpPr>
        <p:spPr>
          <a:xfrm>
            <a:off x="2474241" y="2085453"/>
            <a:ext cx="930361" cy="309958"/>
          </a:xfrm>
          <a:prstGeom prst="rect">
            <a:avLst/>
          </a:prstGeom>
          <a:noFill/>
        </p:spPr>
        <p:txBody>
          <a:bodyPr vert="horz" wrap="none" lIns="90000" tIns="46800" rIns="90000" bIns="46800" rtlCol="0" anchor="ctr">
            <a:spAutoFit/>
          </a:bodyPr>
          <a:lstStyle/>
          <a:p>
            <a:pPr algn="ctr">
              <a:spcBef>
                <a:spcPct val="0"/>
              </a:spcBef>
            </a:pPr>
            <a:r>
              <a:rPr lang="en-IN" sz="1400">
                <a:solidFill>
                  <a:schemeClr val="bg1"/>
                </a:solidFill>
              </a:rPr>
              <a:t>Question</a:t>
            </a:r>
            <a:endParaRPr lang="en-US" sz="1400" err="1">
              <a:solidFill>
                <a:schemeClr val="bg1"/>
              </a:solidFill>
            </a:endParaRPr>
          </a:p>
        </p:txBody>
      </p:sp>
      <p:sp>
        <p:nvSpPr>
          <p:cNvPr id="22" name="TextBox 21">
            <a:extLst>
              <a:ext uri="{FF2B5EF4-FFF2-40B4-BE49-F238E27FC236}">
                <a16:creationId xmlns:a16="http://schemas.microsoft.com/office/drawing/2014/main" id="{B99C89FE-BD0A-CD31-D25D-1C2EC4BD53A0}"/>
              </a:ext>
            </a:extLst>
          </p:cNvPr>
          <p:cNvSpPr txBox="1"/>
          <p:nvPr/>
        </p:nvSpPr>
        <p:spPr>
          <a:xfrm>
            <a:off x="4607219" y="1977732"/>
            <a:ext cx="1137148" cy="525401"/>
          </a:xfrm>
          <a:prstGeom prst="rect">
            <a:avLst/>
          </a:prstGeom>
          <a:noFill/>
        </p:spPr>
        <p:txBody>
          <a:bodyPr vert="horz" wrap="none" lIns="90000" tIns="46800" rIns="90000" bIns="46800" rtlCol="0" anchor="ctr">
            <a:spAutoFit/>
          </a:bodyPr>
          <a:lstStyle/>
          <a:p>
            <a:pPr algn="ctr">
              <a:spcBef>
                <a:spcPct val="0"/>
              </a:spcBef>
            </a:pPr>
            <a:r>
              <a:rPr lang="en-IN" sz="1400">
                <a:solidFill>
                  <a:schemeClr val="bg1"/>
                </a:solidFill>
              </a:rPr>
              <a:t>Semantic </a:t>
            </a:r>
          </a:p>
          <a:p>
            <a:pPr algn="ctr">
              <a:spcBef>
                <a:spcPct val="0"/>
              </a:spcBef>
            </a:pPr>
            <a:r>
              <a:rPr lang="en-IN" sz="1400">
                <a:solidFill>
                  <a:schemeClr val="bg1"/>
                </a:solidFill>
              </a:rPr>
              <a:t>Understand</a:t>
            </a:r>
            <a:endParaRPr lang="en-US" sz="1400" err="1">
              <a:solidFill>
                <a:schemeClr val="bg1"/>
              </a:solidFill>
            </a:endParaRPr>
          </a:p>
        </p:txBody>
      </p:sp>
      <p:sp>
        <p:nvSpPr>
          <p:cNvPr id="23" name="TextBox 22">
            <a:extLst>
              <a:ext uri="{FF2B5EF4-FFF2-40B4-BE49-F238E27FC236}">
                <a16:creationId xmlns:a16="http://schemas.microsoft.com/office/drawing/2014/main" id="{200EFCB6-2FB8-3187-58F6-A51E93DD6A02}"/>
              </a:ext>
            </a:extLst>
          </p:cNvPr>
          <p:cNvSpPr txBox="1"/>
          <p:nvPr/>
        </p:nvSpPr>
        <p:spPr>
          <a:xfrm>
            <a:off x="7315165" y="1977732"/>
            <a:ext cx="890285" cy="525401"/>
          </a:xfrm>
          <a:prstGeom prst="rect">
            <a:avLst/>
          </a:prstGeom>
          <a:noFill/>
        </p:spPr>
        <p:txBody>
          <a:bodyPr vert="horz" wrap="none" lIns="90000" tIns="46800" rIns="90000" bIns="46800" rtlCol="0" anchor="ctr">
            <a:spAutoFit/>
          </a:bodyPr>
          <a:lstStyle/>
          <a:p>
            <a:pPr algn="ctr">
              <a:spcBef>
                <a:spcPct val="0"/>
              </a:spcBef>
            </a:pPr>
            <a:r>
              <a:rPr lang="en-IN" sz="1400">
                <a:solidFill>
                  <a:schemeClr val="bg1"/>
                </a:solidFill>
              </a:rPr>
              <a:t>Query </a:t>
            </a:r>
          </a:p>
          <a:p>
            <a:pPr algn="ctr">
              <a:spcBef>
                <a:spcPct val="0"/>
              </a:spcBef>
            </a:pPr>
            <a:r>
              <a:rPr lang="en-IN" sz="1400">
                <a:solidFill>
                  <a:schemeClr val="bg1"/>
                </a:solidFill>
              </a:rPr>
              <a:t>Planning</a:t>
            </a:r>
            <a:endParaRPr lang="en-US" sz="1400" err="1">
              <a:solidFill>
                <a:schemeClr val="bg1"/>
              </a:solidFill>
            </a:endParaRPr>
          </a:p>
        </p:txBody>
      </p:sp>
      <p:sp>
        <p:nvSpPr>
          <p:cNvPr id="24" name="TextBox 23">
            <a:extLst>
              <a:ext uri="{FF2B5EF4-FFF2-40B4-BE49-F238E27FC236}">
                <a16:creationId xmlns:a16="http://schemas.microsoft.com/office/drawing/2014/main" id="{73438796-117B-6F2B-C299-F36B31735BC8}"/>
              </a:ext>
            </a:extLst>
          </p:cNvPr>
          <p:cNvSpPr txBox="1"/>
          <p:nvPr/>
        </p:nvSpPr>
        <p:spPr>
          <a:xfrm>
            <a:off x="8655730" y="3750174"/>
            <a:ext cx="1310080" cy="309958"/>
          </a:xfrm>
          <a:prstGeom prst="rect">
            <a:avLst/>
          </a:prstGeom>
          <a:noFill/>
        </p:spPr>
        <p:txBody>
          <a:bodyPr vert="horz" wrap="none" lIns="90000" tIns="46800" rIns="90000" bIns="46800" rtlCol="0" anchor="ctr">
            <a:spAutoFit/>
          </a:bodyPr>
          <a:lstStyle/>
          <a:p>
            <a:pPr>
              <a:spcBef>
                <a:spcPct val="0"/>
              </a:spcBef>
            </a:pPr>
            <a:r>
              <a:rPr lang="en-IN" sz="1400">
                <a:solidFill>
                  <a:schemeClr val="bg1"/>
                </a:solidFill>
              </a:rPr>
              <a:t>Generate SQL</a:t>
            </a:r>
            <a:endParaRPr lang="en-US" sz="1400" err="1">
              <a:solidFill>
                <a:schemeClr val="bg1"/>
              </a:solidFill>
            </a:endParaRPr>
          </a:p>
        </p:txBody>
      </p:sp>
      <p:sp>
        <p:nvSpPr>
          <p:cNvPr id="25" name="TextBox 24">
            <a:extLst>
              <a:ext uri="{FF2B5EF4-FFF2-40B4-BE49-F238E27FC236}">
                <a16:creationId xmlns:a16="http://schemas.microsoft.com/office/drawing/2014/main" id="{FE178756-7877-9C08-9063-ED6069DA6F3C}"/>
              </a:ext>
            </a:extLst>
          </p:cNvPr>
          <p:cNvSpPr txBox="1"/>
          <p:nvPr/>
        </p:nvSpPr>
        <p:spPr>
          <a:xfrm>
            <a:off x="2167568" y="5418695"/>
            <a:ext cx="1220504" cy="309958"/>
          </a:xfrm>
          <a:prstGeom prst="rect">
            <a:avLst/>
          </a:prstGeom>
          <a:noFill/>
        </p:spPr>
        <p:txBody>
          <a:bodyPr vert="horz" wrap="none" lIns="90000" tIns="46800" rIns="90000" bIns="46800" rtlCol="0" anchor="ctr">
            <a:spAutoFit/>
          </a:bodyPr>
          <a:lstStyle/>
          <a:p>
            <a:pPr>
              <a:spcBef>
                <a:spcPct val="0"/>
              </a:spcBef>
            </a:pPr>
            <a:r>
              <a:rPr lang="en-IN" sz="1400">
                <a:solidFill>
                  <a:schemeClr val="bg1"/>
                </a:solidFill>
              </a:rPr>
              <a:t>Show results</a:t>
            </a:r>
            <a:endParaRPr lang="en-US" sz="1400" err="1">
              <a:solidFill>
                <a:schemeClr val="bg1"/>
              </a:solidFill>
            </a:endParaRPr>
          </a:p>
        </p:txBody>
      </p:sp>
      <p:sp>
        <p:nvSpPr>
          <p:cNvPr id="26" name="TextBox 25">
            <a:extLst>
              <a:ext uri="{FF2B5EF4-FFF2-40B4-BE49-F238E27FC236}">
                <a16:creationId xmlns:a16="http://schemas.microsoft.com/office/drawing/2014/main" id="{0D6C6894-D741-D9F1-A5AA-521546AE1496}"/>
              </a:ext>
            </a:extLst>
          </p:cNvPr>
          <p:cNvSpPr txBox="1"/>
          <p:nvPr/>
        </p:nvSpPr>
        <p:spPr>
          <a:xfrm>
            <a:off x="3308648" y="3737523"/>
            <a:ext cx="1295652" cy="309958"/>
          </a:xfrm>
          <a:prstGeom prst="rect">
            <a:avLst/>
          </a:prstGeom>
          <a:noFill/>
        </p:spPr>
        <p:txBody>
          <a:bodyPr vert="horz" wrap="none" lIns="90000" tIns="46800" rIns="90000" bIns="46800" rtlCol="0" anchor="ctr">
            <a:spAutoFit/>
          </a:bodyPr>
          <a:lstStyle/>
          <a:p>
            <a:pPr>
              <a:spcBef>
                <a:spcPct val="0"/>
              </a:spcBef>
            </a:pPr>
            <a:r>
              <a:rPr lang="en-IN" sz="1400">
                <a:solidFill>
                  <a:schemeClr val="bg1"/>
                </a:solidFill>
              </a:rPr>
              <a:t>Retrieve Data</a:t>
            </a:r>
            <a:endParaRPr lang="en-US" sz="1400" err="1">
              <a:solidFill>
                <a:schemeClr val="bg1"/>
              </a:solidFill>
            </a:endParaRPr>
          </a:p>
        </p:txBody>
      </p:sp>
      <p:sp>
        <p:nvSpPr>
          <p:cNvPr id="27" name="TextBox 26">
            <a:extLst>
              <a:ext uri="{FF2B5EF4-FFF2-40B4-BE49-F238E27FC236}">
                <a16:creationId xmlns:a16="http://schemas.microsoft.com/office/drawing/2014/main" id="{9455AC92-5AB9-A13C-56E4-7E6239CC6E5F}"/>
              </a:ext>
            </a:extLst>
          </p:cNvPr>
          <p:cNvSpPr txBox="1"/>
          <p:nvPr/>
        </p:nvSpPr>
        <p:spPr>
          <a:xfrm>
            <a:off x="5845100" y="3765100"/>
            <a:ext cx="1222235" cy="309958"/>
          </a:xfrm>
          <a:prstGeom prst="rect">
            <a:avLst/>
          </a:prstGeom>
          <a:noFill/>
        </p:spPr>
        <p:txBody>
          <a:bodyPr vert="horz" wrap="none" lIns="90000" tIns="46800" rIns="90000" bIns="46800" rtlCol="0" anchor="ctr">
            <a:spAutoFit/>
          </a:bodyPr>
          <a:lstStyle/>
          <a:p>
            <a:pPr>
              <a:spcBef>
                <a:spcPct val="0"/>
              </a:spcBef>
            </a:pPr>
            <a:r>
              <a:rPr lang="en-IN" sz="1400">
                <a:solidFill>
                  <a:schemeClr val="bg1"/>
                </a:solidFill>
              </a:rPr>
              <a:t>Validate SQL</a:t>
            </a:r>
            <a:endParaRPr lang="en-US" sz="1400" err="1">
              <a:solidFill>
                <a:schemeClr val="bg1"/>
              </a:solidFill>
            </a:endParaRPr>
          </a:p>
        </p:txBody>
      </p:sp>
      <p:sp>
        <p:nvSpPr>
          <p:cNvPr id="28" name="TextBox 27">
            <a:extLst>
              <a:ext uri="{FF2B5EF4-FFF2-40B4-BE49-F238E27FC236}">
                <a16:creationId xmlns:a16="http://schemas.microsoft.com/office/drawing/2014/main" id="{576D532C-438E-CE69-CEB0-7CAF106CC9C2}"/>
              </a:ext>
            </a:extLst>
          </p:cNvPr>
          <p:cNvSpPr txBox="1"/>
          <p:nvPr/>
        </p:nvSpPr>
        <p:spPr>
          <a:xfrm>
            <a:off x="5369682" y="5413251"/>
            <a:ext cx="816547" cy="309958"/>
          </a:xfrm>
          <a:prstGeom prst="rect">
            <a:avLst/>
          </a:prstGeom>
          <a:noFill/>
        </p:spPr>
        <p:txBody>
          <a:bodyPr vert="horz" wrap="none" lIns="90000" tIns="46800" rIns="90000" bIns="46800" rtlCol="0" anchor="ctr">
            <a:spAutoFit/>
          </a:bodyPr>
          <a:lstStyle/>
          <a:p>
            <a:pPr>
              <a:spcBef>
                <a:spcPct val="0"/>
              </a:spcBef>
            </a:pPr>
            <a:r>
              <a:rPr lang="en-IN" sz="1400">
                <a:solidFill>
                  <a:schemeClr val="bg1"/>
                </a:solidFill>
              </a:rPr>
              <a:t>Analyse</a:t>
            </a:r>
            <a:endParaRPr lang="en-US" sz="1400" err="1">
              <a:solidFill>
                <a:schemeClr val="bg1"/>
              </a:solidFill>
            </a:endParaRPr>
          </a:p>
        </p:txBody>
      </p:sp>
      <p:sp>
        <p:nvSpPr>
          <p:cNvPr id="29" name="TextBox 28">
            <a:extLst>
              <a:ext uri="{FF2B5EF4-FFF2-40B4-BE49-F238E27FC236}">
                <a16:creationId xmlns:a16="http://schemas.microsoft.com/office/drawing/2014/main" id="{BFC63DE0-0CEC-E98D-D628-1D6752F39A82}"/>
              </a:ext>
            </a:extLst>
          </p:cNvPr>
          <p:cNvSpPr txBox="1"/>
          <p:nvPr/>
        </p:nvSpPr>
        <p:spPr>
          <a:xfrm>
            <a:off x="8113222" y="5406082"/>
            <a:ext cx="1076233" cy="309958"/>
          </a:xfrm>
          <a:prstGeom prst="rect">
            <a:avLst/>
          </a:prstGeom>
          <a:noFill/>
        </p:spPr>
        <p:txBody>
          <a:bodyPr vert="horz" wrap="none" lIns="90000" tIns="46800" rIns="90000" bIns="46800" rtlCol="0" anchor="ctr">
            <a:spAutoFit/>
          </a:bodyPr>
          <a:lstStyle/>
          <a:p>
            <a:pPr>
              <a:spcBef>
                <a:spcPct val="0"/>
              </a:spcBef>
            </a:pPr>
            <a:r>
              <a:rPr lang="en-IN" sz="1400">
                <a:solidFill>
                  <a:schemeClr val="bg1"/>
                </a:solidFill>
              </a:rPr>
              <a:t>Summarise</a:t>
            </a:r>
            <a:endParaRPr lang="en-US" sz="1400" err="1">
              <a:solidFill>
                <a:schemeClr val="bg1"/>
              </a:solidFill>
            </a:endParaRPr>
          </a:p>
        </p:txBody>
      </p:sp>
      <p:pic>
        <p:nvPicPr>
          <p:cNvPr id="30" name="Picture 29" descr="Plan Images - Free Download on Magnific (formerly Freepik)">
            <a:extLst>
              <a:ext uri="{FF2B5EF4-FFF2-40B4-BE49-F238E27FC236}">
                <a16:creationId xmlns:a16="http://schemas.microsoft.com/office/drawing/2014/main" id="{AA1579F5-64BD-0C95-87BF-572ECCB4AD97}"/>
              </a:ext>
            </a:extLst>
          </p:cNvPr>
          <p:cNvPicPr>
            <a:picLocks noChangeAspect="1"/>
          </p:cNvPicPr>
          <p:nvPr/>
        </p:nvPicPr>
        <p:blipFill>
          <a:blip r:embed="rId5"/>
          <a:stretch/>
        </p:blipFill>
        <p:spPr>
          <a:xfrm>
            <a:off x="8629232" y="1743592"/>
            <a:ext cx="988854" cy="988854"/>
          </a:xfrm>
          <a:prstGeom prst="rect">
            <a:avLst/>
          </a:prstGeom>
        </p:spPr>
      </p:pic>
      <p:pic>
        <p:nvPicPr>
          <p:cNvPr id="31" name="Picture 30" descr="How should I format Transact-SQL queries? – O'Reilly">
            <a:extLst>
              <a:ext uri="{FF2B5EF4-FFF2-40B4-BE49-F238E27FC236}">
                <a16:creationId xmlns:a16="http://schemas.microsoft.com/office/drawing/2014/main" id="{6D69373D-A997-E67D-279E-E8E2AE16F38F}"/>
              </a:ext>
            </a:extLst>
          </p:cNvPr>
          <p:cNvPicPr>
            <a:picLocks noChangeAspect="1"/>
          </p:cNvPicPr>
          <p:nvPr/>
        </p:nvPicPr>
        <p:blipFill>
          <a:blip r:embed="rId6"/>
          <a:srcRect l="22606" t="20107" r="33475" b="39769"/>
          <a:stretch>
            <a:fillRect/>
          </a:stretch>
        </p:blipFill>
        <p:spPr>
          <a:xfrm>
            <a:off x="7217201" y="3531835"/>
            <a:ext cx="1364922" cy="745319"/>
          </a:xfrm>
          <a:prstGeom prst="rect">
            <a:avLst/>
          </a:prstGeom>
        </p:spPr>
      </p:pic>
      <p:pic>
        <p:nvPicPr>
          <p:cNvPr id="32" name="Picture 31" descr="AI Will Surpass Human Brains Once We Crack the 'Neural Code' - Taylor &amp; Francis Newsroom">
            <a:extLst>
              <a:ext uri="{FF2B5EF4-FFF2-40B4-BE49-F238E27FC236}">
                <a16:creationId xmlns:a16="http://schemas.microsoft.com/office/drawing/2014/main" id="{5E84052B-195F-9A56-07D1-0E0C51119835}"/>
              </a:ext>
            </a:extLst>
          </p:cNvPr>
          <p:cNvPicPr>
            <a:picLocks noChangeAspect="1"/>
          </p:cNvPicPr>
          <p:nvPr/>
        </p:nvPicPr>
        <p:blipFill>
          <a:blip r:embed="rId7"/>
          <a:stretch/>
        </p:blipFill>
        <p:spPr>
          <a:xfrm>
            <a:off x="5718550" y="1844682"/>
            <a:ext cx="1290048" cy="860032"/>
          </a:xfrm>
          <a:prstGeom prst="rect">
            <a:avLst/>
          </a:prstGeom>
        </p:spPr>
      </p:pic>
      <p:pic>
        <p:nvPicPr>
          <p:cNvPr id="33" name="Picture 32" descr="Validation Symbol Validated Symbol&quot; Images – Browse 1 Stock Photos, Vectors, and Video | Adobe Stock">
            <a:extLst>
              <a:ext uri="{FF2B5EF4-FFF2-40B4-BE49-F238E27FC236}">
                <a16:creationId xmlns:a16="http://schemas.microsoft.com/office/drawing/2014/main" id="{399443DC-AEEE-45D9-1217-2F92FC79965B}"/>
              </a:ext>
            </a:extLst>
          </p:cNvPr>
          <p:cNvPicPr>
            <a:picLocks noChangeAspect="1"/>
          </p:cNvPicPr>
          <p:nvPr/>
        </p:nvPicPr>
        <p:blipFill>
          <a:blip r:embed="rId8"/>
          <a:srcRect l="5226" t="4431" r="6945" b="4030"/>
          <a:stretch>
            <a:fillRect/>
          </a:stretch>
        </p:blipFill>
        <p:spPr>
          <a:xfrm>
            <a:off x="4904031" y="3565066"/>
            <a:ext cx="724775" cy="745319"/>
          </a:xfrm>
          <a:prstGeom prst="rect">
            <a:avLst/>
          </a:prstGeom>
        </p:spPr>
      </p:pic>
      <p:pic>
        <p:nvPicPr>
          <p:cNvPr id="34" name="Picture 33" descr="Extracting data linear icon – Royalty-Free Vector | VectorStock">
            <a:extLst>
              <a:ext uri="{FF2B5EF4-FFF2-40B4-BE49-F238E27FC236}">
                <a16:creationId xmlns:a16="http://schemas.microsoft.com/office/drawing/2014/main" id="{B429AA97-8FCE-F6C2-E372-7A1154C97641}"/>
              </a:ext>
            </a:extLst>
          </p:cNvPr>
          <p:cNvPicPr>
            <a:picLocks noChangeAspect="1"/>
          </p:cNvPicPr>
          <p:nvPr/>
        </p:nvPicPr>
        <p:blipFill>
          <a:blip r:embed="rId9"/>
          <a:srcRect b="20241"/>
          <a:stretch>
            <a:fillRect/>
          </a:stretch>
        </p:blipFill>
        <p:spPr>
          <a:xfrm>
            <a:off x="2507108" y="3516079"/>
            <a:ext cx="809790" cy="808000"/>
          </a:xfrm>
          <a:prstGeom prst="rect">
            <a:avLst/>
          </a:prstGeom>
        </p:spPr>
      </p:pic>
      <p:pic>
        <p:nvPicPr>
          <p:cNvPr id="35" name="Picture 34" descr="4.15 Tables, Charts, and Graphs – Building Relationships With Business Communication">
            <a:extLst>
              <a:ext uri="{FF2B5EF4-FFF2-40B4-BE49-F238E27FC236}">
                <a16:creationId xmlns:a16="http://schemas.microsoft.com/office/drawing/2014/main" id="{A47EC88A-3467-79D4-7E6E-1AF15DF85707}"/>
              </a:ext>
            </a:extLst>
          </p:cNvPr>
          <p:cNvPicPr>
            <a:picLocks noChangeAspect="1"/>
          </p:cNvPicPr>
          <p:nvPr/>
        </p:nvPicPr>
        <p:blipFill>
          <a:blip r:embed="rId10"/>
          <a:stretch>
            <a:fillRect/>
          </a:stretch>
        </p:blipFill>
        <p:spPr>
          <a:xfrm>
            <a:off x="3468781" y="5197010"/>
            <a:ext cx="1336294" cy="781047"/>
          </a:xfrm>
          <a:prstGeom prst="rect">
            <a:avLst/>
          </a:prstGeom>
        </p:spPr>
      </p:pic>
      <p:pic>
        <p:nvPicPr>
          <p:cNvPr id="36" name="Picture 35" descr="Learn Data Interpretation for Placement | PrepInsta">
            <a:extLst>
              <a:ext uri="{FF2B5EF4-FFF2-40B4-BE49-F238E27FC236}">
                <a16:creationId xmlns:a16="http://schemas.microsoft.com/office/drawing/2014/main" id="{2FB437BB-9921-4FEA-4044-6DD81B843A49}"/>
              </a:ext>
            </a:extLst>
          </p:cNvPr>
          <p:cNvPicPr>
            <a:picLocks noChangeAspect="1"/>
          </p:cNvPicPr>
          <p:nvPr/>
        </p:nvPicPr>
        <p:blipFill>
          <a:blip r:embed="rId11"/>
          <a:stretch>
            <a:fillRect/>
          </a:stretch>
        </p:blipFill>
        <p:spPr>
          <a:xfrm>
            <a:off x="6636229" y="5192770"/>
            <a:ext cx="808000" cy="808000"/>
          </a:xfrm>
          <a:prstGeom prst="rect">
            <a:avLst/>
          </a:prstGeom>
        </p:spPr>
      </p:pic>
      <p:sp>
        <p:nvSpPr>
          <p:cNvPr id="37" name="Text Placeholder 5">
            <a:extLst>
              <a:ext uri="{FF2B5EF4-FFF2-40B4-BE49-F238E27FC236}">
                <a16:creationId xmlns:a16="http://schemas.microsoft.com/office/drawing/2014/main" id="{D719F6E2-CEB1-DFA1-0682-D8755962935E}"/>
              </a:ext>
            </a:extLst>
          </p:cNvPr>
          <p:cNvSpPr txBox="1">
            <a:spLocks/>
          </p:cNvSpPr>
          <p:nvPr/>
        </p:nvSpPr>
        <p:spPr>
          <a:xfrm>
            <a:off x="515477" y="914376"/>
            <a:ext cx="11088050" cy="307777"/>
          </a:xfrm>
          <a:prstGeom prst="rect">
            <a:avLst/>
          </a:prstGeom>
        </p:spPr>
        <p:txBody>
          <a:bodyPr/>
          <a:lst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solidFill>
                  <a:schemeClr val="bg1"/>
                </a:solidFill>
              </a:rPr>
              <a:t>Enable Natural Language Access to Enterprise Data and Insights</a:t>
            </a:r>
          </a:p>
        </p:txBody>
      </p:sp>
    </p:spTree>
    <p:extLst>
      <p:ext uri="{BB962C8B-B14F-4D97-AF65-F5344CB8AC3E}">
        <p14:creationId xmlns:p14="http://schemas.microsoft.com/office/powerpoint/2010/main" val="4129114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C7902-911B-EA6B-B69B-627B619021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1A33A7-B088-CF92-C3C5-C0772EADC242}"/>
              </a:ext>
            </a:extLst>
          </p:cNvPr>
          <p:cNvSpPr>
            <a:spLocks noGrp="1"/>
          </p:cNvSpPr>
          <p:nvPr>
            <p:ph type="title"/>
          </p:nvPr>
        </p:nvSpPr>
        <p:spPr>
          <a:xfrm>
            <a:off x="550387" y="53958"/>
            <a:ext cx="11088050" cy="930372"/>
          </a:xfrm>
        </p:spPr>
        <p:txBody>
          <a:bodyPr/>
          <a:lstStyle/>
          <a:p>
            <a:r>
              <a:rPr lang="en-IN" sz="3200" b="1" dirty="0">
                <a:solidFill>
                  <a:srgbClr val="0070C0"/>
                </a:solidFill>
              </a:rPr>
              <a:t>How User Questions Become Business Insights</a:t>
            </a:r>
            <a:endParaRPr lang="en-US" dirty="0"/>
          </a:p>
        </p:txBody>
      </p:sp>
      <p:sp>
        <p:nvSpPr>
          <p:cNvPr id="92" name="Title 1">
            <a:extLst>
              <a:ext uri="{FF2B5EF4-FFF2-40B4-BE49-F238E27FC236}">
                <a16:creationId xmlns:a16="http://schemas.microsoft.com/office/drawing/2014/main" id="{3856FFB2-3C10-E3D5-8849-F3B7AFD04F75}"/>
              </a:ext>
            </a:extLst>
          </p:cNvPr>
          <p:cNvSpPr txBox="1">
            <a:spLocks/>
          </p:cNvSpPr>
          <p:nvPr/>
        </p:nvSpPr>
        <p:spPr>
          <a:xfrm>
            <a:off x="457200" y="736652"/>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sz="3599">
              <a:solidFill>
                <a:srgbClr val="0070C0"/>
              </a:solidFill>
            </a:endParaRPr>
          </a:p>
        </p:txBody>
      </p:sp>
      <p:sp>
        <p:nvSpPr>
          <p:cNvPr id="128" name="Date Placeholder 127">
            <a:extLst>
              <a:ext uri="{FF2B5EF4-FFF2-40B4-BE49-F238E27FC236}">
                <a16:creationId xmlns:a16="http://schemas.microsoft.com/office/drawing/2014/main" id="{072607C7-10B1-350E-0D8B-713EC093F5FE}"/>
              </a:ext>
            </a:extLst>
          </p:cNvPr>
          <p:cNvSpPr>
            <a:spLocks noGrp="1"/>
          </p:cNvSpPr>
          <p:nvPr>
            <p:ph type="dt" sz="half" idx="10"/>
          </p:nvPr>
        </p:nvSpPr>
        <p:spPr>
          <a:xfrm>
            <a:off x="9807372" y="6650662"/>
            <a:ext cx="1830733" cy="123111"/>
          </a:xfrm>
        </p:spPr>
        <p:txBody>
          <a:bodyPr/>
          <a:lstStyle/>
          <a:p>
            <a:pPr>
              <a:spcBef>
                <a:spcPts val="1000"/>
              </a:spcBef>
            </a:pPr>
            <a:r>
              <a:rPr lang="en-IN"/>
              <a:t>Company Confidential © Capgemini 2026. All rights reserved.</a:t>
            </a:r>
            <a:endParaRPr lang="en-US"/>
          </a:p>
        </p:txBody>
      </p:sp>
      <p:sp>
        <p:nvSpPr>
          <p:cNvPr id="129" name="Footer Placeholder 128">
            <a:extLst>
              <a:ext uri="{FF2B5EF4-FFF2-40B4-BE49-F238E27FC236}">
                <a16:creationId xmlns:a16="http://schemas.microsoft.com/office/drawing/2014/main" id="{FF70E3BD-D874-B67E-1905-BC8BC75ADDED}"/>
              </a:ext>
            </a:extLst>
          </p:cNvPr>
          <p:cNvSpPr>
            <a:spLocks noGrp="1"/>
          </p:cNvSpPr>
          <p:nvPr>
            <p:ph type="ftr" sz="quarter" idx="11"/>
          </p:nvPr>
        </p:nvSpPr>
        <p:spPr>
          <a:xfrm>
            <a:off x="550719" y="6650662"/>
            <a:ext cx="4715296" cy="123111"/>
          </a:xfrm>
        </p:spPr>
        <p:txBody>
          <a:bodyPr/>
          <a:lstStyle/>
          <a:p>
            <a:pPr>
              <a:spcBef>
                <a:spcPts val="1000"/>
              </a:spcBef>
            </a:pPr>
            <a:r>
              <a:rPr lang="en-US"/>
              <a:t>AI Data Copilot - AskData</a:t>
            </a:r>
          </a:p>
        </p:txBody>
      </p:sp>
      <p:sp>
        <p:nvSpPr>
          <p:cNvPr id="130" name="Slide Number Placeholder 129">
            <a:extLst>
              <a:ext uri="{FF2B5EF4-FFF2-40B4-BE49-F238E27FC236}">
                <a16:creationId xmlns:a16="http://schemas.microsoft.com/office/drawing/2014/main" id="{C5558F2C-9A7E-F155-C393-AFF657A0693B}"/>
              </a:ext>
            </a:extLst>
          </p:cNvPr>
          <p:cNvSpPr>
            <a:spLocks noGrp="1"/>
          </p:cNvSpPr>
          <p:nvPr>
            <p:ph type="sldNum" sz="quarter" idx="12"/>
          </p:nvPr>
        </p:nvSpPr>
        <p:spPr>
          <a:xfrm>
            <a:off x="11775274" y="6650662"/>
            <a:ext cx="232604" cy="123111"/>
          </a:xfrm>
        </p:spPr>
        <p:txBody>
          <a:bodyPr/>
          <a:lstStyle/>
          <a:p>
            <a:pPr algn="r"/>
            <a:fld id="{5D9A5160-6218-4E5A-B9E6-B93E3DAE377C}" type="slidenum">
              <a:rPr lang="en-US" smtClean="0"/>
              <a:pPr algn="r"/>
              <a:t>5</a:t>
            </a:fld>
            <a:endParaRPr lang="en-US"/>
          </a:p>
        </p:txBody>
      </p:sp>
      <p:sp>
        <p:nvSpPr>
          <p:cNvPr id="146" name="Rectangle 145">
            <a:extLst>
              <a:ext uri="{FF2B5EF4-FFF2-40B4-BE49-F238E27FC236}">
                <a16:creationId xmlns:a16="http://schemas.microsoft.com/office/drawing/2014/main" id="{72029BD6-8A77-81E0-8D5E-1E03250EB545}"/>
              </a:ext>
            </a:extLst>
          </p:cNvPr>
          <p:cNvSpPr/>
          <p:nvPr/>
        </p:nvSpPr>
        <p:spPr>
          <a:xfrm>
            <a:off x="630714" y="1454897"/>
            <a:ext cx="1744012" cy="4644000"/>
          </a:xfrm>
          <a:prstGeom prst="rect">
            <a:avLst/>
          </a:prstGeom>
          <a:solidFill>
            <a:srgbClr val="3B82F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sz="1900" dirty="0">
                <a:solidFill>
                  <a:schemeClr val="bg1"/>
                </a:solidFill>
              </a:rPr>
              <a:t>User Layer</a:t>
            </a:r>
          </a:p>
        </p:txBody>
      </p:sp>
      <p:sp>
        <p:nvSpPr>
          <p:cNvPr id="147" name="Rectangle 146">
            <a:extLst>
              <a:ext uri="{FF2B5EF4-FFF2-40B4-BE49-F238E27FC236}">
                <a16:creationId xmlns:a16="http://schemas.microsoft.com/office/drawing/2014/main" id="{1F240960-7DE5-0981-FB65-DE6F548516F6}"/>
              </a:ext>
            </a:extLst>
          </p:cNvPr>
          <p:cNvSpPr>
            <a:spLocks noChangeAspect="1"/>
          </p:cNvSpPr>
          <p:nvPr/>
        </p:nvSpPr>
        <p:spPr>
          <a:xfrm>
            <a:off x="965820" y="3624040"/>
            <a:ext cx="1016456" cy="774859"/>
          </a:xfrm>
          <a:prstGeom prst="rect">
            <a:avLst/>
          </a:prstGeom>
          <a:solidFill>
            <a:srgbClr val="3B8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Natural Language Question</a:t>
            </a:r>
            <a:endParaRPr lang="en-US" sz="1100"/>
          </a:p>
        </p:txBody>
      </p:sp>
      <p:cxnSp>
        <p:nvCxnSpPr>
          <p:cNvPr id="148" name="Straight Arrow Connector 147">
            <a:extLst>
              <a:ext uri="{FF2B5EF4-FFF2-40B4-BE49-F238E27FC236}">
                <a16:creationId xmlns:a16="http://schemas.microsoft.com/office/drawing/2014/main" id="{F65D9EF5-8B83-5479-7A51-B57A141588F0}"/>
              </a:ext>
            </a:extLst>
          </p:cNvPr>
          <p:cNvCxnSpPr>
            <a:cxnSpLocks/>
            <a:endCxn id="147" idx="0"/>
          </p:cNvCxnSpPr>
          <p:nvPr/>
        </p:nvCxnSpPr>
        <p:spPr>
          <a:xfrm>
            <a:off x="1474048" y="3225678"/>
            <a:ext cx="0" cy="398362"/>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49" name="Rectangle 148">
            <a:extLst>
              <a:ext uri="{FF2B5EF4-FFF2-40B4-BE49-F238E27FC236}">
                <a16:creationId xmlns:a16="http://schemas.microsoft.com/office/drawing/2014/main" id="{8CA77EB0-3A90-7399-55BB-15E1D82DB558}"/>
              </a:ext>
            </a:extLst>
          </p:cNvPr>
          <p:cNvSpPr/>
          <p:nvPr/>
        </p:nvSpPr>
        <p:spPr>
          <a:xfrm>
            <a:off x="2583166" y="1454897"/>
            <a:ext cx="1650693" cy="4644000"/>
          </a:xfrm>
          <a:prstGeom prst="rect">
            <a:avLst/>
          </a:prstGeom>
          <a:solidFill>
            <a:srgbClr val="8B5CF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sz="1900">
                <a:solidFill>
                  <a:schemeClr val="bg1"/>
                </a:solidFill>
              </a:rPr>
              <a:t>Intelligence Layer</a:t>
            </a:r>
          </a:p>
        </p:txBody>
      </p:sp>
      <p:sp>
        <p:nvSpPr>
          <p:cNvPr id="150" name="Rectangle 149">
            <a:extLst>
              <a:ext uri="{FF2B5EF4-FFF2-40B4-BE49-F238E27FC236}">
                <a16:creationId xmlns:a16="http://schemas.microsoft.com/office/drawing/2014/main" id="{655C0CCC-15A2-4777-BA9D-60C6E1927939}"/>
              </a:ext>
            </a:extLst>
          </p:cNvPr>
          <p:cNvSpPr/>
          <p:nvPr/>
        </p:nvSpPr>
        <p:spPr>
          <a:xfrm>
            <a:off x="2900284" y="3624040"/>
            <a:ext cx="1016456" cy="774859"/>
          </a:xfrm>
          <a:prstGeom prst="rect">
            <a:avLst/>
          </a:prstGeom>
          <a:solidFill>
            <a:srgbClr val="8B5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Model Update</a:t>
            </a:r>
            <a:endParaRPr lang="en-US" sz="1100"/>
          </a:p>
        </p:txBody>
      </p:sp>
      <p:cxnSp>
        <p:nvCxnSpPr>
          <p:cNvPr id="151" name="Straight Arrow Connector 150">
            <a:extLst>
              <a:ext uri="{FF2B5EF4-FFF2-40B4-BE49-F238E27FC236}">
                <a16:creationId xmlns:a16="http://schemas.microsoft.com/office/drawing/2014/main" id="{A02C709E-F3E0-C0DC-40F4-68212D2008DA}"/>
              </a:ext>
            </a:extLst>
          </p:cNvPr>
          <p:cNvCxnSpPr>
            <a:cxnSpLocks/>
            <a:stCxn id="152" idx="2"/>
            <a:endCxn id="150" idx="0"/>
          </p:cNvCxnSpPr>
          <p:nvPr/>
        </p:nvCxnSpPr>
        <p:spPr>
          <a:xfrm>
            <a:off x="3408512" y="3018284"/>
            <a:ext cx="0" cy="605756"/>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52" name="Rectangle 151">
            <a:extLst>
              <a:ext uri="{FF2B5EF4-FFF2-40B4-BE49-F238E27FC236}">
                <a16:creationId xmlns:a16="http://schemas.microsoft.com/office/drawing/2014/main" id="{54A082B7-7D2B-C986-15A3-3E4911ABA472}"/>
              </a:ext>
            </a:extLst>
          </p:cNvPr>
          <p:cNvSpPr/>
          <p:nvPr/>
        </p:nvSpPr>
        <p:spPr>
          <a:xfrm>
            <a:off x="2900284" y="2243425"/>
            <a:ext cx="1016456" cy="774859"/>
          </a:xfrm>
          <a:prstGeom prst="rect">
            <a:avLst/>
          </a:prstGeom>
          <a:solidFill>
            <a:srgbClr val="8B5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Business Semantic Model Creation</a:t>
            </a:r>
            <a:endParaRPr lang="en-US" sz="1100"/>
          </a:p>
        </p:txBody>
      </p:sp>
      <p:sp>
        <p:nvSpPr>
          <p:cNvPr id="153" name="Rectangle 152">
            <a:extLst>
              <a:ext uri="{FF2B5EF4-FFF2-40B4-BE49-F238E27FC236}">
                <a16:creationId xmlns:a16="http://schemas.microsoft.com/office/drawing/2014/main" id="{37DF2CD3-6E01-608F-63CA-3BE5E8E646FE}"/>
              </a:ext>
            </a:extLst>
          </p:cNvPr>
          <p:cNvSpPr/>
          <p:nvPr/>
        </p:nvSpPr>
        <p:spPr>
          <a:xfrm>
            <a:off x="2900284" y="5004656"/>
            <a:ext cx="1016456" cy="774859"/>
          </a:xfrm>
          <a:prstGeom prst="rect">
            <a:avLst/>
          </a:prstGeom>
          <a:solidFill>
            <a:srgbClr val="8B5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SQL Generation + Metadata Enrichment</a:t>
            </a:r>
            <a:endParaRPr lang="en-US" sz="1100"/>
          </a:p>
        </p:txBody>
      </p:sp>
      <p:cxnSp>
        <p:nvCxnSpPr>
          <p:cNvPr id="154" name="Straight Arrow Connector 153">
            <a:extLst>
              <a:ext uri="{FF2B5EF4-FFF2-40B4-BE49-F238E27FC236}">
                <a16:creationId xmlns:a16="http://schemas.microsoft.com/office/drawing/2014/main" id="{66A39734-472E-F127-EE90-99F12E3765FA}"/>
              </a:ext>
            </a:extLst>
          </p:cNvPr>
          <p:cNvCxnSpPr>
            <a:cxnSpLocks/>
            <a:stCxn id="150" idx="2"/>
            <a:endCxn id="153" idx="0"/>
          </p:cNvCxnSpPr>
          <p:nvPr/>
        </p:nvCxnSpPr>
        <p:spPr>
          <a:xfrm>
            <a:off x="3408512" y="4398899"/>
            <a:ext cx="0" cy="605757"/>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55" name="Rectangle 154">
            <a:extLst>
              <a:ext uri="{FF2B5EF4-FFF2-40B4-BE49-F238E27FC236}">
                <a16:creationId xmlns:a16="http://schemas.microsoft.com/office/drawing/2014/main" id="{4E9F7A36-30A0-4318-4589-1C04D0AA2538}"/>
              </a:ext>
            </a:extLst>
          </p:cNvPr>
          <p:cNvSpPr/>
          <p:nvPr/>
        </p:nvSpPr>
        <p:spPr>
          <a:xfrm>
            <a:off x="4442299" y="1454897"/>
            <a:ext cx="3407146" cy="4644000"/>
          </a:xfrm>
          <a:prstGeom prst="rect">
            <a:avLst/>
          </a:prstGeom>
          <a:solidFill>
            <a:srgbClr val="14B8A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sz="1900">
                <a:solidFill>
                  <a:schemeClr val="bg1"/>
                </a:solidFill>
              </a:rPr>
              <a:t>Execution and Cache Layer</a:t>
            </a:r>
          </a:p>
        </p:txBody>
      </p:sp>
      <p:sp>
        <p:nvSpPr>
          <p:cNvPr id="156" name="Rectangle 155">
            <a:extLst>
              <a:ext uri="{FF2B5EF4-FFF2-40B4-BE49-F238E27FC236}">
                <a16:creationId xmlns:a16="http://schemas.microsoft.com/office/drawing/2014/main" id="{9CF69A5E-8329-2411-C366-79D9BA7E697E}"/>
              </a:ext>
            </a:extLst>
          </p:cNvPr>
          <p:cNvSpPr/>
          <p:nvPr/>
        </p:nvSpPr>
        <p:spPr>
          <a:xfrm>
            <a:off x="4621187" y="2857216"/>
            <a:ext cx="1016456" cy="774859"/>
          </a:xfrm>
          <a:prstGeom prst="rect">
            <a:avLst/>
          </a:prstGeom>
          <a:solidFill>
            <a:srgbClr val="14B8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Fetch Cached SQL</a:t>
            </a:r>
            <a:endParaRPr lang="en-US" sz="1100"/>
          </a:p>
        </p:txBody>
      </p:sp>
      <p:sp>
        <p:nvSpPr>
          <p:cNvPr id="157" name="Rectangle 156">
            <a:extLst>
              <a:ext uri="{FF2B5EF4-FFF2-40B4-BE49-F238E27FC236}">
                <a16:creationId xmlns:a16="http://schemas.microsoft.com/office/drawing/2014/main" id="{186DFD85-32CE-EA1A-AAFC-59E271AA06B1}"/>
              </a:ext>
            </a:extLst>
          </p:cNvPr>
          <p:cNvSpPr/>
          <p:nvPr/>
        </p:nvSpPr>
        <p:spPr>
          <a:xfrm>
            <a:off x="5637643" y="1878540"/>
            <a:ext cx="1016456" cy="774859"/>
          </a:xfrm>
          <a:prstGeom prst="rect">
            <a:avLst/>
          </a:prstGeom>
          <a:solidFill>
            <a:srgbClr val="14B8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Query Cache Check </a:t>
            </a:r>
            <a:endParaRPr lang="en-US" sz="1100"/>
          </a:p>
        </p:txBody>
      </p:sp>
      <p:sp>
        <p:nvSpPr>
          <p:cNvPr id="158" name="Rectangle 157">
            <a:extLst>
              <a:ext uri="{FF2B5EF4-FFF2-40B4-BE49-F238E27FC236}">
                <a16:creationId xmlns:a16="http://schemas.microsoft.com/office/drawing/2014/main" id="{9D8628C5-B1D3-9D3D-E02F-E3350268598A}"/>
              </a:ext>
            </a:extLst>
          </p:cNvPr>
          <p:cNvSpPr/>
          <p:nvPr/>
        </p:nvSpPr>
        <p:spPr>
          <a:xfrm>
            <a:off x="5637643" y="3899651"/>
            <a:ext cx="1016456" cy="774859"/>
          </a:xfrm>
          <a:prstGeom prst="rect">
            <a:avLst/>
          </a:prstGeom>
          <a:solidFill>
            <a:srgbClr val="14B8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SQL Generation + Metadata Enrichment</a:t>
            </a:r>
            <a:endParaRPr lang="en-US" sz="1100"/>
          </a:p>
        </p:txBody>
      </p:sp>
      <p:sp>
        <p:nvSpPr>
          <p:cNvPr id="159" name="Rectangle 158">
            <a:extLst>
              <a:ext uri="{FF2B5EF4-FFF2-40B4-BE49-F238E27FC236}">
                <a16:creationId xmlns:a16="http://schemas.microsoft.com/office/drawing/2014/main" id="{FE68D538-F618-DDD4-4C3B-A7882EE992BE}"/>
              </a:ext>
            </a:extLst>
          </p:cNvPr>
          <p:cNvSpPr/>
          <p:nvPr/>
        </p:nvSpPr>
        <p:spPr>
          <a:xfrm>
            <a:off x="6658893" y="2838248"/>
            <a:ext cx="1016456" cy="774859"/>
          </a:xfrm>
          <a:prstGeom prst="rect">
            <a:avLst/>
          </a:prstGeom>
          <a:solidFill>
            <a:srgbClr val="14B8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Generate SQL</a:t>
            </a:r>
            <a:endParaRPr lang="en-US" sz="1100"/>
          </a:p>
        </p:txBody>
      </p:sp>
      <p:cxnSp>
        <p:nvCxnSpPr>
          <p:cNvPr id="160" name="Elbow Connector 159">
            <a:extLst>
              <a:ext uri="{FF2B5EF4-FFF2-40B4-BE49-F238E27FC236}">
                <a16:creationId xmlns:a16="http://schemas.microsoft.com/office/drawing/2014/main" id="{AD60FD61-8863-1B48-525D-00BAF37D4EBE}"/>
              </a:ext>
            </a:extLst>
          </p:cNvPr>
          <p:cNvCxnSpPr>
            <a:cxnSpLocks/>
            <a:stCxn id="157" idx="1"/>
            <a:endCxn id="156" idx="0"/>
          </p:cNvCxnSpPr>
          <p:nvPr/>
        </p:nvCxnSpPr>
        <p:spPr>
          <a:xfrm rot="10800000" flipV="1">
            <a:off x="5129415" y="2265968"/>
            <a:ext cx="508228" cy="591247"/>
          </a:xfrm>
          <a:prstGeom prst="bentConnector2">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cxnSp>
        <p:nvCxnSpPr>
          <p:cNvPr id="173" name="Elbow Connector 172">
            <a:extLst>
              <a:ext uri="{FF2B5EF4-FFF2-40B4-BE49-F238E27FC236}">
                <a16:creationId xmlns:a16="http://schemas.microsoft.com/office/drawing/2014/main" id="{B30B6166-986B-5AD6-15B3-537DAF3DA13C}"/>
              </a:ext>
            </a:extLst>
          </p:cNvPr>
          <p:cNvCxnSpPr>
            <a:cxnSpLocks/>
            <a:stCxn id="157" idx="3"/>
          </p:cNvCxnSpPr>
          <p:nvPr/>
        </p:nvCxnSpPr>
        <p:spPr>
          <a:xfrm>
            <a:off x="6654099" y="2265969"/>
            <a:ext cx="527082" cy="578855"/>
          </a:xfrm>
          <a:prstGeom prst="bentConnector2">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cxnSp>
        <p:nvCxnSpPr>
          <p:cNvPr id="175" name="Elbow Connector 174">
            <a:extLst>
              <a:ext uri="{FF2B5EF4-FFF2-40B4-BE49-F238E27FC236}">
                <a16:creationId xmlns:a16="http://schemas.microsoft.com/office/drawing/2014/main" id="{0B16A478-C05C-3F73-A49E-5C041C206E1E}"/>
              </a:ext>
            </a:extLst>
          </p:cNvPr>
          <p:cNvCxnSpPr>
            <a:cxnSpLocks/>
            <a:stCxn id="156" idx="2"/>
            <a:endCxn id="158" idx="1"/>
          </p:cNvCxnSpPr>
          <p:nvPr/>
        </p:nvCxnSpPr>
        <p:spPr>
          <a:xfrm rot="16200000" flipH="1">
            <a:off x="5056027" y="3705463"/>
            <a:ext cx="655006" cy="508228"/>
          </a:xfrm>
          <a:prstGeom prst="bentConnector2">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cxnSp>
        <p:nvCxnSpPr>
          <p:cNvPr id="177" name="Elbow Connector 176">
            <a:extLst>
              <a:ext uri="{FF2B5EF4-FFF2-40B4-BE49-F238E27FC236}">
                <a16:creationId xmlns:a16="http://schemas.microsoft.com/office/drawing/2014/main" id="{3F279DA3-59FA-9619-FB31-4A6B14D61BC6}"/>
              </a:ext>
            </a:extLst>
          </p:cNvPr>
          <p:cNvCxnSpPr>
            <a:cxnSpLocks/>
            <a:stCxn id="159" idx="2"/>
            <a:endCxn id="158" idx="3"/>
          </p:cNvCxnSpPr>
          <p:nvPr/>
        </p:nvCxnSpPr>
        <p:spPr>
          <a:xfrm rot="5400000">
            <a:off x="6573623" y="3693583"/>
            <a:ext cx="673974" cy="513021"/>
          </a:xfrm>
          <a:prstGeom prst="bentConnector2">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79" name="Rectangle 178">
            <a:extLst>
              <a:ext uri="{FF2B5EF4-FFF2-40B4-BE49-F238E27FC236}">
                <a16:creationId xmlns:a16="http://schemas.microsoft.com/office/drawing/2014/main" id="{11CAC2B8-4EA2-F9F3-9DF6-199EED18AF8B}"/>
              </a:ext>
            </a:extLst>
          </p:cNvPr>
          <p:cNvSpPr/>
          <p:nvPr/>
        </p:nvSpPr>
        <p:spPr>
          <a:xfrm>
            <a:off x="5637643" y="5004656"/>
            <a:ext cx="1016456" cy="774859"/>
          </a:xfrm>
          <a:prstGeom prst="rect">
            <a:avLst/>
          </a:prstGeom>
          <a:solidFill>
            <a:srgbClr val="14B8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Retry &amp; Self-Heal</a:t>
            </a:r>
          </a:p>
        </p:txBody>
      </p:sp>
      <p:cxnSp>
        <p:nvCxnSpPr>
          <p:cNvPr id="180" name="Straight Arrow Connector 179">
            <a:extLst>
              <a:ext uri="{FF2B5EF4-FFF2-40B4-BE49-F238E27FC236}">
                <a16:creationId xmlns:a16="http://schemas.microsoft.com/office/drawing/2014/main" id="{645F0941-1852-78DD-12D7-6637C4513FB9}"/>
              </a:ext>
            </a:extLst>
          </p:cNvPr>
          <p:cNvCxnSpPr>
            <a:cxnSpLocks/>
            <a:stCxn id="158" idx="2"/>
            <a:endCxn id="179" idx="0"/>
          </p:cNvCxnSpPr>
          <p:nvPr/>
        </p:nvCxnSpPr>
        <p:spPr>
          <a:xfrm>
            <a:off x="6145871" y="4674510"/>
            <a:ext cx="0" cy="330146"/>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81" name="Rectangle 180">
            <a:extLst>
              <a:ext uri="{FF2B5EF4-FFF2-40B4-BE49-F238E27FC236}">
                <a16:creationId xmlns:a16="http://schemas.microsoft.com/office/drawing/2014/main" id="{5EB6300D-76EF-60C7-D42E-8D2643A0B323}"/>
              </a:ext>
            </a:extLst>
          </p:cNvPr>
          <p:cNvSpPr/>
          <p:nvPr/>
        </p:nvSpPr>
        <p:spPr>
          <a:xfrm>
            <a:off x="8057885" y="1454897"/>
            <a:ext cx="1650693" cy="4644000"/>
          </a:xfrm>
          <a:prstGeom prst="rect">
            <a:avLst/>
          </a:prstGeom>
          <a:solidFill>
            <a:srgbClr val="64748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sz="1900">
                <a:solidFill>
                  <a:schemeClr val="bg1"/>
                </a:solidFill>
              </a:rPr>
              <a:t>Data Layer</a:t>
            </a:r>
          </a:p>
        </p:txBody>
      </p:sp>
      <p:sp>
        <p:nvSpPr>
          <p:cNvPr id="182" name="Rectangle 181">
            <a:extLst>
              <a:ext uri="{FF2B5EF4-FFF2-40B4-BE49-F238E27FC236}">
                <a16:creationId xmlns:a16="http://schemas.microsoft.com/office/drawing/2014/main" id="{039B906E-3166-96C3-6A89-A4D316D54FDF}"/>
              </a:ext>
            </a:extLst>
          </p:cNvPr>
          <p:cNvSpPr/>
          <p:nvPr/>
        </p:nvSpPr>
        <p:spPr>
          <a:xfrm>
            <a:off x="8375003" y="3624040"/>
            <a:ext cx="1016456" cy="774859"/>
          </a:xfrm>
          <a:prstGeom prst="rect">
            <a:avLst/>
          </a:prstGeom>
          <a:solidFill>
            <a:srgbClr val="6474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Semantic Model Update</a:t>
            </a:r>
            <a:endParaRPr lang="en-US" sz="1100"/>
          </a:p>
        </p:txBody>
      </p:sp>
      <p:cxnSp>
        <p:nvCxnSpPr>
          <p:cNvPr id="183" name="Straight Arrow Connector 182">
            <a:extLst>
              <a:ext uri="{FF2B5EF4-FFF2-40B4-BE49-F238E27FC236}">
                <a16:creationId xmlns:a16="http://schemas.microsoft.com/office/drawing/2014/main" id="{FE6B7BF8-5305-379F-EEAD-F3B2153DD4EF}"/>
              </a:ext>
            </a:extLst>
          </p:cNvPr>
          <p:cNvCxnSpPr>
            <a:cxnSpLocks/>
            <a:stCxn id="184" idx="2"/>
            <a:endCxn id="182" idx="0"/>
          </p:cNvCxnSpPr>
          <p:nvPr/>
        </p:nvCxnSpPr>
        <p:spPr>
          <a:xfrm>
            <a:off x="8883231" y="3018284"/>
            <a:ext cx="0" cy="605756"/>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84" name="Rectangle 183">
            <a:extLst>
              <a:ext uri="{FF2B5EF4-FFF2-40B4-BE49-F238E27FC236}">
                <a16:creationId xmlns:a16="http://schemas.microsoft.com/office/drawing/2014/main" id="{AD281D44-F939-6380-2AF6-F36D183F56D8}"/>
              </a:ext>
            </a:extLst>
          </p:cNvPr>
          <p:cNvSpPr/>
          <p:nvPr/>
        </p:nvSpPr>
        <p:spPr>
          <a:xfrm>
            <a:off x="8375003" y="2243425"/>
            <a:ext cx="1016456" cy="774859"/>
          </a:xfrm>
          <a:prstGeom prst="rect">
            <a:avLst/>
          </a:prstGeom>
          <a:solidFill>
            <a:srgbClr val="6474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Semantic Model Lookup</a:t>
            </a:r>
            <a:endParaRPr lang="en-US" sz="1100"/>
          </a:p>
        </p:txBody>
      </p:sp>
      <p:sp>
        <p:nvSpPr>
          <p:cNvPr id="185" name="Rectangle 184">
            <a:extLst>
              <a:ext uri="{FF2B5EF4-FFF2-40B4-BE49-F238E27FC236}">
                <a16:creationId xmlns:a16="http://schemas.microsoft.com/office/drawing/2014/main" id="{D43E4CF2-A803-6A30-284B-A721EA3A1862}"/>
              </a:ext>
            </a:extLst>
          </p:cNvPr>
          <p:cNvSpPr/>
          <p:nvPr/>
        </p:nvSpPr>
        <p:spPr>
          <a:xfrm>
            <a:off x="8375003" y="5004656"/>
            <a:ext cx="1016456" cy="774859"/>
          </a:xfrm>
          <a:prstGeom prst="rect">
            <a:avLst/>
          </a:prstGeom>
          <a:solidFill>
            <a:srgbClr val="6474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SQL Generation + Metadata Enrichment</a:t>
            </a:r>
            <a:endParaRPr lang="en-US" sz="1100"/>
          </a:p>
        </p:txBody>
      </p:sp>
      <p:cxnSp>
        <p:nvCxnSpPr>
          <p:cNvPr id="186" name="Straight Arrow Connector 185">
            <a:extLst>
              <a:ext uri="{FF2B5EF4-FFF2-40B4-BE49-F238E27FC236}">
                <a16:creationId xmlns:a16="http://schemas.microsoft.com/office/drawing/2014/main" id="{D1973B46-162D-D5C7-C5D7-99A135587F3C}"/>
              </a:ext>
            </a:extLst>
          </p:cNvPr>
          <p:cNvCxnSpPr>
            <a:cxnSpLocks/>
            <a:stCxn id="182" idx="2"/>
            <a:endCxn id="185" idx="0"/>
          </p:cNvCxnSpPr>
          <p:nvPr/>
        </p:nvCxnSpPr>
        <p:spPr>
          <a:xfrm>
            <a:off x="8883231" y="4398899"/>
            <a:ext cx="0" cy="605757"/>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87" name="Rectangle 186">
            <a:extLst>
              <a:ext uri="{FF2B5EF4-FFF2-40B4-BE49-F238E27FC236}">
                <a16:creationId xmlns:a16="http://schemas.microsoft.com/office/drawing/2014/main" id="{FE98C85A-E414-541E-FB74-5C365DAB52FD}"/>
              </a:ext>
            </a:extLst>
          </p:cNvPr>
          <p:cNvSpPr/>
          <p:nvPr/>
        </p:nvSpPr>
        <p:spPr>
          <a:xfrm>
            <a:off x="9917018" y="1454897"/>
            <a:ext cx="1650693" cy="4644000"/>
          </a:xfrm>
          <a:prstGeom prst="rect">
            <a:avLst/>
          </a:prstGeom>
          <a:solidFill>
            <a:srgbClr val="F59E0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r>
              <a:rPr lang="en-US" dirty="0">
                <a:solidFill>
                  <a:schemeClr val="bg1"/>
                </a:solidFill>
              </a:rPr>
              <a:t>Visualization Layer</a:t>
            </a:r>
          </a:p>
        </p:txBody>
      </p:sp>
      <p:sp>
        <p:nvSpPr>
          <p:cNvPr id="188" name="Rectangle 187">
            <a:extLst>
              <a:ext uri="{FF2B5EF4-FFF2-40B4-BE49-F238E27FC236}">
                <a16:creationId xmlns:a16="http://schemas.microsoft.com/office/drawing/2014/main" id="{9DB10A4C-4456-91B7-3628-FCAA76642C60}"/>
              </a:ext>
            </a:extLst>
          </p:cNvPr>
          <p:cNvSpPr/>
          <p:nvPr/>
        </p:nvSpPr>
        <p:spPr>
          <a:xfrm>
            <a:off x="10228070" y="3624040"/>
            <a:ext cx="1016456" cy="774859"/>
          </a:xfrm>
          <a:prstGeom prst="rect">
            <a:avLst/>
          </a:prstGeom>
          <a:solidFill>
            <a:srgbClr val="F59E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AI Analysis</a:t>
            </a:r>
            <a:endParaRPr lang="en-US" sz="1100"/>
          </a:p>
        </p:txBody>
      </p:sp>
      <p:cxnSp>
        <p:nvCxnSpPr>
          <p:cNvPr id="189" name="Straight Arrow Connector 188">
            <a:extLst>
              <a:ext uri="{FF2B5EF4-FFF2-40B4-BE49-F238E27FC236}">
                <a16:creationId xmlns:a16="http://schemas.microsoft.com/office/drawing/2014/main" id="{FFB22EB7-F60A-3836-8C87-BD687D0B5CF1}"/>
              </a:ext>
            </a:extLst>
          </p:cNvPr>
          <p:cNvCxnSpPr>
            <a:cxnSpLocks/>
            <a:stCxn id="190" idx="2"/>
            <a:endCxn id="188" idx="0"/>
          </p:cNvCxnSpPr>
          <p:nvPr/>
        </p:nvCxnSpPr>
        <p:spPr>
          <a:xfrm>
            <a:off x="10736298" y="3018284"/>
            <a:ext cx="0" cy="605756"/>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sp>
        <p:nvSpPr>
          <p:cNvPr id="190" name="Rectangle 189">
            <a:extLst>
              <a:ext uri="{FF2B5EF4-FFF2-40B4-BE49-F238E27FC236}">
                <a16:creationId xmlns:a16="http://schemas.microsoft.com/office/drawing/2014/main" id="{42B5AC2D-03F7-3941-B2AC-412EECF9068F}"/>
              </a:ext>
            </a:extLst>
          </p:cNvPr>
          <p:cNvSpPr/>
          <p:nvPr/>
        </p:nvSpPr>
        <p:spPr>
          <a:xfrm>
            <a:off x="10228070" y="2243425"/>
            <a:ext cx="1016456" cy="774859"/>
          </a:xfrm>
          <a:prstGeom prst="rect">
            <a:avLst/>
          </a:prstGeom>
          <a:solidFill>
            <a:srgbClr val="F59E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Results &amp; Charts</a:t>
            </a:r>
            <a:endParaRPr lang="en-US" sz="1100"/>
          </a:p>
        </p:txBody>
      </p:sp>
      <p:sp>
        <p:nvSpPr>
          <p:cNvPr id="197" name="Rectangle 196">
            <a:extLst>
              <a:ext uri="{FF2B5EF4-FFF2-40B4-BE49-F238E27FC236}">
                <a16:creationId xmlns:a16="http://schemas.microsoft.com/office/drawing/2014/main" id="{CE97F4D7-D991-403B-D797-31B6F8C84FB6}"/>
              </a:ext>
            </a:extLst>
          </p:cNvPr>
          <p:cNvSpPr/>
          <p:nvPr/>
        </p:nvSpPr>
        <p:spPr>
          <a:xfrm>
            <a:off x="10228070" y="5004656"/>
            <a:ext cx="1016456" cy="774859"/>
          </a:xfrm>
          <a:prstGeom prst="rect">
            <a:avLst/>
          </a:prstGeom>
          <a:solidFill>
            <a:srgbClr val="F59E0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t>Insights</a:t>
            </a:r>
            <a:endParaRPr lang="en-US" sz="1100"/>
          </a:p>
        </p:txBody>
      </p:sp>
      <p:cxnSp>
        <p:nvCxnSpPr>
          <p:cNvPr id="198" name="Straight Arrow Connector 197">
            <a:extLst>
              <a:ext uri="{FF2B5EF4-FFF2-40B4-BE49-F238E27FC236}">
                <a16:creationId xmlns:a16="http://schemas.microsoft.com/office/drawing/2014/main" id="{4580C435-DE81-1EC7-6459-572803BCD579}"/>
              </a:ext>
            </a:extLst>
          </p:cNvPr>
          <p:cNvCxnSpPr>
            <a:cxnSpLocks/>
            <a:stCxn id="188" idx="2"/>
            <a:endCxn id="197" idx="0"/>
          </p:cNvCxnSpPr>
          <p:nvPr/>
        </p:nvCxnSpPr>
        <p:spPr>
          <a:xfrm>
            <a:off x="10736298" y="4398899"/>
            <a:ext cx="0" cy="605757"/>
          </a:xfrm>
          <a:prstGeom prst="straightConnector1">
            <a:avLst/>
          </a:prstGeom>
          <a:ln>
            <a:solidFill>
              <a:srgbClr val="94A3B8"/>
            </a:solidFill>
            <a:tailEnd type="triangle"/>
          </a:ln>
        </p:spPr>
        <p:style>
          <a:lnRef idx="2">
            <a:schemeClr val="accent1"/>
          </a:lnRef>
          <a:fillRef idx="0">
            <a:schemeClr val="accent1"/>
          </a:fillRef>
          <a:effectRef idx="1">
            <a:schemeClr val="accent1"/>
          </a:effectRef>
          <a:fontRef idx="minor">
            <a:schemeClr val="tx1"/>
          </a:fontRef>
        </p:style>
      </p:cxnSp>
      <p:pic>
        <p:nvPicPr>
          <p:cNvPr id="214" name="Graphic 213" descr="Social network with solid fill">
            <a:extLst>
              <a:ext uri="{FF2B5EF4-FFF2-40B4-BE49-F238E27FC236}">
                <a16:creationId xmlns:a16="http://schemas.microsoft.com/office/drawing/2014/main" id="{2E0BB5FF-1769-75D7-4834-0B8AEEC8E2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8514" y="2213311"/>
            <a:ext cx="914400" cy="914400"/>
          </a:xfrm>
          <a:prstGeom prst="rect">
            <a:avLst/>
          </a:prstGeom>
        </p:spPr>
      </p:pic>
    </p:spTree>
    <p:extLst>
      <p:ext uri="{BB962C8B-B14F-4D97-AF65-F5344CB8AC3E}">
        <p14:creationId xmlns:p14="http://schemas.microsoft.com/office/powerpoint/2010/main" val="2487658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FC0C878-6506-27AF-6056-E836FD5A8B51}"/>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6A00F7D7-3D57-B743-BC1C-A89B87B73DEE}"/>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9C2A3E28-1E48-0824-14E8-2E1BF8CCBEFE}"/>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6" name="Title 3">
            <a:extLst>
              <a:ext uri="{FF2B5EF4-FFF2-40B4-BE49-F238E27FC236}">
                <a16:creationId xmlns:a16="http://schemas.microsoft.com/office/drawing/2014/main" id="{DC8F76C3-AEB9-6B54-AB51-E6642575B81D}"/>
              </a:ext>
            </a:extLst>
          </p:cNvPr>
          <p:cNvSpPr txBox="1">
            <a:spLocks/>
          </p:cNvSpPr>
          <p:nvPr/>
        </p:nvSpPr>
        <p:spPr>
          <a:xfrm>
            <a:off x="550387" y="53958"/>
            <a:ext cx="11088050" cy="930372"/>
          </a:xfrm>
          <a:prstGeom prst="rect">
            <a:avLst/>
          </a:prstGeom>
        </p:spPr>
        <p:txBody>
          <a:bodyPr vert="horz" lIns="0" tIns="0" rIns="0" bIns="126000" rtlCol="0" anchor="b" anchorCtr="0">
            <a:no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r>
              <a:rPr lang="en-IN" sz="3200" b="1" dirty="0">
                <a:solidFill>
                  <a:srgbClr val="0070C0"/>
                </a:solidFill>
              </a:rPr>
              <a:t>Solution Framework</a:t>
            </a:r>
          </a:p>
        </p:txBody>
      </p:sp>
      <p:sp>
        <p:nvSpPr>
          <p:cNvPr id="7" name="Rounded Rectangle 6">
            <a:extLst>
              <a:ext uri="{FF2B5EF4-FFF2-40B4-BE49-F238E27FC236}">
                <a16:creationId xmlns:a16="http://schemas.microsoft.com/office/drawing/2014/main" id="{829165E7-AD73-7968-1D5D-C78CBECCAB21}"/>
              </a:ext>
            </a:extLst>
          </p:cNvPr>
          <p:cNvSpPr/>
          <p:nvPr/>
        </p:nvSpPr>
        <p:spPr>
          <a:xfrm>
            <a:off x="255905" y="1606388"/>
            <a:ext cx="11750040" cy="914400"/>
          </a:xfrm>
          <a:prstGeom prst="roundRect">
            <a:avLst/>
          </a:prstGeom>
          <a:solidFill>
            <a:srgbClr val="3B82F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endParaRPr sz="1900">
              <a:solidFill>
                <a:schemeClr val="bg1"/>
              </a:solidFill>
            </a:endParaRPr>
          </a:p>
        </p:txBody>
      </p:sp>
      <p:sp>
        <p:nvSpPr>
          <p:cNvPr id="8" name="Rounded Rectangle 7">
            <a:extLst>
              <a:ext uri="{FF2B5EF4-FFF2-40B4-BE49-F238E27FC236}">
                <a16:creationId xmlns:a16="http://schemas.microsoft.com/office/drawing/2014/main" id="{31C9FDB5-6AF5-D489-F7CA-3C578B997D70}"/>
              </a:ext>
            </a:extLst>
          </p:cNvPr>
          <p:cNvSpPr/>
          <p:nvPr/>
        </p:nvSpPr>
        <p:spPr>
          <a:xfrm>
            <a:off x="255905" y="1606388"/>
            <a:ext cx="1325880" cy="914400"/>
          </a:xfrm>
          <a:prstGeom prst="round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854F03E-1C44-4F17-BAEC-EB401687DF0E}"/>
              </a:ext>
            </a:extLst>
          </p:cNvPr>
          <p:cNvSpPr txBox="1"/>
          <p:nvPr/>
        </p:nvSpPr>
        <p:spPr>
          <a:xfrm>
            <a:off x="283337" y="1932783"/>
            <a:ext cx="1280160" cy="261610"/>
          </a:xfrm>
          <a:prstGeom prst="rect">
            <a:avLst/>
          </a:prstGeom>
          <a:noFill/>
        </p:spPr>
        <p:txBody>
          <a:bodyPr wrap="square">
            <a:spAutoFit/>
          </a:bodyPr>
          <a:lstStyle/>
          <a:p>
            <a:pPr algn="ctr"/>
            <a:r>
              <a:rPr lang="en-IN" sz="1100" b="1" i="0">
                <a:solidFill>
                  <a:schemeClr val="bg1"/>
                </a:solidFill>
              </a:rPr>
              <a:t>INPUT LAYER</a:t>
            </a:r>
          </a:p>
        </p:txBody>
      </p:sp>
      <p:sp>
        <p:nvSpPr>
          <p:cNvPr id="10" name="Rounded Rectangle 9">
            <a:extLst>
              <a:ext uri="{FF2B5EF4-FFF2-40B4-BE49-F238E27FC236}">
                <a16:creationId xmlns:a16="http://schemas.microsoft.com/office/drawing/2014/main" id="{9D51AE7C-F895-E8BA-C87A-47DB21D1B33B}"/>
              </a:ext>
            </a:extLst>
          </p:cNvPr>
          <p:cNvSpPr/>
          <p:nvPr/>
        </p:nvSpPr>
        <p:spPr>
          <a:xfrm>
            <a:off x="1718945" y="1697828"/>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96CDCA8-AB62-9A4B-790D-ACDA67AB71F6}"/>
              </a:ext>
            </a:extLst>
          </p:cNvPr>
          <p:cNvSpPr txBox="1"/>
          <p:nvPr/>
        </p:nvSpPr>
        <p:spPr>
          <a:xfrm>
            <a:off x="1764665" y="1743548"/>
            <a:ext cx="365760" cy="320040"/>
          </a:xfrm>
          <a:prstGeom prst="rect">
            <a:avLst/>
          </a:prstGeom>
          <a:noFill/>
        </p:spPr>
        <p:txBody>
          <a:bodyPr wrap="square">
            <a:spAutoFit/>
          </a:bodyPr>
          <a:lstStyle/>
          <a:p>
            <a:pPr algn="ctr"/>
            <a:r>
              <a:rPr sz="1800" b="0" i="0">
                <a:solidFill>
                  <a:srgbClr val="FFFFFF"/>
                </a:solidFill>
              </a:rPr>
              <a:t>💬</a:t>
            </a:r>
          </a:p>
        </p:txBody>
      </p:sp>
      <p:sp>
        <p:nvSpPr>
          <p:cNvPr id="12" name="TextBox 11">
            <a:extLst>
              <a:ext uri="{FF2B5EF4-FFF2-40B4-BE49-F238E27FC236}">
                <a16:creationId xmlns:a16="http://schemas.microsoft.com/office/drawing/2014/main" id="{554C06F9-A1C5-3955-B001-1C00EFDBABCF}"/>
              </a:ext>
            </a:extLst>
          </p:cNvPr>
          <p:cNvSpPr txBox="1"/>
          <p:nvPr/>
        </p:nvSpPr>
        <p:spPr>
          <a:xfrm>
            <a:off x="1792097" y="1770980"/>
            <a:ext cx="1828800" cy="274320"/>
          </a:xfrm>
          <a:prstGeom prst="rect">
            <a:avLst/>
          </a:prstGeom>
          <a:noFill/>
        </p:spPr>
        <p:txBody>
          <a:bodyPr wrap="square">
            <a:spAutoFit/>
          </a:bodyPr>
          <a:lstStyle/>
          <a:p>
            <a:pPr algn="ctr"/>
            <a:r>
              <a:rPr sz="900" b="1" i="0">
                <a:solidFill>
                  <a:srgbClr val="4FC3F7"/>
                </a:solidFill>
              </a:rPr>
              <a:t>Natural Language
Query</a:t>
            </a:r>
          </a:p>
        </p:txBody>
      </p:sp>
      <p:sp>
        <p:nvSpPr>
          <p:cNvPr id="13" name="TextBox 12">
            <a:extLst>
              <a:ext uri="{FF2B5EF4-FFF2-40B4-BE49-F238E27FC236}">
                <a16:creationId xmlns:a16="http://schemas.microsoft.com/office/drawing/2014/main" id="{676083C4-55A6-3040-26B3-BE6EFDAD17B8}"/>
              </a:ext>
            </a:extLst>
          </p:cNvPr>
          <p:cNvSpPr txBox="1"/>
          <p:nvPr/>
        </p:nvSpPr>
        <p:spPr>
          <a:xfrm>
            <a:off x="1792097" y="2173316"/>
            <a:ext cx="1828800" cy="256032"/>
          </a:xfrm>
          <a:prstGeom prst="rect">
            <a:avLst/>
          </a:prstGeom>
          <a:noFill/>
          <a:ln>
            <a:noFill/>
          </a:ln>
        </p:spPr>
        <p:txBody>
          <a:bodyPr wrap="square">
            <a:spAutoFit/>
          </a:bodyPr>
          <a:lstStyle/>
          <a:p>
            <a:pPr algn="ctr"/>
            <a:r>
              <a:rPr sz="700" b="0" i="0">
                <a:solidFill>
                  <a:srgbClr val="B0BEC5"/>
                </a:solidFill>
              </a:rPr>
              <a:t>User asks in plain English</a:t>
            </a:r>
          </a:p>
        </p:txBody>
      </p:sp>
      <p:sp>
        <p:nvSpPr>
          <p:cNvPr id="14" name="TextBox 13">
            <a:extLst>
              <a:ext uri="{FF2B5EF4-FFF2-40B4-BE49-F238E27FC236}">
                <a16:creationId xmlns:a16="http://schemas.microsoft.com/office/drawing/2014/main" id="{3D79C824-917A-BDB7-0BA1-54C4D7776DF0}"/>
              </a:ext>
            </a:extLst>
          </p:cNvPr>
          <p:cNvSpPr txBox="1"/>
          <p:nvPr/>
        </p:nvSpPr>
        <p:spPr>
          <a:xfrm>
            <a:off x="4661027" y="1935572"/>
            <a:ext cx="228600" cy="274320"/>
          </a:xfrm>
          <a:prstGeom prst="rect">
            <a:avLst/>
          </a:prstGeom>
          <a:noFill/>
        </p:spPr>
        <p:txBody>
          <a:bodyPr wrap="square">
            <a:spAutoFit/>
          </a:bodyPr>
          <a:lstStyle/>
          <a:p>
            <a:pPr algn="ctr"/>
            <a:r>
              <a:rPr sz="1200" b="0" i="0">
                <a:solidFill>
                  <a:srgbClr val="22C55E"/>
                </a:solidFill>
              </a:rPr>
              <a:t>→</a:t>
            </a:r>
          </a:p>
        </p:txBody>
      </p:sp>
      <p:sp>
        <p:nvSpPr>
          <p:cNvPr id="15" name="Rounded Rectangle 14">
            <a:extLst>
              <a:ext uri="{FF2B5EF4-FFF2-40B4-BE49-F238E27FC236}">
                <a16:creationId xmlns:a16="http://schemas.microsoft.com/office/drawing/2014/main" id="{301C9D4D-89AB-9266-A732-C51E671D265A}"/>
              </a:ext>
            </a:extLst>
          </p:cNvPr>
          <p:cNvSpPr/>
          <p:nvPr/>
        </p:nvSpPr>
        <p:spPr>
          <a:xfrm>
            <a:off x="5902324" y="1697828"/>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A1D5D5C0-E19F-B455-1501-8A9A36C4CA8D}"/>
              </a:ext>
            </a:extLst>
          </p:cNvPr>
          <p:cNvSpPr txBox="1"/>
          <p:nvPr/>
        </p:nvSpPr>
        <p:spPr>
          <a:xfrm>
            <a:off x="5948044" y="1743548"/>
            <a:ext cx="365760" cy="320040"/>
          </a:xfrm>
          <a:prstGeom prst="rect">
            <a:avLst/>
          </a:prstGeom>
          <a:noFill/>
        </p:spPr>
        <p:txBody>
          <a:bodyPr wrap="square">
            <a:spAutoFit/>
          </a:bodyPr>
          <a:lstStyle/>
          <a:p>
            <a:pPr algn="ctr"/>
            <a:r>
              <a:rPr sz="1800" b="0" i="0">
                <a:solidFill>
                  <a:srgbClr val="FFFFFF"/>
                </a:solidFill>
              </a:rPr>
              <a:t>📂</a:t>
            </a:r>
          </a:p>
        </p:txBody>
      </p:sp>
      <p:sp>
        <p:nvSpPr>
          <p:cNvPr id="17" name="TextBox 16">
            <a:extLst>
              <a:ext uri="{FF2B5EF4-FFF2-40B4-BE49-F238E27FC236}">
                <a16:creationId xmlns:a16="http://schemas.microsoft.com/office/drawing/2014/main" id="{0BDB3E34-C188-DD7E-524A-5C1620DF81D3}"/>
              </a:ext>
            </a:extLst>
          </p:cNvPr>
          <p:cNvSpPr txBox="1"/>
          <p:nvPr/>
        </p:nvSpPr>
        <p:spPr>
          <a:xfrm>
            <a:off x="5975476" y="1770980"/>
            <a:ext cx="1828800" cy="274320"/>
          </a:xfrm>
          <a:prstGeom prst="rect">
            <a:avLst/>
          </a:prstGeom>
          <a:noFill/>
        </p:spPr>
        <p:txBody>
          <a:bodyPr wrap="square">
            <a:spAutoFit/>
          </a:bodyPr>
          <a:lstStyle/>
          <a:p>
            <a:pPr algn="ctr"/>
            <a:r>
              <a:rPr sz="900" b="1" i="0">
                <a:solidFill>
                  <a:srgbClr val="4FC3F7"/>
                </a:solidFill>
              </a:rPr>
              <a:t>Multi-format
Data Upload</a:t>
            </a:r>
          </a:p>
        </p:txBody>
      </p:sp>
      <p:sp>
        <p:nvSpPr>
          <p:cNvPr id="18" name="TextBox 17">
            <a:extLst>
              <a:ext uri="{FF2B5EF4-FFF2-40B4-BE49-F238E27FC236}">
                <a16:creationId xmlns:a16="http://schemas.microsoft.com/office/drawing/2014/main" id="{65F6DEDB-0656-156C-1491-0CFA453A3E1B}"/>
              </a:ext>
            </a:extLst>
          </p:cNvPr>
          <p:cNvSpPr txBox="1"/>
          <p:nvPr/>
        </p:nvSpPr>
        <p:spPr>
          <a:xfrm>
            <a:off x="5975476" y="2173316"/>
            <a:ext cx="1828800" cy="256032"/>
          </a:xfrm>
          <a:prstGeom prst="rect">
            <a:avLst/>
          </a:prstGeom>
          <a:noFill/>
        </p:spPr>
        <p:txBody>
          <a:bodyPr wrap="square">
            <a:spAutoFit/>
          </a:bodyPr>
          <a:lstStyle/>
          <a:p>
            <a:pPr algn="ctr"/>
            <a:r>
              <a:rPr sz="700" b="0" i="0">
                <a:solidFill>
                  <a:srgbClr val="B0BEC5"/>
                </a:solidFill>
              </a:rPr>
              <a:t>CSV · Excel · JSON · Parquet</a:t>
            </a:r>
          </a:p>
        </p:txBody>
      </p:sp>
      <p:sp>
        <p:nvSpPr>
          <p:cNvPr id="19" name="TextBox 18">
            <a:extLst>
              <a:ext uri="{FF2B5EF4-FFF2-40B4-BE49-F238E27FC236}">
                <a16:creationId xmlns:a16="http://schemas.microsoft.com/office/drawing/2014/main" id="{E30774DE-36B5-5391-745F-1C7DF6DD9EDB}"/>
              </a:ext>
            </a:extLst>
          </p:cNvPr>
          <p:cNvSpPr txBox="1"/>
          <p:nvPr/>
        </p:nvSpPr>
        <p:spPr>
          <a:xfrm>
            <a:off x="8844407" y="1935572"/>
            <a:ext cx="228600" cy="274320"/>
          </a:xfrm>
          <a:prstGeom prst="rect">
            <a:avLst/>
          </a:prstGeom>
          <a:noFill/>
        </p:spPr>
        <p:txBody>
          <a:bodyPr wrap="square">
            <a:spAutoFit/>
          </a:bodyPr>
          <a:lstStyle/>
          <a:p>
            <a:pPr algn="ctr"/>
            <a:r>
              <a:rPr sz="1200" b="0" i="0">
                <a:solidFill>
                  <a:srgbClr val="22C55E"/>
                </a:solidFill>
              </a:rPr>
              <a:t>→</a:t>
            </a:r>
          </a:p>
        </p:txBody>
      </p:sp>
      <p:sp>
        <p:nvSpPr>
          <p:cNvPr id="20" name="Rounded Rectangle 19">
            <a:extLst>
              <a:ext uri="{FF2B5EF4-FFF2-40B4-BE49-F238E27FC236}">
                <a16:creationId xmlns:a16="http://schemas.microsoft.com/office/drawing/2014/main" id="{073D1B92-7DCE-4F4D-6EEB-25E2DE14A1F6}"/>
              </a:ext>
            </a:extLst>
          </p:cNvPr>
          <p:cNvSpPr/>
          <p:nvPr/>
        </p:nvSpPr>
        <p:spPr>
          <a:xfrm>
            <a:off x="10085704" y="1697828"/>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9343E07D-F44F-D975-C9E9-D5DF99091944}"/>
              </a:ext>
            </a:extLst>
          </p:cNvPr>
          <p:cNvSpPr txBox="1"/>
          <p:nvPr/>
        </p:nvSpPr>
        <p:spPr>
          <a:xfrm>
            <a:off x="10131424" y="1743548"/>
            <a:ext cx="365760" cy="320040"/>
          </a:xfrm>
          <a:prstGeom prst="rect">
            <a:avLst/>
          </a:prstGeom>
          <a:noFill/>
        </p:spPr>
        <p:txBody>
          <a:bodyPr wrap="square">
            <a:spAutoFit/>
          </a:bodyPr>
          <a:lstStyle/>
          <a:p>
            <a:pPr algn="ctr"/>
            <a:r>
              <a:rPr sz="1800" b="0" i="0">
                <a:solidFill>
                  <a:srgbClr val="FFFFFF"/>
                </a:solidFill>
              </a:rPr>
              <a:t>⚙️</a:t>
            </a:r>
          </a:p>
        </p:txBody>
      </p:sp>
      <p:sp>
        <p:nvSpPr>
          <p:cNvPr id="22" name="TextBox 21">
            <a:extLst>
              <a:ext uri="{FF2B5EF4-FFF2-40B4-BE49-F238E27FC236}">
                <a16:creationId xmlns:a16="http://schemas.microsoft.com/office/drawing/2014/main" id="{39684591-7262-09B3-6D90-48E994DEF109}"/>
              </a:ext>
            </a:extLst>
          </p:cNvPr>
          <p:cNvSpPr txBox="1"/>
          <p:nvPr/>
        </p:nvSpPr>
        <p:spPr>
          <a:xfrm>
            <a:off x="10158856" y="1770980"/>
            <a:ext cx="1828800" cy="274320"/>
          </a:xfrm>
          <a:prstGeom prst="rect">
            <a:avLst/>
          </a:prstGeom>
          <a:noFill/>
        </p:spPr>
        <p:txBody>
          <a:bodyPr wrap="square">
            <a:spAutoFit/>
          </a:bodyPr>
          <a:lstStyle/>
          <a:p>
            <a:pPr algn="ctr"/>
            <a:r>
              <a:rPr sz="900" b="1" i="0">
                <a:solidFill>
                  <a:srgbClr val="4FC3F7"/>
                </a:solidFill>
              </a:rPr>
              <a:t>Config JSON
Loader</a:t>
            </a:r>
          </a:p>
        </p:txBody>
      </p:sp>
      <p:sp>
        <p:nvSpPr>
          <p:cNvPr id="23" name="TextBox 22">
            <a:extLst>
              <a:ext uri="{FF2B5EF4-FFF2-40B4-BE49-F238E27FC236}">
                <a16:creationId xmlns:a16="http://schemas.microsoft.com/office/drawing/2014/main" id="{76EAD171-D2E1-0C7E-EF91-B0BDB7C9DAEF}"/>
              </a:ext>
            </a:extLst>
          </p:cNvPr>
          <p:cNvSpPr txBox="1"/>
          <p:nvPr/>
        </p:nvSpPr>
        <p:spPr>
          <a:xfrm>
            <a:off x="10158856" y="2173316"/>
            <a:ext cx="1828800" cy="256032"/>
          </a:xfrm>
          <a:prstGeom prst="rect">
            <a:avLst/>
          </a:prstGeom>
          <a:noFill/>
        </p:spPr>
        <p:txBody>
          <a:bodyPr wrap="square">
            <a:spAutoFit/>
          </a:bodyPr>
          <a:lstStyle/>
          <a:p>
            <a:pPr algn="ctr"/>
            <a:r>
              <a:rPr sz="700" b="0" i="0">
                <a:solidFill>
                  <a:srgbClr val="B0BEC5"/>
                </a:solidFill>
              </a:rPr>
              <a:t>Industry/domain config</a:t>
            </a:r>
          </a:p>
        </p:txBody>
      </p:sp>
      <p:sp>
        <p:nvSpPr>
          <p:cNvPr id="24" name="TextBox 23">
            <a:extLst>
              <a:ext uri="{FF2B5EF4-FFF2-40B4-BE49-F238E27FC236}">
                <a16:creationId xmlns:a16="http://schemas.microsoft.com/office/drawing/2014/main" id="{608EBFFF-8C0E-3E7B-A343-48CE981FA7A5}"/>
              </a:ext>
            </a:extLst>
          </p:cNvPr>
          <p:cNvSpPr txBox="1"/>
          <p:nvPr/>
        </p:nvSpPr>
        <p:spPr>
          <a:xfrm>
            <a:off x="3227705" y="2502500"/>
            <a:ext cx="274320" cy="274320"/>
          </a:xfrm>
          <a:prstGeom prst="rect">
            <a:avLst/>
          </a:prstGeom>
          <a:noFill/>
        </p:spPr>
        <p:txBody>
          <a:bodyPr wrap="square">
            <a:spAutoFit/>
          </a:bodyPr>
          <a:lstStyle/>
          <a:p>
            <a:pPr algn="ctr"/>
            <a:r>
              <a:rPr sz="1000" b="0" i="0">
                <a:solidFill>
                  <a:srgbClr val="B0BEC5"/>
                </a:solidFill>
              </a:rPr>
              <a:t>⬇</a:t>
            </a:r>
          </a:p>
        </p:txBody>
      </p:sp>
      <p:sp>
        <p:nvSpPr>
          <p:cNvPr id="25" name="TextBox 24">
            <a:extLst>
              <a:ext uri="{FF2B5EF4-FFF2-40B4-BE49-F238E27FC236}">
                <a16:creationId xmlns:a16="http://schemas.microsoft.com/office/drawing/2014/main" id="{3C194797-6273-F194-0392-AFAC4DA727BC}"/>
              </a:ext>
            </a:extLst>
          </p:cNvPr>
          <p:cNvSpPr txBox="1"/>
          <p:nvPr/>
        </p:nvSpPr>
        <p:spPr>
          <a:xfrm>
            <a:off x="5970905" y="2502500"/>
            <a:ext cx="274320" cy="274320"/>
          </a:xfrm>
          <a:prstGeom prst="rect">
            <a:avLst/>
          </a:prstGeom>
          <a:noFill/>
        </p:spPr>
        <p:txBody>
          <a:bodyPr wrap="square">
            <a:spAutoFit/>
          </a:bodyPr>
          <a:lstStyle/>
          <a:p>
            <a:pPr algn="ctr"/>
            <a:r>
              <a:rPr sz="1000" b="0" i="0">
                <a:solidFill>
                  <a:srgbClr val="B0BEC5"/>
                </a:solidFill>
              </a:rPr>
              <a:t>⬇</a:t>
            </a:r>
          </a:p>
        </p:txBody>
      </p:sp>
      <p:sp>
        <p:nvSpPr>
          <p:cNvPr id="26" name="TextBox 25">
            <a:extLst>
              <a:ext uri="{FF2B5EF4-FFF2-40B4-BE49-F238E27FC236}">
                <a16:creationId xmlns:a16="http://schemas.microsoft.com/office/drawing/2014/main" id="{5C7AD409-5A6B-1A7A-4243-CBA6D86D0F89}"/>
              </a:ext>
            </a:extLst>
          </p:cNvPr>
          <p:cNvSpPr txBox="1"/>
          <p:nvPr/>
        </p:nvSpPr>
        <p:spPr>
          <a:xfrm>
            <a:off x="8714105" y="2502500"/>
            <a:ext cx="274320" cy="274320"/>
          </a:xfrm>
          <a:prstGeom prst="rect">
            <a:avLst/>
          </a:prstGeom>
          <a:noFill/>
        </p:spPr>
        <p:txBody>
          <a:bodyPr wrap="square">
            <a:spAutoFit/>
          </a:bodyPr>
          <a:lstStyle/>
          <a:p>
            <a:pPr algn="ctr"/>
            <a:r>
              <a:rPr sz="1000" b="0" i="0">
                <a:solidFill>
                  <a:srgbClr val="B0BEC5"/>
                </a:solidFill>
              </a:rPr>
              <a:t>⬇</a:t>
            </a:r>
          </a:p>
        </p:txBody>
      </p:sp>
      <p:sp>
        <p:nvSpPr>
          <p:cNvPr id="27" name="Rounded Rectangle 26">
            <a:extLst>
              <a:ext uri="{FF2B5EF4-FFF2-40B4-BE49-F238E27FC236}">
                <a16:creationId xmlns:a16="http://schemas.microsoft.com/office/drawing/2014/main" id="{37953C9E-415B-787C-2065-1BBA3314CD2F}"/>
              </a:ext>
            </a:extLst>
          </p:cNvPr>
          <p:cNvSpPr/>
          <p:nvPr/>
        </p:nvSpPr>
        <p:spPr>
          <a:xfrm>
            <a:off x="255905" y="2721956"/>
            <a:ext cx="11750040" cy="914400"/>
          </a:xfrm>
          <a:prstGeom prst="roundRect">
            <a:avLst/>
          </a:prstGeom>
          <a:solidFill>
            <a:srgbClr val="8B5CF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endParaRPr sz="1900">
              <a:solidFill>
                <a:schemeClr val="bg1"/>
              </a:solidFill>
            </a:endParaRPr>
          </a:p>
        </p:txBody>
      </p:sp>
      <p:sp>
        <p:nvSpPr>
          <p:cNvPr id="28" name="TextBox 27">
            <a:extLst>
              <a:ext uri="{FF2B5EF4-FFF2-40B4-BE49-F238E27FC236}">
                <a16:creationId xmlns:a16="http://schemas.microsoft.com/office/drawing/2014/main" id="{A34BF710-6F72-469C-B6E0-90C44213E95D}"/>
              </a:ext>
            </a:extLst>
          </p:cNvPr>
          <p:cNvSpPr txBox="1"/>
          <p:nvPr/>
        </p:nvSpPr>
        <p:spPr>
          <a:xfrm>
            <a:off x="283337" y="2963713"/>
            <a:ext cx="1280160" cy="430887"/>
          </a:xfrm>
          <a:prstGeom prst="rect">
            <a:avLst/>
          </a:prstGeom>
          <a:noFill/>
        </p:spPr>
        <p:txBody>
          <a:bodyPr wrap="square">
            <a:spAutoFit/>
          </a:bodyPr>
          <a:lstStyle/>
          <a:p>
            <a:pPr algn="ctr"/>
            <a:r>
              <a:rPr lang="en-IN" sz="1100" b="1" i="0">
                <a:solidFill>
                  <a:schemeClr val="bg1"/>
                </a:solidFill>
              </a:rPr>
              <a:t>SEMANTIC LAYER </a:t>
            </a:r>
          </a:p>
        </p:txBody>
      </p:sp>
      <p:sp>
        <p:nvSpPr>
          <p:cNvPr id="29" name="Rounded Rectangle 28">
            <a:extLst>
              <a:ext uri="{FF2B5EF4-FFF2-40B4-BE49-F238E27FC236}">
                <a16:creationId xmlns:a16="http://schemas.microsoft.com/office/drawing/2014/main" id="{78F1A18B-A63A-BCCA-E8B9-FDC08F49C53A}"/>
              </a:ext>
            </a:extLst>
          </p:cNvPr>
          <p:cNvSpPr/>
          <p:nvPr/>
        </p:nvSpPr>
        <p:spPr>
          <a:xfrm>
            <a:off x="1718945" y="2813396"/>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1E4781CE-AA05-11E5-44CA-8A2491BA5A27}"/>
              </a:ext>
            </a:extLst>
          </p:cNvPr>
          <p:cNvSpPr txBox="1"/>
          <p:nvPr/>
        </p:nvSpPr>
        <p:spPr>
          <a:xfrm>
            <a:off x="1764665" y="2859115"/>
            <a:ext cx="365760" cy="320040"/>
          </a:xfrm>
          <a:prstGeom prst="rect">
            <a:avLst/>
          </a:prstGeom>
          <a:noFill/>
        </p:spPr>
        <p:txBody>
          <a:bodyPr wrap="square">
            <a:spAutoFit/>
          </a:bodyPr>
          <a:lstStyle/>
          <a:p>
            <a:pPr algn="ctr"/>
            <a:r>
              <a:rPr sz="1800" b="0" i="0">
                <a:solidFill>
                  <a:srgbClr val="FFFFFF"/>
                </a:solidFill>
              </a:rPr>
              <a:t>🔗</a:t>
            </a:r>
          </a:p>
        </p:txBody>
      </p:sp>
      <p:sp>
        <p:nvSpPr>
          <p:cNvPr id="31" name="TextBox 30">
            <a:extLst>
              <a:ext uri="{FF2B5EF4-FFF2-40B4-BE49-F238E27FC236}">
                <a16:creationId xmlns:a16="http://schemas.microsoft.com/office/drawing/2014/main" id="{97446CDD-A185-1B94-2329-192AFB71A76A}"/>
              </a:ext>
            </a:extLst>
          </p:cNvPr>
          <p:cNvSpPr txBox="1"/>
          <p:nvPr/>
        </p:nvSpPr>
        <p:spPr>
          <a:xfrm>
            <a:off x="1792097" y="2886548"/>
            <a:ext cx="1828800" cy="274320"/>
          </a:xfrm>
          <a:prstGeom prst="rect">
            <a:avLst/>
          </a:prstGeom>
          <a:noFill/>
        </p:spPr>
        <p:txBody>
          <a:bodyPr wrap="square">
            <a:spAutoFit/>
          </a:bodyPr>
          <a:lstStyle/>
          <a:p>
            <a:pPr algn="ctr"/>
            <a:r>
              <a:rPr sz="900" b="1" i="0">
                <a:solidFill>
                  <a:srgbClr val="4FC3F7"/>
                </a:solidFill>
              </a:rPr>
              <a:t>Auto-Join
Engine</a:t>
            </a:r>
          </a:p>
        </p:txBody>
      </p:sp>
      <p:sp>
        <p:nvSpPr>
          <p:cNvPr id="32" name="TextBox 31">
            <a:extLst>
              <a:ext uri="{FF2B5EF4-FFF2-40B4-BE49-F238E27FC236}">
                <a16:creationId xmlns:a16="http://schemas.microsoft.com/office/drawing/2014/main" id="{9F861BDB-56EE-C2D9-97FF-D5D6BCA9241B}"/>
              </a:ext>
            </a:extLst>
          </p:cNvPr>
          <p:cNvSpPr txBox="1"/>
          <p:nvPr/>
        </p:nvSpPr>
        <p:spPr>
          <a:xfrm>
            <a:off x="1792097" y="3288884"/>
            <a:ext cx="1828800" cy="256032"/>
          </a:xfrm>
          <a:prstGeom prst="rect">
            <a:avLst/>
          </a:prstGeom>
          <a:noFill/>
        </p:spPr>
        <p:txBody>
          <a:bodyPr wrap="square">
            <a:spAutoFit/>
          </a:bodyPr>
          <a:lstStyle/>
          <a:p>
            <a:pPr algn="ctr"/>
            <a:r>
              <a:rPr sz="700" b="0" i="0">
                <a:solidFill>
                  <a:srgbClr val="B0BEC5"/>
                </a:solidFill>
              </a:rPr>
              <a:t>Score-based multi-pass</a:t>
            </a:r>
          </a:p>
        </p:txBody>
      </p:sp>
      <p:sp>
        <p:nvSpPr>
          <p:cNvPr id="33" name="TextBox 32">
            <a:extLst>
              <a:ext uri="{FF2B5EF4-FFF2-40B4-BE49-F238E27FC236}">
                <a16:creationId xmlns:a16="http://schemas.microsoft.com/office/drawing/2014/main" id="{158F748D-A0EB-56A9-C9AE-92463D6EFEF9}"/>
              </a:ext>
            </a:extLst>
          </p:cNvPr>
          <p:cNvSpPr txBox="1"/>
          <p:nvPr/>
        </p:nvSpPr>
        <p:spPr>
          <a:xfrm>
            <a:off x="3963796" y="3051139"/>
            <a:ext cx="228600" cy="274320"/>
          </a:xfrm>
          <a:prstGeom prst="rect">
            <a:avLst/>
          </a:prstGeom>
          <a:noFill/>
        </p:spPr>
        <p:txBody>
          <a:bodyPr wrap="square">
            <a:spAutoFit/>
          </a:bodyPr>
          <a:lstStyle/>
          <a:p>
            <a:pPr algn="ctr"/>
            <a:r>
              <a:rPr sz="1200" b="0" i="0">
                <a:solidFill>
                  <a:srgbClr val="4FC3F7"/>
                </a:solidFill>
              </a:rPr>
              <a:t>→</a:t>
            </a:r>
          </a:p>
        </p:txBody>
      </p:sp>
      <p:sp>
        <p:nvSpPr>
          <p:cNvPr id="34" name="Rounded Rectangle 33">
            <a:extLst>
              <a:ext uri="{FF2B5EF4-FFF2-40B4-BE49-F238E27FC236}">
                <a16:creationId xmlns:a16="http://schemas.microsoft.com/office/drawing/2014/main" id="{2DB0A381-1C07-348A-4F6E-B4CFA3174256}"/>
              </a:ext>
            </a:extLst>
          </p:cNvPr>
          <p:cNvSpPr/>
          <p:nvPr/>
        </p:nvSpPr>
        <p:spPr>
          <a:xfrm>
            <a:off x="4507865" y="2813396"/>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A952ABAE-0E88-9092-FADE-5AF2B50852C6}"/>
              </a:ext>
            </a:extLst>
          </p:cNvPr>
          <p:cNvSpPr txBox="1"/>
          <p:nvPr/>
        </p:nvSpPr>
        <p:spPr>
          <a:xfrm>
            <a:off x="4553585" y="2859115"/>
            <a:ext cx="365760" cy="320040"/>
          </a:xfrm>
          <a:prstGeom prst="rect">
            <a:avLst/>
          </a:prstGeom>
          <a:noFill/>
        </p:spPr>
        <p:txBody>
          <a:bodyPr wrap="square">
            <a:spAutoFit/>
          </a:bodyPr>
          <a:lstStyle/>
          <a:p>
            <a:pPr algn="ctr"/>
            <a:r>
              <a:rPr sz="1800" b="0" i="0">
                <a:solidFill>
                  <a:srgbClr val="FFFFFF"/>
                </a:solidFill>
              </a:rPr>
              <a:t>📐</a:t>
            </a:r>
          </a:p>
        </p:txBody>
      </p:sp>
      <p:sp>
        <p:nvSpPr>
          <p:cNvPr id="36" name="TextBox 35">
            <a:extLst>
              <a:ext uri="{FF2B5EF4-FFF2-40B4-BE49-F238E27FC236}">
                <a16:creationId xmlns:a16="http://schemas.microsoft.com/office/drawing/2014/main" id="{16E7C58B-E3AC-B26D-B3CD-02602366B86C}"/>
              </a:ext>
            </a:extLst>
          </p:cNvPr>
          <p:cNvSpPr txBox="1"/>
          <p:nvPr/>
        </p:nvSpPr>
        <p:spPr>
          <a:xfrm>
            <a:off x="4581017" y="2886548"/>
            <a:ext cx="1828800" cy="274320"/>
          </a:xfrm>
          <a:prstGeom prst="rect">
            <a:avLst/>
          </a:prstGeom>
          <a:noFill/>
        </p:spPr>
        <p:txBody>
          <a:bodyPr wrap="square">
            <a:spAutoFit/>
          </a:bodyPr>
          <a:lstStyle/>
          <a:p>
            <a:pPr algn="ctr"/>
            <a:r>
              <a:rPr sz="900" b="1" i="0">
                <a:solidFill>
                  <a:srgbClr val="4FC3F7"/>
                </a:solidFill>
              </a:rPr>
              <a:t>Schema
Analyser</a:t>
            </a:r>
          </a:p>
        </p:txBody>
      </p:sp>
      <p:sp>
        <p:nvSpPr>
          <p:cNvPr id="37" name="TextBox 36">
            <a:extLst>
              <a:ext uri="{FF2B5EF4-FFF2-40B4-BE49-F238E27FC236}">
                <a16:creationId xmlns:a16="http://schemas.microsoft.com/office/drawing/2014/main" id="{71EC213C-18C4-788E-4577-E147DAAF4831}"/>
              </a:ext>
            </a:extLst>
          </p:cNvPr>
          <p:cNvSpPr txBox="1"/>
          <p:nvPr/>
        </p:nvSpPr>
        <p:spPr>
          <a:xfrm>
            <a:off x="4581017" y="3288884"/>
            <a:ext cx="1828800" cy="256032"/>
          </a:xfrm>
          <a:prstGeom prst="rect">
            <a:avLst/>
          </a:prstGeom>
          <a:noFill/>
        </p:spPr>
        <p:txBody>
          <a:bodyPr wrap="square">
            <a:spAutoFit/>
          </a:bodyPr>
          <a:lstStyle/>
          <a:p>
            <a:pPr algn="ctr"/>
            <a:r>
              <a:rPr sz="700" b="0" i="0">
                <a:solidFill>
                  <a:srgbClr val="B0BEC5"/>
                </a:solidFill>
              </a:rPr>
              <a:t>Rich column metadata</a:t>
            </a:r>
          </a:p>
        </p:txBody>
      </p:sp>
      <p:sp>
        <p:nvSpPr>
          <p:cNvPr id="38" name="TextBox 37">
            <a:extLst>
              <a:ext uri="{FF2B5EF4-FFF2-40B4-BE49-F238E27FC236}">
                <a16:creationId xmlns:a16="http://schemas.microsoft.com/office/drawing/2014/main" id="{1785596C-D32B-2FE1-61D4-80A23BC28592}"/>
              </a:ext>
            </a:extLst>
          </p:cNvPr>
          <p:cNvSpPr txBox="1"/>
          <p:nvPr/>
        </p:nvSpPr>
        <p:spPr>
          <a:xfrm>
            <a:off x="6752717" y="3051139"/>
            <a:ext cx="228600" cy="274320"/>
          </a:xfrm>
          <a:prstGeom prst="rect">
            <a:avLst/>
          </a:prstGeom>
          <a:noFill/>
        </p:spPr>
        <p:txBody>
          <a:bodyPr wrap="square">
            <a:spAutoFit/>
          </a:bodyPr>
          <a:lstStyle/>
          <a:p>
            <a:pPr algn="ctr"/>
            <a:r>
              <a:rPr sz="1200" b="0" i="0">
                <a:solidFill>
                  <a:srgbClr val="4FC3F7"/>
                </a:solidFill>
              </a:rPr>
              <a:t>→</a:t>
            </a:r>
          </a:p>
        </p:txBody>
      </p:sp>
      <p:sp>
        <p:nvSpPr>
          <p:cNvPr id="39" name="Rounded Rectangle 38">
            <a:extLst>
              <a:ext uri="{FF2B5EF4-FFF2-40B4-BE49-F238E27FC236}">
                <a16:creationId xmlns:a16="http://schemas.microsoft.com/office/drawing/2014/main" id="{CDD2AE1D-9FEA-E268-5D1F-D847D5CAB9F1}"/>
              </a:ext>
            </a:extLst>
          </p:cNvPr>
          <p:cNvSpPr/>
          <p:nvPr/>
        </p:nvSpPr>
        <p:spPr>
          <a:xfrm>
            <a:off x="7296784" y="2813396"/>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8FD4372E-95FA-0F57-A407-5EF3940DB051}"/>
              </a:ext>
            </a:extLst>
          </p:cNvPr>
          <p:cNvSpPr txBox="1"/>
          <p:nvPr/>
        </p:nvSpPr>
        <p:spPr>
          <a:xfrm>
            <a:off x="7342504" y="2859115"/>
            <a:ext cx="365760" cy="320040"/>
          </a:xfrm>
          <a:prstGeom prst="rect">
            <a:avLst/>
          </a:prstGeom>
          <a:noFill/>
        </p:spPr>
        <p:txBody>
          <a:bodyPr wrap="square">
            <a:spAutoFit/>
          </a:bodyPr>
          <a:lstStyle/>
          <a:p>
            <a:pPr algn="ctr"/>
            <a:r>
              <a:rPr sz="1800" b="0" i="0">
                <a:solidFill>
                  <a:srgbClr val="FFFFFF"/>
                </a:solidFill>
              </a:rPr>
              <a:t>🧠</a:t>
            </a:r>
          </a:p>
        </p:txBody>
      </p:sp>
      <p:sp>
        <p:nvSpPr>
          <p:cNvPr id="41" name="TextBox 40">
            <a:extLst>
              <a:ext uri="{FF2B5EF4-FFF2-40B4-BE49-F238E27FC236}">
                <a16:creationId xmlns:a16="http://schemas.microsoft.com/office/drawing/2014/main" id="{B591B663-8C15-517A-C1B4-D93A1D8F5B92}"/>
              </a:ext>
            </a:extLst>
          </p:cNvPr>
          <p:cNvSpPr txBox="1"/>
          <p:nvPr/>
        </p:nvSpPr>
        <p:spPr>
          <a:xfrm>
            <a:off x="7369936" y="2886548"/>
            <a:ext cx="1828800" cy="274320"/>
          </a:xfrm>
          <a:prstGeom prst="rect">
            <a:avLst/>
          </a:prstGeom>
          <a:noFill/>
        </p:spPr>
        <p:txBody>
          <a:bodyPr wrap="square">
            <a:spAutoFit/>
          </a:bodyPr>
          <a:lstStyle/>
          <a:p>
            <a:pPr algn="ctr"/>
            <a:r>
              <a:rPr sz="900" b="1" i="0">
                <a:solidFill>
                  <a:srgbClr val="4FC3F7"/>
                </a:solidFill>
              </a:rPr>
              <a:t>LLM
Orchestrator</a:t>
            </a:r>
          </a:p>
        </p:txBody>
      </p:sp>
      <p:sp>
        <p:nvSpPr>
          <p:cNvPr id="42" name="TextBox 41">
            <a:extLst>
              <a:ext uri="{FF2B5EF4-FFF2-40B4-BE49-F238E27FC236}">
                <a16:creationId xmlns:a16="http://schemas.microsoft.com/office/drawing/2014/main" id="{5839E22B-7E29-CB71-0139-3C05933940A6}"/>
              </a:ext>
            </a:extLst>
          </p:cNvPr>
          <p:cNvSpPr txBox="1"/>
          <p:nvPr/>
        </p:nvSpPr>
        <p:spPr>
          <a:xfrm>
            <a:off x="7369936" y="3288884"/>
            <a:ext cx="1828800" cy="256032"/>
          </a:xfrm>
          <a:prstGeom prst="rect">
            <a:avLst/>
          </a:prstGeom>
          <a:noFill/>
        </p:spPr>
        <p:txBody>
          <a:bodyPr wrap="square">
            <a:spAutoFit/>
          </a:bodyPr>
          <a:lstStyle/>
          <a:p>
            <a:pPr algn="ctr"/>
            <a:r>
              <a:rPr sz="700" b="0" i="0">
                <a:solidFill>
                  <a:srgbClr val="B0BEC5"/>
                </a:solidFill>
              </a:rPr>
              <a:t>GPT-4o · LangChain</a:t>
            </a:r>
          </a:p>
        </p:txBody>
      </p:sp>
      <p:sp>
        <p:nvSpPr>
          <p:cNvPr id="43" name="TextBox 42">
            <a:extLst>
              <a:ext uri="{FF2B5EF4-FFF2-40B4-BE49-F238E27FC236}">
                <a16:creationId xmlns:a16="http://schemas.microsoft.com/office/drawing/2014/main" id="{6A9C4FBA-22A0-8DEC-5BBF-A7C5600E0A1E}"/>
              </a:ext>
            </a:extLst>
          </p:cNvPr>
          <p:cNvSpPr txBox="1"/>
          <p:nvPr/>
        </p:nvSpPr>
        <p:spPr>
          <a:xfrm>
            <a:off x="9541637" y="3051139"/>
            <a:ext cx="228600" cy="274320"/>
          </a:xfrm>
          <a:prstGeom prst="rect">
            <a:avLst/>
          </a:prstGeom>
          <a:noFill/>
        </p:spPr>
        <p:txBody>
          <a:bodyPr wrap="square">
            <a:spAutoFit/>
          </a:bodyPr>
          <a:lstStyle/>
          <a:p>
            <a:pPr algn="ctr"/>
            <a:r>
              <a:rPr sz="1200" b="0" i="0">
                <a:solidFill>
                  <a:srgbClr val="4FC3F7"/>
                </a:solidFill>
              </a:rPr>
              <a:t>→</a:t>
            </a:r>
          </a:p>
        </p:txBody>
      </p:sp>
      <p:sp>
        <p:nvSpPr>
          <p:cNvPr id="44" name="Rounded Rectangle 43">
            <a:extLst>
              <a:ext uri="{FF2B5EF4-FFF2-40B4-BE49-F238E27FC236}">
                <a16:creationId xmlns:a16="http://schemas.microsoft.com/office/drawing/2014/main" id="{6A5A595A-47BC-6F76-108A-13E5A511346E}"/>
              </a:ext>
            </a:extLst>
          </p:cNvPr>
          <p:cNvSpPr/>
          <p:nvPr/>
        </p:nvSpPr>
        <p:spPr>
          <a:xfrm>
            <a:off x="10085704" y="2813396"/>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AC1BB34F-E525-42CA-2B9F-C17B4B7A38DB}"/>
              </a:ext>
            </a:extLst>
          </p:cNvPr>
          <p:cNvSpPr txBox="1"/>
          <p:nvPr/>
        </p:nvSpPr>
        <p:spPr>
          <a:xfrm>
            <a:off x="10131424" y="2859115"/>
            <a:ext cx="365760" cy="320040"/>
          </a:xfrm>
          <a:prstGeom prst="rect">
            <a:avLst/>
          </a:prstGeom>
          <a:noFill/>
        </p:spPr>
        <p:txBody>
          <a:bodyPr wrap="square">
            <a:spAutoFit/>
          </a:bodyPr>
          <a:lstStyle/>
          <a:p>
            <a:pPr algn="ctr"/>
            <a:r>
              <a:rPr sz="1800" b="0" i="0">
                <a:solidFill>
                  <a:srgbClr val="FFFFFF"/>
                </a:solidFill>
              </a:rPr>
              <a:t>🛡️</a:t>
            </a:r>
          </a:p>
        </p:txBody>
      </p:sp>
      <p:sp>
        <p:nvSpPr>
          <p:cNvPr id="46" name="TextBox 45">
            <a:extLst>
              <a:ext uri="{FF2B5EF4-FFF2-40B4-BE49-F238E27FC236}">
                <a16:creationId xmlns:a16="http://schemas.microsoft.com/office/drawing/2014/main" id="{3882E83D-FA60-9FBB-3C99-E472D020955B}"/>
              </a:ext>
            </a:extLst>
          </p:cNvPr>
          <p:cNvSpPr txBox="1"/>
          <p:nvPr/>
        </p:nvSpPr>
        <p:spPr>
          <a:xfrm>
            <a:off x="10158856" y="2886548"/>
            <a:ext cx="1828800" cy="274320"/>
          </a:xfrm>
          <a:prstGeom prst="rect">
            <a:avLst/>
          </a:prstGeom>
          <a:noFill/>
        </p:spPr>
        <p:txBody>
          <a:bodyPr wrap="square">
            <a:spAutoFit/>
          </a:bodyPr>
          <a:lstStyle/>
          <a:p>
            <a:pPr algn="ctr"/>
            <a:r>
              <a:rPr sz="900" b="1" i="0">
                <a:solidFill>
                  <a:srgbClr val="4FC3F7"/>
                </a:solidFill>
              </a:rPr>
              <a:t>SQL Guardrail
Layer</a:t>
            </a:r>
          </a:p>
        </p:txBody>
      </p:sp>
      <p:sp>
        <p:nvSpPr>
          <p:cNvPr id="47" name="TextBox 46">
            <a:extLst>
              <a:ext uri="{FF2B5EF4-FFF2-40B4-BE49-F238E27FC236}">
                <a16:creationId xmlns:a16="http://schemas.microsoft.com/office/drawing/2014/main" id="{353AB6CC-EAA8-C10A-E7B1-C0E5A2860FCC}"/>
              </a:ext>
            </a:extLst>
          </p:cNvPr>
          <p:cNvSpPr txBox="1"/>
          <p:nvPr/>
        </p:nvSpPr>
        <p:spPr>
          <a:xfrm>
            <a:off x="10158856" y="3288884"/>
            <a:ext cx="1828800" cy="256032"/>
          </a:xfrm>
          <a:prstGeom prst="rect">
            <a:avLst/>
          </a:prstGeom>
          <a:noFill/>
        </p:spPr>
        <p:txBody>
          <a:bodyPr wrap="square">
            <a:spAutoFit/>
          </a:bodyPr>
          <a:lstStyle/>
          <a:p>
            <a:pPr algn="ctr"/>
            <a:r>
              <a:rPr sz="700" b="0" i="0">
                <a:solidFill>
                  <a:srgbClr val="B0BEC5"/>
                </a:solidFill>
              </a:rPr>
              <a:t>Blocks DDL/DML ops</a:t>
            </a:r>
          </a:p>
        </p:txBody>
      </p:sp>
      <p:sp>
        <p:nvSpPr>
          <p:cNvPr id="48" name="TextBox 47">
            <a:extLst>
              <a:ext uri="{FF2B5EF4-FFF2-40B4-BE49-F238E27FC236}">
                <a16:creationId xmlns:a16="http://schemas.microsoft.com/office/drawing/2014/main" id="{139032BA-7969-2EAE-8A36-F3DA34E787A3}"/>
              </a:ext>
            </a:extLst>
          </p:cNvPr>
          <p:cNvSpPr txBox="1"/>
          <p:nvPr/>
        </p:nvSpPr>
        <p:spPr>
          <a:xfrm>
            <a:off x="3227705" y="3618068"/>
            <a:ext cx="274320" cy="274320"/>
          </a:xfrm>
          <a:prstGeom prst="rect">
            <a:avLst/>
          </a:prstGeom>
          <a:noFill/>
        </p:spPr>
        <p:txBody>
          <a:bodyPr wrap="square">
            <a:spAutoFit/>
          </a:bodyPr>
          <a:lstStyle/>
          <a:p>
            <a:pPr algn="ctr"/>
            <a:r>
              <a:rPr sz="1000" b="0" i="0">
                <a:solidFill>
                  <a:srgbClr val="B0BEC5"/>
                </a:solidFill>
              </a:rPr>
              <a:t>⬇</a:t>
            </a:r>
          </a:p>
        </p:txBody>
      </p:sp>
      <p:sp>
        <p:nvSpPr>
          <p:cNvPr id="49" name="TextBox 48">
            <a:extLst>
              <a:ext uri="{FF2B5EF4-FFF2-40B4-BE49-F238E27FC236}">
                <a16:creationId xmlns:a16="http://schemas.microsoft.com/office/drawing/2014/main" id="{F6B27202-D322-5381-A7DF-B3F39945A85E}"/>
              </a:ext>
            </a:extLst>
          </p:cNvPr>
          <p:cNvSpPr txBox="1"/>
          <p:nvPr/>
        </p:nvSpPr>
        <p:spPr>
          <a:xfrm>
            <a:off x="5970905" y="3618068"/>
            <a:ext cx="274320" cy="274320"/>
          </a:xfrm>
          <a:prstGeom prst="rect">
            <a:avLst/>
          </a:prstGeom>
          <a:noFill/>
        </p:spPr>
        <p:txBody>
          <a:bodyPr wrap="square">
            <a:spAutoFit/>
          </a:bodyPr>
          <a:lstStyle/>
          <a:p>
            <a:pPr algn="ctr"/>
            <a:r>
              <a:rPr sz="1000" b="0" i="0">
                <a:solidFill>
                  <a:srgbClr val="B0BEC5"/>
                </a:solidFill>
              </a:rPr>
              <a:t>⬇</a:t>
            </a:r>
          </a:p>
        </p:txBody>
      </p:sp>
      <p:sp>
        <p:nvSpPr>
          <p:cNvPr id="50" name="TextBox 49">
            <a:extLst>
              <a:ext uri="{FF2B5EF4-FFF2-40B4-BE49-F238E27FC236}">
                <a16:creationId xmlns:a16="http://schemas.microsoft.com/office/drawing/2014/main" id="{AC0EE278-8FC9-F77C-8C67-BC479C1688B4}"/>
              </a:ext>
            </a:extLst>
          </p:cNvPr>
          <p:cNvSpPr txBox="1"/>
          <p:nvPr/>
        </p:nvSpPr>
        <p:spPr>
          <a:xfrm>
            <a:off x="8714105" y="3618068"/>
            <a:ext cx="274320" cy="274320"/>
          </a:xfrm>
          <a:prstGeom prst="rect">
            <a:avLst/>
          </a:prstGeom>
          <a:noFill/>
        </p:spPr>
        <p:txBody>
          <a:bodyPr wrap="square">
            <a:spAutoFit/>
          </a:bodyPr>
          <a:lstStyle/>
          <a:p>
            <a:pPr algn="ctr"/>
            <a:r>
              <a:rPr sz="1000" b="0" i="0">
                <a:solidFill>
                  <a:srgbClr val="B0BEC5"/>
                </a:solidFill>
              </a:rPr>
              <a:t>⬇</a:t>
            </a:r>
          </a:p>
        </p:txBody>
      </p:sp>
      <p:sp>
        <p:nvSpPr>
          <p:cNvPr id="51" name="Rounded Rectangle 50">
            <a:extLst>
              <a:ext uri="{FF2B5EF4-FFF2-40B4-BE49-F238E27FC236}">
                <a16:creationId xmlns:a16="http://schemas.microsoft.com/office/drawing/2014/main" id="{8AE44697-D148-62CE-20E8-4336DA65C0B2}"/>
              </a:ext>
            </a:extLst>
          </p:cNvPr>
          <p:cNvSpPr/>
          <p:nvPr/>
        </p:nvSpPr>
        <p:spPr>
          <a:xfrm>
            <a:off x="255905" y="3837524"/>
            <a:ext cx="11750040" cy="914400"/>
          </a:xfrm>
          <a:prstGeom prst="roundRect">
            <a:avLst/>
          </a:prstGeom>
          <a:solidFill>
            <a:srgbClr val="14B8A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endParaRPr sz="1900">
              <a:solidFill>
                <a:schemeClr val="bg1"/>
              </a:solidFill>
            </a:endParaRPr>
          </a:p>
        </p:txBody>
      </p:sp>
      <p:sp>
        <p:nvSpPr>
          <p:cNvPr id="52" name="TextBox 51">
            <a:extLst>
              <a:ext uri="{FF2B5EF4-FFF2-40B4-BE49-F238E27FC236}">
                <a16:creationId xmlns:a16="http://schemas.microsoft.com/office/drawing/2014/main" id="{966D842E-F490-4261-4B53-3377E1F17E11}"/>
              </a:ext>
            </a:extLst>
          </p:cNvPr>
          <p:cNvSpPr txBox="1"/>
          <p:nvPr/>
        </p:nvSpPr>
        <p:spPr>
          <a:xfrm>
            <a:off x="283337" y="4079281"/>
            <a:ext cx="1280160" cy="430887"/>
          </a:xfrm>
          <a:prstGeom prst="rect">
            <a:avLst/>
          </a:prstGeom>
          <a:noFill/>
        </p:spPr>
        <p:txBody>
          <a:bodyPr wrap="square">
            <a:spAutoFit/>
          </a:bodyPr>
          <a:lstStyle/>
          <a:p>
            <a:pPr algn="ctr"/>
            <a:r>
              <a:rPr lang="en-IN" sz="1100" b="1" i="0">
                <a:solidFill>
                  <a:schemeClr val="bg1"/>
                </a:solidFill>
              </a:rPr>
              <a:t>EXECUTION LAYER</a:t>
            </a:r>
          </a:p>
        </p:txBody>
      </p:sp>
      <p:sp>
        <p:nvSpPr>
          <p:cNvPr id="53" name="Rounded Rectangle 52">
            <a:extLst>
              <a:ext uri="{FF2B5EF4-FFF2-40B4-BE49-F238E27FC236}">
                <a16:creationId xmlns:a16="http://schemas.microsoft.com/office/drawing/2014/main" id="{4D39C3FC-4158-1E4D-0148-D40A3AD123F1}"/>
              </a:ext>
            </a:extLst>
          </p:cNvPr>
          <p:cNvSpPr/>
          <p:nvPr/>
        </p:nvSpPr>
        <p:spPr>
          <a:xfrm>
            <a:off x="1718945" y="3928964"/>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969D4FBF-14C7-AD35-D410-5B87A99D7F5A}"/>
              </a:ext>
            </a:extLst>
          </p:cNvPr>
          <p:cNvSpPr txBox="1"/>
          <p:nvPr/>
        </p:nvSpPr>
        <p:spPr>
          <a:xfrm>
            <a:off x="1764665" y="3974684"/>
            <a:ext cx="365760" cy="320040"/>
          </a:xfrm>
          <a:prstGeom prst="rect">
            <a:avLst/>
          </a:prstGeom>
          <a:noFill/>
        </p:spPr>
        <p:txBody>
          <a:bodyPr wrap="square">
            <a:spAutoFit/>
          </a:bodyPr>
          <a:lstStyle/>
          <a:p>
            <a:pPr algn="ctr"/>
            <a:r>
              <a:rPr sz="1800" b="0" i="0">
                <a:solidFill>
                  <a:srgbClr val="FFFFFF"/>
                </a:solidFill>
              </a:rPr>
              <a:t>⚡</a:t>
            </a:r>
          </a:p>
        </p:txBody>
      </p:sp>
      <p:sp>
        <p:nvSpPr>
          <p:cNvPr id="55" name="TextBox 54">
            <a:extLst>
              <a:ext uri="{FF2B5EF4-FFF2-40B4-BE49-F238E27FC236}">
                <a16:creationId xmlns:a16="http://schemas.microsoft.com/office/drawing/2014/main" id="{4ED8BA5A-39FE-1DD0-0F94-8DC27A6DB368}"/>
              </a:ext>
            </a:extLst>
          </p:cNvPr>
          <p:cNvSpPr txBox="1"/>
          <p:nvPr/>
        </p:nvSpPr>
        <p:spPr>
          <a:xfrm>
            <a:off x="1792097" y="4002116"/>
            <a:ext cx="1828800" cy="274320"/>
          </a:xfrm>
          <a:prstGeom prst="rect">
            <a:avLst/>
          </a:prstGeom>
          <a:noFill/>
          <a:ln>
            <a:noFill/>
          </a:ln>
        </p:spPr>
        <p:txBody>
          <a:bodyPr wrap="square">
            <a:spAutoFit/>
          </a:bodyPr>
          <a:lstStyle/>
          <a:p>
            <a:pPr algn="ctr"/>
            <a:r>
              <a:rPr sz="900" b="1" i="0">
                <a:solidFill>
                  <a:srgbClr val="4FC3F7"/>
                </a:solidFill>
              </a:rPr>
              <a:t>DuckDB
Engine</a:t>
            </a:r>
          </a:p>
        </p:txBody>
      </p:sp>
      <p:sp>
        <p:nvSpPr>
          <p:cNvPr id="56" name="TextBox 55">
            <a:extLst>
              <a:ext uri="{FF2B5EF4-FFF2-40B4-BE49-F238E27FC236}">
                <a16:creationId xmlns:a16="http://schemas.microsoft.com/office/drawing/2014/main" id="{A2381EF7-5658-5265-5A44-33AB2C846EF3}"/>
              </a:ext>
            </a:extLst>
          </p:cNvPr>
          <p:cNvSpPr txBox="1"/>
          <p:nvPr/>
        </p:nvSpPr>
        <p:spPr>
          <a:xfrm>
            <a:off x="1792097" y="4404452"/>
            <a:ext cx="1828800" cy="256032"/>
          </a:xfrm>
          <a:prstGeom prst="rect">
            <a:avLst/>
          </a:prstGeom>
          <a:noFill/>
        </p:spPr>
        <p:txBody>
          <a:bodyPr wrap="square">
            <a:spAutoFit/>
          </a:bodyPr>
          <a:lstStyle/>
          <a:p>
            <a:pPr algn="ctr"/>
            <a:r>
              <a:rPr sz="700" b="0" i="0">
                <a:solidFill>
                  <a:srgbClr val="B0BEC5"/>
                </a:solidFill>
              </a:rPr>
              <a:t>In-process SQL runtime</a:t>
            </a:r>
          </a:p>
        </p:txBody>
      </p:sp>
      <p:sp>
        <p:nvSpPr>
          <p:cNvPr id="57" name="TextBox 56">
            <a:extLst>
              <a:ext uri="{FF2B5EF4-FFF2-40B4-BE49-F238E27FC236}">
                <a16:creationId xmlns:a16="http://schemas.microsoft.com/office/drawing/2014/main" id="{851F6999-F4B0-91A3-5C0E-DDC5B29DF1B7}"/>
              </a:ext>
            </a:extLst>
          </p:cNvPr>
          <p:cNvSpPr txBox="1"/>
          <p:nvPr/>
        </p:nvSpPr>
        <p:spPr>
          <a:xfrm>
            <a:off x="4661027" y="4166708"/>
            <a:ext cx="228600" cy="274320"/>
          </a:xfrm>
          <a:prstGeom prst="rect">
            <a:avLst/>
          </a:prstGeom>
          <a:noFill/>
        </p:spPr>
        <p:txBody>
          <a:bodyPr wrap="square">
            <a:spAutoFit/>
          </a:bodyPr>
          <a:lstStyle/>
          <a:p>
            <a:pPr algn="ctr"/>
            <a:r>
              <a:rPr sz="1200" b="0" i="0">
                <a:solidFill>
                  <a:srgbClr val="F59E0B"/>
                </a:solidFill>
              </a:rPr>
              <a:t>→</a:t>
            </a:r>
          </a:p>
        </p:txBody>
      </p:sp>
      <p:sp>
        <p:nvSpPr>
          <p:cNvPr id="58" name="Rounded Rectangle 57">
            <a:extLst>
              <a:ext uri="{FF2B5EF4-FFF2-40B4-BE49-F238E27FC236}">
                <a16:creationId xmlns:a16="http://schemas.microsoft.com/office/drawing/2014/main" id="{BB7136C4-A827-A1BA-F1EE-C251BEDA3C08}"/>
              </a:ext>
            </a:extLst>
          </p:cNvPr>
          <p:cNvSpPr/>
          <p:nvPr/>
        </p:nvSpPr>
        <p:spPr>
          <a:xfrm>
            <a:off x="5902324" y="3928964"/>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76E8C7E5-927F-AB54-00D8-C6770134F95E}"/>
              </a:ext>
            </a:extLst>
          </p:cNvPr>
          <p:cNvSpPr txBox="1"/>
          <p:nvPr/>
        </p:nvSpPr>
        <p:spPr>
          <a:xfrm>
            <a:off x="5948044" y="3974684"/>
            <a:ext cx="365760" cy="320040"/>
          </a:xfrm>
          <a:prstGeom prst="rect">
            <a:avLst/>
          </a:prstGeom>
          <a:noFill/>
        </p:spPr>
        <p:txBody>
          <a:bodyPr wrap="square">
            <a:spAutoFit/>
          </a:bodyPr>
          <a:lstStyle/>
          <a:p>
            <a:pPr algn="ctr"/>
            <a:r>
              <a:rPr sz="1800" b="0" i="0">
                <a:solidFill>
                  <a:srgbClr val="FFFFFF"/>
                </a:solidFill>
              </a:rPr>
              <a:t>🔄</a:t>
            </a:r>
          </a:p>
        </p:txBody>
      </p:sp>
      <p:sp>
        <p:nvSpPr>
          <p:cNvPr id="60" name="TextBox 59">
            <a:extLst>
              <a:ext uri="{FF2B5EF4-FFF2-40B4-BE49-F238E27FC236}">
                <a16:creationId xmlns:a16="http://schemas.microsoft.com/office/drawing/2014/main" id="{37EDC3DA-118F-BFD4-3769-255412C1C3E2}"/>
              </a:ext>
            </a:extLst>
          </p:cNvPr>
          <p:cNvSpPr txBox="1"/>
          <p:nvPr/>
        </p:nvSpPr>
        <p:spPr>
          <a:xfrm>
            <a:off x="5975476" y="4002116"/>
            <a:ext cx="1828800" cy="274320"/>
          </a:xfrm>
          <a:prstGeom prst="rect">
            <a:avLst/>
          </a:prstGeom>
          <a:noFill/>
        </p:spPr>
        <p:txBody>
          <a:bodyPr wrap="square">
            <a:spAutoFit/>
          </a:bodyPr>
          <a:lstStyle/>
          <a:p>
            <a:pPr algn="ctr"/>
            <a:r>
              <a:rPr sz="900" b="1" i="0">
                <a:solidFill>
                  <a:srgbClr val="4FC3F7"/>
                </a:solidFill>
              </a:rPr>
              <a:t>Retry &amp;
Self-Heal</a:t>
            </a:r>
          </a:p>
        </p:txBody>
      </p:sp>
      <p:sp>
        <p:nvSpPr>
          <p:cNvPr id="61" name="TextBox 60">
            <a:extLst>
              <a:ext uri="{FF2B5EF4-FFF2-40B4-BE49-F238E27FC236}">
                <a16:creationId xmlns:a16="http://schemas.microsoft.com/office/drawing/2014/main" id="{7EC48544-819F-985E-9F72-75926C1CC387}"/>
              </a:ext>
            </a:extLst>
          </p:cNvPr>
          <p:cNvSpPr txBox="1"/>
          <p:nvPr/>
        </p:nvSpPr>
        <p:spPr>
          <a:xfrm>
            <a:off x="5975476" y="4404452"/>
            <a:ext cx="1828800" cy="256032"/>
          </a:xfrm>
          <a:prstGeom prst="rect">
            <a:avLst/>
          </a:prstGeom>
          <a:noFill/>
        </p:spPr>
        <p:txBody>
          <a:bodyPr wrap="square">
            <a:spAutoFit/>
          </a:bodyPr>
          <a:lstStyle/>
          <a:p>
            <a:pPr algn="ctr"/>
            <a:r>
              <a:rPr sz="700" b="0" i="0">
                <a:solidFill>
                  <a:srgbClr val="B0BEC5"/>
                </a:solidFill>
              </a:rPr>
              <a:t>Auto-corrects failed SQL</a:t>
            </a:r>
          </a:p>
        </p:txBody>
      </p:sp>
      <p:sp>
        <p:nvSpPr>
          <p:cNvPr id="62" name="TextBox 61">
            <a:extLst>
              <a:ext uri="{FF2B5EF4-FFF2-40B4-BE49-F238E27FC236}">
                <a16:creationId xmlns:a16="http://schemas.microsoft.com/office/drawing/2014/main" id="{0E33F725-02A9-5653-EAC3-78C4B159F72C}"/>
              </a:ext>
            </a:extLst>
          </p:cNvPr>
          <p:cNvSpPr txBox="1"/>
          <p:nvPr/>
        </p:nvSpPr>
        <p:spPr>
          <a:xfrm>
            <a:off x="8844407" y="4166708"/>
            <a:ext cx="228600" cy="274320"/>
          </a:xfrm>
          <a:prstGeom prst="rect">
            <a:avLst/>
          </a:prstGeom>
          <a:noFill/>
        </p:spPr>
        <p:txBody>
          <a:bodyPr wrap="square">
            <a:spAutoFit/>
          </a:bodyPr>
          <a:lstStyle/>
          <a:p>
            <a:pPr algn="ctr"/>
            <a:r>
              <a:rPr sz="1200" b="0" i="0">
                <a:solidFill>
                  <a:srgbClr val="F59E0B"/>
                </a:solidFill>
              </a:rPr>
              <a:t>→</a:t>
            </a:r>
          </a:p>
        </p:txBody>
      </p:sp>
      <p:sp>
        <p:nvSpPr>
          <p:cNvPr id="63" name="Rounded Rectangle 62">
            <a:extLst>
              <a:ext uri="{FF2B5EF4-FFF2-40B4-BE49-F238E27FC236}">
                <a16:creationId xmlns:a16="http://schemas.microsoft.com/office/drawing/2014/main" id="{38A4125C-A605-0549-D7BD-5210BF500797}"/>
              </a:ext>
            </a:extLst>
          </p:cNvPr>
          <p:cNvSpPr/>
          <p:nvPr/>
        </p:nvSpPr>
        <p:spPr>
          <a:xfrm>
            <a:off x="10085704" y="3928964"/>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6046EB7F-BFCE-48AE-A57C-9E80C3281270}"/>
              </a:ext>
            </a:extLst>
          </p:cNvPr>
          <p:cNvSpPr txBox="1"/>
          <p:nvPr/>
        </p:nvSpPr>
        <p:spPr>
          <a:xfrm>
            <a:off x="10131424" y="3974684"/>
            <a:ext cx="365760" cy="320040"/>
          </a:xfrm>
          <a:prstGeom prst="rect">
            <a:avLst/>
          </a:prstGeom>
          <a:noFill/>
        </p:spPr>
        <p:txBody>
          <a:bodyPr wrap="square">
            <a:spAutoFit/>
          </a:bodyPr>
          <a:lstStyle/>
          <a:p>
            <a:pPr algn="ctr"/>
            <a:r>
              <a:rPr sz="1800" b="0" i="0">
                <a:solidFill>
                  <a:srgbClr val="FFFFFF"/>
                </a:solidFill>
              </a:rPr>
              <a:t>🗄️</a:t>
            </a:r>
          </a:p>
        </p:txBody>
      </p:sp>
      <p:sp>
        <p:nvSpPr>
          <p:cNvPr id="65" name="TextBox 64">
            <a:extLst>
              <a:ext uri="{FF2B5EF4-FFF2-40B4-BE49-F238E27FC236}">
                <a16:creationId xmlns:a16="http://schemas.microsoft.com/office/drawing/2014/main" id="{09FD73B9-B6D0-074F-B37B-1472FB118E55}"/>
              </a:ext>
            </a:extLst>
          </p:cNvPr>
          <p:cNvSpPr txBox="1"/>
          <p:nvPr/>
        </p:nvSpPr>
        <p:spPr>
          <a:xfrm>
            <a:off x="10158856" y="4002116"/>
            <a:ext cx="1828800" cy="274320"/>
          </a:xfrm>
          <a:prstGeom prst="rect">
            <a:avLst/>
          </a:prstGeom>
          <a:noFill/>
        </p:spPr>
        <p:txBody>
          <a:bodyPr wrap="square">
            <a:spAutoFit/>
          </a:bodyPr>
          <a:lstStyle/>
          <a:p>
            <a:pPr algn="ctr"/>
            <a:r>
              <a:rPr sz="900" b="1" i="0">
                <a:solidFill>
                  <a:srgbClr val="4FC3F7"/>
                </a:solidFill>
              </a:rPr>
              <a:t>Query
Cache</a:t>
            </a:r>
          </a:p>
        </p:txBody>
      </p:sp>
      <p:sp>
        <p:nvSpPr>
          <p:cNvPr id="66" name="TextBox 65">
            <a:extLst>
              <a:ext uri="{FF2B5EF4-FFF2-40B4-BE49-F238E27FC236}">
                <a16:creationId xmlns:a16="http://schemas.microsoft.com/office/drawing/2014/main" id="{0257EA28-89EB-6735-6CDA-0BF0EAFA1024}"/>
              </a:ext>
            </a:extLst>
          </p:cNvPr>
          <p:cNvSpPr txBox="1"/>
          <p:nvPr/>
        </p:nvSpPr>
        <p:spPr>
          <a:xfrm>
            <a:off x="10158856" y="4404452"/>
            <a:ext cx="1828800" cy="256032"/>
          </a:xfrm>
          <a:prstGeom prst="rect">
            <a:avLst/>
          </a:prstGeom>
          <a:noFill/>
        </p:spPr>
        <p:txBody>
          <a:bodyPr wrap="square">
            <a:spAutoFit/>
          </a:bodyPr>
          <a:lstStyle/>
          <a:p>
            <a:pPr algn="ctr"/>
            <a:r>
              <a:rPr sz="700" b="0" i="0">
                <a:solidFill>
                  <a:srgbClr val="B0BEC5"/>
                </a:solidFill>
              </a:rPr>
              <a:t>Session-level memory</a:t>
            </a:r>
          </a:p>
        </p:txBody>
      </p:sp>
      <p:sp>
        <p:nvSpPr>
          <p:cNvPr id="67" name="TextBox 66">
            <a:extLst>
              <a:ext uri="{FF2B5EF4-FFF2-40B4-BE49-F238E27FC236}">
                <a16:creationId xmlns:a16="http://schemas.microsoft.com/office/drawing/2014/main" id="{DD85F287-69CA-BC75-6428-425A0C32A785}"/>
              </a:ext>
            </a:extLst>
          </p:cNvPr>
          <p:cNvSpPr txBox="1"/>
          <p:nvPr/>
        </p:nvSpPr>
        <p:spPr>
          <a:xfrm>
            <a:off x="3227705" y="4733636"/>
            <a:ext cx="274320" cy="274320"/>
          </a:xfrm>
          <a:prstGeom prst="rect">
            <a:avLst/>
          </a:prstGeom>
          <a:noFill/>
        </p:spPr>
        <p:txBody>
          <a:bodyPr wrap="square">
            <a:spAutoFit/>
          </a:bodyPr>
          <a:lstStyle/>
          <a:p>
            <a:pPr algn="ctr"/>
            <a:r>
              <a:rPr sz="1000" b="0" i="0">
                <a:solidFill>
                  <a:srgbClr val="B0BEC5"/>
                </a:solidFill>
              </a:rPr>
              <a:t>⬇</a:t>
            </a:r>
          </a:p>
        </p:txBody>
      </p:sp>
      <p:sp>
        <p:nvSpPr>
          <p:cNvPr id="68" name="TextBox 67">
            <a:extLst>
              <a:ext uri="{FF2B5EF4-FFF2-40B4-BE49-F238E27FC236}">
                <a16:creationId xmlns:a16="http://schemas.microsoft.com/office/drawing/2014/main" id="{CAEBAE93-BC1D-0A94-271E-BD7965F63338}"/>
              </a:ext>
            </a:extLst>
          </p:cNvPr>
          <p:cNvSpPr txBox="1"/>
          <p:nvPr/>
        </p:nvSpPr>
        <p:spPr>
          <a:xfrm>
            <a:off x="5970905" y="4733636"/>
            <a:ext cx="274320" cy="274320"/>
          </a:xfrm>
          <a:prstGeom prst="rect">
            <a:avLst/>
          </a:prstGeom>
          <a:noFill/>
        </p:spPr>
        <p:txBody>
          <a:bodyPr wrap="square">
            <a:spAutoFit/>
          </a:bodyPr>
          <a:lstStyle/>
          <a:p>
            <a:pPr algn="ctr"/>
            <a:r>
              <a:rPr sz="1000" b="0" i="0">
                <a:solidFill>
                  <a:srgbClr val="B0BEC5"/>
                </a:solidFill>
              </a:rPr>
              <a:t>⬇</a:t>
            </a:r>
          </a:p>
        </p:txBody>
      </p:sp>
      <p:sp>
        <p:nvSpPr>
          <p:cNvPr id="69" name="TextBox 68">
            <a:extLst>
              <a:ext uri="{FF2B5EF4-FFF2-40B4-BE49-F238E27FC236}">
                <a16:creationId xmlns:a16="http://schemas.microsoft.com/office/drawing/2014/main" id="{76D43460-9F21-746A-F092-27C4AB3E1F48}"/>
              </a:ext>
            </a:extLst>
          </p:cNvPr>
          <p:cNvSpPr txBox="1"/>
          <p:nvPr/>
        </p:nvSpPr>
        <p:spPr>
          <a:xfrm>
            <a:off x="8714105" y="4733636"/>
            <a:ext cx="274320" cy="274320"/>
          </a:xfrm>
          <a:prstGeom prst="rect">
            <a:avLst/>
          </a:prstGeom>
          <a:noFill/>
        </p:spPr>
        <p:txBody>
          <a:bodyPr wrap="square">
            <a:spAutoFit/>
          </a:bodyPr>
          <a:lstStyle/>
          <a:p>
            <a:pPr algn="ctr"/>
            <a:r>
              <a:rPr sz="1000" b="0" i="0">
                <a:solidFill>
                  <a:srgbClr val="B0BEC5"/>
                </a:solidFill>
              </a:rPr>
              <a:t>⬇</a:t>
            </a:r>
          </a:p>
        </p:txBody>
      </p:sp>
      <p:sp>
        <p:nvSpPr>
          <p:cNvPr id="70" name="Rounded Rectangle 69">
            <a:extLst>
              <a:ext uri="{FF2B5EF4-FFF2-40B4-BE49-F238E27FC236}">
                <a16:creationId xmlns:a16="http://schemas.microsoft.com/office/drawing/2014/main" id="{647C4974-F61E-0FB0-1BCE-183409D1325C}"/>
              </a:ext>
            </a:extLst>
          </p:cNvPr>
          <p:cNvSpPr/>
          <p:nvPr/>
        </p:nvSpPr>
        <p:spPr>
          <a:xfrm>
            <a:off x="255905" y="4953092"/>
            <a:ext cx="11750040" cy="914400"/>
          </a:xfrm>
          <a:prstGeom prst="roundRect">
            <a:avLst/>
          </a:prstGeom>
          <a:solidFill>
            <a:srgbClr val="64748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endParaRPr lang="en-IN" sz="1900">
              <a:solidFill>
                <a:schemeClr val="bg1"/>
              </a:solidFill>
            </a:endParaRPr>
          </a:p>
        </p:txBody>
      </p:sp>
      <p:sp>
        <p:nvSpPr>
          <p:cNvPr id="71" name="TextBox 70">
            <a:extLst>
              <a:ext uri="{FF2B5EF4-FFF2-40B4-BE49-F238E27FC236}">
                <a16:creationId xmlns:a16="http://schemas.microsoft.com/office/drawing/2014/main" id="{653E0CAD-19F4-8C5E-4A03-F3B06331F2C3}"/>
              </a:ext>
            </a:extLst>
          </p:cNvPr>
          <p:cNvSpPr txBox="1"/>
          <p:nvPr/>
        </p:nvSpPr>
        <p:spPr>
          <a:xfrm>
            <a:off x="283337" y="5194849"/>
            <a:ext cx="1280160" cy="430887"/>
          </a:xfrm>
          <a:prstGeom prst="rect">
            <a:avLst/>
          </a:prstGeom>
          <a:noFill/>
        </p:spPr>
        <p:txBody>
          <a:bodyPr wrap="square">
            <a:spAutoFit/>
          </a:bodyPr>
          <a:lstStyle/>
          <a:p>
            <a:pPr algn="ctr"/>
            <a:r>
              <a:rPr lang="en-IN" sz="1100" b="1" i="0">
                <a:solidFill>
                  <a:schemeClr val="bg1"/>
                </a:solidFill>
              </a:rPr>
              <a:t>PRESENTATION LAYER</a:t>
            </a:r>
          </a:p>
        </p:txBody>
      </p:sp>
      <p:sp>
        <p:nvSpPr>
          <p:cNvPr id="72" name="Rounded Rectangle 71">
            <a:extLst>
              <a:ext uri="{FF2B5EF4-FFF2-40B4-BE49-F238E27FC236}">
                <a16:creationId xmlns:a16="http://schemas.microsoft.com/office/drawing/2014/main" id="{9E9D9888-83B9-FBCC-44E4-FAFF680F5F25}"/>
              </a:ext>
            </a:extLst>
          </p:cNvPr>
          <p:cNvSpPr/>
          <p:nvPr/>
        </p:nvSpPr>
        <p:spPr>
          <a:xfrm>
            <a:off x="1718945" y="5044532"/>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018CC89B-51D4-24BD-7301-07990656C152}"/>
              </a:ext>
            </a:extLst>
          </p:cNvPr>
          <p:cNvSpPr txBox="1"/>
          <p:nvPr/>
        </p:nvSpPr>
        <p:spPr>
          <a:xfrm>
            <a:off x="1764665" y="5090252"/>
            <a:ext cx="365760" cy="320040"/>
          </a:xfrm>
          <a:prstGeom prst="rect">
            <a:avLst/>
          </a:prstGeom>
          <a:noFill/>
        </p:spPr>
        <p:txBody>
          <a:bodyPr wrap="square">
            <a:spAutoFit/>
          </a:bodyPr>
          <a:lstStyle/>
          <a:p>
            <a:pPr algn="ctr"/>
            <a:r>
              <a:rPr sz="1800" b="0" i="0">
                <a:solidFill>
                  <a:srgbClr val="FFFFFF"/>
                </a:solidFill>
              </a:rPr>
              <a:t>📊</a:t>
            </a:r>
          </a:p>
        </p:txBody>
      </p:sp>
      <p:sp>
        <p:nvSpPr>
          <p:cNvPr id="74" name="TextBox 73">
            <a:extLst>
              <a:ext uri="{FF2B5EF4-FFF2-40B4-BE49-F238E27FC236}">
                <a16:creationId xmlns:a16="http://schemas.microsoft.com/office/drawing/2014/main" id="{B47C307F-912A-153B-C127-8CE79EA48C5F}"/>
              </a:ext>
            </a:extLst>
          </p:cNvPr>
          <p:cNvSpPr txBox="1"/>
          <p:nvPr/>
        </p:nvSpPr>
        <p:spPr>
          <a:xfrm>
            <a:off x="1792097" y="5117684"/>
            <a:ext cx="1828800" cy="274320"/>
          </a:xfrm>
          <a:prstGeom prst="rect">
            <a:avLst/>
          </a:prstGeom>
          <a:noFill/>
        </p:spPr>
        <p:txBody>
          <a:bodyPr wrap="square">
            <a:spAutoFit/>
          </a:bodyPr>
          <a:lstStyle/>
          <a:p>
            <a:pPr algn="ctr"/>
            <a:r>
              <a:rPr sz="900" b="1" i="0">
                <a:solidFill>
                  <a:srgbClr val="4FC3F7"/>
                </a:solidFill>
              </a:rPr>
              <a:t>Plotly
Charts</a:t>
            </a:r>
          </a:p>
        </p:txBody>
      </p:sp>
      <p:sp>
        <p:nvSpPr>
          <p:cNvPr id="75" name="TextBox 74">
            <a:extLst>
              <a:ext uri="{FF2B5EF4-FFF2-40B4-BE49-F238E27FC236}">
                <a16:creationId xmlns:a16="http://schemas.microsoft.com/office/drawing/2014/main" id="{64742BDB-7D23-A105-A200-2348FDF1ABBF}"/>
              </a:ext>
            </a:extLst>
          </p:cNvPr>
          <p:cNvSpPr txBox="1"/>
          <p:nvPr/>
        </p:nvSpPr>
        <p:spPr>
          <a:xfrm>
            <a:off x="1792097" y="5520019"/>
            <a:ext cx="1828800" cy="256032"/>
          </a:xfrm>
          <a:prstGeom prst="rect">
            <a:avLst/>
          </a:prstGeom>
          <a:noFill/>
        </p:spPr>
        <p:txBody>
          <a:bodyPr wrap="square">
            <a:spAutoFit/>
          </a:bodyPr>
          <a:lstStyle/>
          <a:p>
            <a:pPr algn="ctr"/>
            <a:r>
              <a:rPr sz="700" b="0" i="0">
                <a:solidFill>
                  <a:srgbClr val="B0BEC5"/>
                </a:solidFill>
              </a:rPr>
              <a:t>Auto chart selection</a:t>
            </a:r>
          </a:p>
        </p:txBody>
      </p:sp>
      <p:sp>
        <p:nvSpPr>
          <p:cNvPr id="76" name="TextBox 75">
            <a:extLst>
              <a:ext uri="{FF2B5EF4-FFF2-40B4-BE49-F238E27FC236}">
                <a16:creationId xmlns:a16="http://schemas.microsoft.com/office/drawing/2014/main" id="{4C22D88C-1A71-B66D-955E-C600310DF96B}"/>
              </a:ext>
            </a:extLst>
          </p:cNvPr>
          <p:cNvSpPr txBox="1"/>
          <p:nvPr/>
        </p:nvSpPr>
        <p:spPr>
          <a:xfrm>
            <a:off x="3963796" y="5282276"/>
            <a:ext cx="228600" cy="274320"/>
          </a:xfrm>
          <a:prstGeom prst="rect">
            <a:avLst/>
          </a:prstGeom>
          <a:noFill/>
        </p:spPr>
        <p:txBody>
          <a:bodyPr wrap="square">
            <a:spAutoFit/>
          </a:bodyPr>
          <a:lstStyle/>
          <a:p>
            <a:pPr algn="ctr"/>
            <a:r>
              <a:rPr sz="1200" b="0" i="0">
                <a:solidFill>
                  <a:srgbClr val="A78BFA"/>
                </a:solidFill>
              </a:rPr>
              <a:t>→</a:t>
            </a:r>
          </a:p>
        </p:txBody>
      </p:sp>
      <p:sp>
        <p:nvSpPr>
          <p:cNvPr id="77" name="Rounded Rectangle 76">
            <a:extLst>
              <a:ext uri="{FF2B5EF4-FFF2-40B4-BE49-F238E27FC236}">
                <a16:creationId xmlns:a16="http://schemas.microsoft.com/office/drawing/2014/main" id="{F0998B69-C47A-56B4-1019-DBD2EFB561C9}"/>
              </a:ext>
            </a:extLst>
          </p:cNvPr>
          <p:cNvSpPr/>
          <p:nvPr/>
        </p:nvSpPr>
        <p:spPr>
          <a:xfrm>
            <a:off x="4507865" y="5044532"/>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E0E18804-527F-38A8-81AC-3090627B5DC9}"/>
              </a:ext>
            </a:extLst>
          </p:cNvPr>
          <p:cNvSpPr txBox="1"/>
          <p:nvPr/>
        </p:nvSpPr>
        <p:spPr>
          <a:xfrm>
            <a:off x="4553585" y="5090252"/>
            <a:ext cx="365760" cy="320040"/>
          </a:xfrm>
          <a:prstGeom prst="rect">
            <a:avLst/>
          </a:prstGeom>
          <a:noFill/>
        </p:spPr>
        <p:txBody>
          <a:bodyPr wrap="square">
            <a:spAutoFit/>
          </a:bodyPr>
          <a:lstStyle/>
          <a:p>
            <a:pPr algn="ctr"/>
            <a:r>
              <a:rPr sz="1800" b="0" i="0">
                <a:solidFill>
                  <a:srgbClr val="FFFFFF"/>
                </a:solidFill>
              </a:rPr>
              <a:t>🔢</a:t>
            </a:r>
          </a:p>
        </p:txBody>
      </p:sp>
      <p:sp>
        <p:nvSpPr>
          <p:cNvPr id="79" name="TextBox 78">
            <a:extLst>
              <a:ext uri="{FF2B5EF4-FFF2-40B4-BE49-F238E27FC236}">
                <a16:creationId xmlns:a16="http://schemas.microsoft.com/office/drawing/2014/main" id="{024025E8-6FF0-58CE-7B14-BEAFF4058BFB}"/>
              </a:ext>
            </a:extLst>
          </p:cNvPr>
          <p:cNvSpPr txBox="1"/>
          <p:nvPr/>
        </p:nvSpPr>
        <p:spPr>
          <a:xfrm>
            <a:off x="4581017" y="5117684"/>
            <a:ext cx="1828800" cy="274320"/>
          </a:xfrm>
          <a:prstGeom prst="rect">
            <a:avLst/>
          </a:prstGeom>
          <a:noFill/>
        </p:spPr>
        <p:txBody>
          <a:bodyPr wrap="square">
            <a:spAutoFit/>
          </a:bodyPr>
          <a:lstStyle/>
          <a:p>
            <a:pPr algn="ctr"/>
            <a:r>
              <a:rPr sz="900" b="1" i="0">
                <a:solidFill>
                  <a:srgbClr val="4FC3F7"/>
                </a:solidFill>
              </a:rPr>
              <a:t>KPI
Dashboard</a:t>
            </a:r>
          </a:p>
        </p:txBody>
      </p:sp>
      <p:sp>
        <p:nvSpPr>
          <p:cNvPr id="80" name="TextBox 79">
            <a:extLst>
              <a:ext uri="{FF2B5EF4-FFF2-40B4-BE49-F238E27FC236}">
                <a16:creationId xmlns:a16="http://schemas.microsoft.com/office/drawing/2014/main" id="{5B5BB9C9-566D-718E-3EEC-507F3D2907A8}"/>
              </a:ext>
            </a:extLst>
          </p:cNvPr>
          <p:cNvSpPr txBox="1"/>
          <p:nvPr/>
        </p:nvSpPr>
        <p:spPr>
          <a:xfrm>
            <a:off x="4581017" y="5520019"/>
            <a:ext cx="1828800" cy="256032"/>
          </a:xfrm>
          <a:prstGeom prst="rect">
            <a:avLst/>
          </a:prstGeom>
          <a:noFill/>
        </p:spPr>
        <p:txBody>
          <a:bodyPr wrap="square">
            <a:spAutoFit/>
          </a:bodyPr>
          <a:lstStyle/>
          <a:p>
            <a:pPr algn="ctr"/>
            <a:r>
              <a:rPr sz="700" b="0" i="0">
                <a:solidFill>
                  <a:srgbClr val="B0BEC5"/>
                </a:solidFill>
              </a:rPr>
              <a:t>Executive metrics</a:t>
            </a:r>
          </a:p>
        </p:txBody>
      </p:sp>
      <p:sp>
        <p:nvSpPr>
          <p:cNvPr id="81" name="TextBox 80">
            <a:extLst>
              <a:ext uri="{FF2B5EF4-FFF2-40B4-BE49-F238E27FC236}">
                <a16:creationId xmlns:a16="http://schemas.microsoft.com/office/drawing/2014/main" id="{6686EB29-94B7-4037-0308-EE6E85F3A76D}"/>
              </a:ext>
            </a:extLst>
          </p:cNvPr>
          <p:cNvSpPr txBox="1"/>
          <p:nvPr/>
        </p:nvSpPr>
        <p:spPr>
          <a:xfrm>
            <a:off x="6752717" y="5282276"/>
            <a:ext cx="228600" cy="274320"/>
          </a:xfrm>
          <a:prstGeom prst="rect">
            <a:avLst/>
          </a:prstGeom>
          <a:noFill/>
        </p:spPr>
        <p:txBody>
          <a:bodyPr wrap="square">
            <a:spAutoFit/>
          </a:bodyPr>
          <a:lstStyle/>
          <a:p>
            <a:pPr algn="ctr"/>
            <a:r>
              <a:rPr sz="1200" b="0" i="0">
                <a:solidFill>
                  <a:srgbClr val="A78BFA"/>
                </a:solidFill>
              </a:rPr>
              <a:t>→</a:t>
            </a:r>
          </a:p>
        </p:txBody>
      </p:sp>
      <p:sp>
        <p:nvSpPr>
          <p:cNvPr id="82" name="Rounded Rectangle 81">
            <a:extLst>
              <a:ext uri="{FF2B5EF4-FFF2-40B4-BE49-F238E27FC236}">
                <a16:creationId xmlns:a16="http://schemas.microsoft.com/office/drawing/2014/main" id="{2C9E600B-395D-B51A-013C-A7EFAAAB7352}"/>
              </a:ext>
            </a:extLst>
          </p:cNvPr>
          <p:cNvSpPr/>
          <p:nvPr/>
        </p:nvSpPr>
        <p:spPr>
          <a:xfrm>
            <a:off x="7296784" y="5044532"/>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a:extLst>
              <a:ext uri="{FF2B5EF4-FFF2-40B4-BE49-F238E27FC236}">
                <a16:creationId xmlns:a16="http://schemas.microsoft.com/office/drawing/2014/main" id="{FB8D23C1-DB27-1EBA-1663-1822B4B5458E}"/>
              </a:ext>
            </a:extLst>
          </p:cNvPr>
          <p:cNvSpPr txBox="1"/>
          <p:nvPr/>
        </p:nvSpPr>
        <p:spPr>
          <a:xfrm>
            <a:off x="7342504" y="5090252"/>
            <a:ext cx="365760" cy="320040"/>
          </a:xfrm>
          <a:prstGeom prst="rect">
            <a:avLst/>
          </a:prstGeom>
          <a:noFill/>
        </p:spPr>
        <p:txBody>
          <a:bodyPr wrap="square">
            <a:spAutoFit/>
          </a:bodyPr>
          <a:lstStyle/>
          <a:p>
            <a:pPr algn="ctr"/>
            <a:r>
              <a:rPr sz="1800" b="0" i="0">
                <a:solidFill>
                  <a:srgbClr val="FFFFFF"/>
                </a:solidFill>
              </a:rPr>
              <a:t>🔬</a:t>
            </a:r>
          </a:p>
        </p:txBody>
      </p:sp>
      <p:sp>
        <p:nvSpPr>
          <p:cNvPr id="84" name="TextBox 83">
            <a:extLst>
              <a:ext uri="{FF2B5EF4-FFF2-40B4-BE49-F238E27FC236}">
                <a16:creationId xmlns:a16="http://schemas.microsoft.com/office/drawing/2014/main" id="{EBA5F5F8-6DE7-0ECD-1BEA-00F8BAB2F2A6}"/>
              </a:ext>
            </a:extLst>
          </p:cNvPr>
          <p:cNvSpPr txBox="1"/>
          <p:nvPr/>
        </p:nvSpPr>
        <p:spPr>
          <a:xfrm>
            <a:off x="7369936" y="5117684"/>
            <a:ext cx="1828800" cy="274320"/>
          </a:xfrm>
          <a:prstGeom prst="rect">
            <a:avLst/>
          </a:prstGeom>
          <a:noFill/>
        </p:spPr>
        <p:txBody>
          <a:bodyPr wrap="square">
            <a:spAutoFit/>
          </a:bodyPr>
          <a:lstStyle/>
          <a:p>
            <a:pPr algn="ctr"/>
            <a:r>
              <a:rPr sz="900" b="1" i="0">
                <a:solidFill>
                  <a:srgbClr val="4FC3F7"/>
                </a:solidFill>
              </a:rPr>
              <a:t>DQ
Intelligence</a:t>
            </a:r>
          </a:p>
        </p:txBody>
      </p:sp>
      <p:sp>
        <p:nvSpPr>
          <p:cNvPr id="85" name="TextBox 84">
            <a:extLst>
              <a:ext uri="{FF2B5EF4-FFF2-40B4-BE49-F238E27FC236}">
                <a16:creationId xmlns:a16="http://schemas.microsoft.com/office/drawing/2014/main" id="{61C8D13C-EEF9-D1BC-D745-700DA8C6A1F8}"/>
              </a:ext>
            </a:extLst>
          </p:cNvPr>
          <p:cNvSpPr txBox="1"/>
          <p:nvPr/>
        </p:nvSpPr>
        <p:spPr>
          <a:xfrm>
            <a:off x="7369936" y="5520019"/>
            <a:ext cx="1828800" cy="256032"/>
          </a:xfrm>
          <a:prstGeom prst="rect">
            <a:avLst/>
          </a:prstGeom>
          <a:noFill/>
        </p:spPr>
        <p:txBody>
          <a:bodyPr wrap="square">
            <a:spAutoFit/>
          </a:bodyPr>
          <a:lstStyle/>
          <a:p>
            <a:pPr algn="ctr"/>
            <a:r>
              <a:rPr sz="700" b="0" i="0">
                <a:solidFill>
                  <a:srgbClr val="B0BEC5"/>
                </a:solidFill>
              </a:rPr>
              <a:t>Statistical health check</a:t>
            </a:r>
          </a:p>
        </p:txBody>
      </p:sp>
      <p:sp>
        <p:nvSpPr>
          <p:cNvPr id="86" name="TextBox 85">
            <a:extLst>
              <a:ext uri="{FF2B5EF4-FFF2-40B4-BE49-F238E27FC236}">
                <a16:creationId xmlns:a16="http://schemas.microsoft.com/office/drawing/2014/main" id="{FE019E1A-4473-19C1-09A1-EAA9A58F4242}"/>
              </a:ext>
            </a:extLst>
          </p:cNvPr>
          <p:cNvSpPr txBox="1"/>
          <p:nvPr/>
        </p:nvSpPr>
        <p:spPr>
          <a:xfrm>
            <a:off x="9541637" y="5282276"/>
            <a:ext cx="228600" cy="274320"/>
          </a:xfrm>
          <a:prstGeom prst="rect">
            <a:avLst/>
          </a:prstGeom>
          <a:noFill/>
        </p:spPr>
        <p:txBody>
          <a:bodyPr wrap="square">
            <a:spAutoFit/>
          </a:bodyPr>
          <a:lstStyle/>
          <a:p>
            <a:pPr algn="ctr"/>
            <a:r>
              <a:rPr sz="1200" b="0" i="0">
                <a:solidFill>
                  <a:srgbClr val="A78BFA"/>
                </a:solidFill>
              </a:rPr>
              <a:t>→</a:t>
            </a:r>
          </a:p>
        </p:txBody>
      </p:sp>
      <p:sp>
        <p:nvSpPr>
          <p:cNvPr id="87" name="Rounded Rectangle 86">
            <a:extLst>
              <a:ext uri="{FF2B5EF4-FFF2-40B4-BE49-F238E27FC236}">
                <a16:creationId xmlns:a16="http://schemas.microsoft.com/office/drawing/2014/main" id="{0FC6C8FE-2662-6FF4-C928-77C6CFC12CE9}"/>
              </a:ext>
            </a:extLst>
          </p:cNvPr>
          <p:cNvSpPr/>
          <p:nvPr/>
        </p:nvSpPr>
        <p:spPr>
          <a:xfrm>
            <a:off x="10085704" y="5044532"/>
            <a:ext cx="1920240" cy="749808"/>
          </a:xfrm>
          <a:prstGeom prst="roundRect">
            <a:avLst/>
          </a:prstGeom>
          <a:solidFill>
            <a:srgbClr val="0F1F30"/>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extLst>
              <a:ext uri="{FF2B5EF4-FFF2-40B4-BE49-F238E27FC236}">
                <a16:creationId xmlns:a16="http://schemas.microsoft.com/office/drawing/2014/main" id="{80BE8B1F-DD5F-3474-2A9E-3B9E134D75B3}"/>
              </a:ext>
            </a:extLst>
          </p:cNvPr>
          <p:cNvSpPr txBox="1"/>
          <p:nvPr/>
        </p:nvSpPr>
        <p:spPr>
          <a:xfrm>
            <a:off x="10131424" y="5090252"/>
            <a:ext cx="365760" cy="320040"/>
          </a:xfrm>
          <a:prstGeom prst="rect">
            <a:avLst/>
          </a:prstGeom>
          <a:noFill/>
        </p:spPr>
        <p:txBody>
          <a:bodyPr wrap="square">
            <a:spAutoFit/>
          </a:bodyPr>
          <a:lstStyle/>
          <a:p>
            <a:pPr algn="ctr"/>
            <a:r>
              <a:rPr sz="1800" b="0" i="0">
                <a:solidFill>
                  <a:srgbClr val="FFFFFF"/>
                </a:solidFill>
              </a:rPr>
              <a:t>💡</a:t>
            </a:r>
          </a:p>
        </p:txBody>
      </p:sp>
      <p:sp>
        <p:nvSpPr>
          <p:cNvPr id="89" name="TextBox 88">
            <a:extLst>
              <a:ext uri="{FF2B5EF4-FFF2-40B4-BE49-F238E27FC236}">
                <a16:creationId xmlns:a16="http://schemas.microsoft.com/office/drawing/2014/main" id="{B60AF965-5277-1BE8-B464-22EB2A4D937F}"/>
              </a:ext>
            </a:extLst>
          </p:cNvPr>
          <p:cNvSpPr txBox="1"/>
          <p:nvPr/>
        </p:nvSpPr>
        <p:spPr>
          <a:xfrm>
            <a:off x="10158856" y="5117684"/>
            <a:ext cx="1828800" cy="274320"/>
          </a:xfrm>
          <a:prstGeom prst="rect">
            <a:avLst/>
          </a:prstGeom>
          <a:noFill/>
        </p:spPr>
        <p:txBody>
          <a:bodyPr wrap="square">
            <a:spAutoFit/>
          </a:bodyPr>
          <a:lstStyle/>
          <a:p>
            <a:pPr algn="ctr"/>
            <a:r>
              <a:rPr sz="900" b="1" i="0">
                <a:solidFill>
                  <a:srgbClr val="4FC3F7"/>
                </a:solidFill>
              </a:rPr>
              <a:t>AI Insights</a:t>
            </a:r>
          </a:p>
        </p:txBody>
      </p:sp>
      <p:sp>
        <p:nvSpPr>
          <p:cNvPr id="90" name="TextBox 89">
            <a:extLst>
              <a:ext uri="{FF2B5EF4-FFF2-40B4-BE49-F238E27FC236}">
                <a16:creationId xmlns:a16="http://schemas.microsoft.com/office/drawing/2014/main" id="{1DE5E2B8-5E21-A594-91E3-035EBD11C55D}"/>
              </a:ext>
            </a:extLst>
          </p:cNvPr>
          <p:cNvSpPr txBox="1"/>
          <p:nvPr/>
        </p:nvSpPr>
        <p:spPr>
          <a:xfrm>
            <a:off x="10158856" y="5520019"/>
            <a:ext cx="1828800" cy="256032"/>
          </a:xfrm>
          <a:prstGeom prst="rect">
            <a:avLst/>
          </a:prstGeom>
          <a:noFill/>
        </p:spPr>
        <p:txBody>
          <a:bodyPr wrap="square">
            <a:spAutoFit/>
          </a:bodyPr>
          <a:lstStyle/>
          <a:p>
            <a:pPr algn="ctr"/>
            <a:r>
              <a:rPr sz="700" b="0" i="0">
                <a:solidFill>
                  <a:srgbClr val="B0BEC5"/>
                </a:solidFill>
              </a:rPr>
              <a:t>Summary · Facts · Reco</a:t>
            </a:r>
          </a:p>
        </p:txBody>
      </p:sp>
      <p:sp>
        <p:nvSpPr>
          <p:cNvPr id="91" name="TextBox 90">
            <a:extLst>
              <a:ext uri="{FF2B5EF4-FFF2-40B4-BE49-F238E27FC236}">
                <a16:creationId xmlns:a16="http://schemas.microsoft.com/office/drawing/2014/main" id="{B1DFBE91-4215-3A4A-CA7D-305F6D2DC1CE}"/>
              </a:ext>
            </a:extLst>
          </p:cNvPr>
          <p:cNvSpPr txBox="1"/>
          <p:nvPr/>
        </p:nvSpPr>
        <p:spPr>
          <a:xfrm>
            <a:off x="291706" y="6263362"/>
            <a:ext cx="1371600" cy="274320"/>
          </a:xfrm>
          <a:prstGeom prst="rect">
            <a:avLst/>
          </a:prstGeom>
          <a:noFill/>
        </p:spPr>
        <p:txBody>
          <a:bodyPr wrap="square">
            <a:spAutoFit/>
          </a:bodyPr>
          <a:lstStyle/>
          <a:p>
            <a:pPr algn="l"/>
            <a:r>
              <a:rPr sz="800" b="1" i="0">
                <a:solidFill>
                  <a:srgbClr val="B0BEC5"/>
                </a:solidFill>
              </a:rPr>
              <a:t>TECH STACK:</a:t>
            </a:r>
          </a:p>
        </p:txBody>
      </p:sp>
      <p:sp>
        <p:nvSpPr>
          <p:cNvPr id="92" name="Rounded Rectangle 91">
            <a:extLst>
              <a:ext uri="{FF2B5EF4-FFF2-40B4-BE49-F238E27FC236}">
                <a16:creationId xmlns:a16="http://schemas.microsoft.com/office/drawing/2014/main" id="{A1F11E50-C286-CA65-E25C-6DC8C06B4968}"/>
              </a:ext>
            </a:extLst>
          </p:cNvPr>
          <p:cNvSpPr/>
          <p:nvPr/>
        </p:nvSpPr>
        <p:spPr>
          <a:xfrm>
            <a:off x="1754746"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Python 3.11</a:t>
            </a:r>
          </a:p>
        </p:txBody>
      </p:sp>
      <p:sp>
        <p:nvSpPr>
          <p:cNvPr id="93" name="Rounded Rectangle 92">
            <a:extLst>
              <a:ext uri="{FF2B5EF4-FFF2-40B4-BE49-F238E27FC236}">
                <a16:creationId xmlns:a16="http://schemas.microsoft.com/office/drawing/2014/main" id="{A6E95CFF-C196-089D-1515-45220D9A4FC9}"/>
              </a:ext>
            </a:extLst>
          </p:cNvPr>
          <p:cNvSpPr/>
          <p:nvPr/>
        </p:nvSpPr>
        <p:spPr>
          <a:xfrm>
            <a:off x="2778874"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Streamlit</a:t>
            </a:r>
          </a:p>
        </p:txBody>
      </p:sp>
      <p:sp>
        <p:nvSpPr>
          <p:cNvPr id="94" name="Rounded Rectangle 93">
            <a:extLst>
              <a:ext uri="{FF2B5EF4-FFF2-40B4-BE49-F238E27FC236}">
                <a16:creationId xmlns:a16="http://schemas.microsoft.com/office/drawing/2014/main" id="{E6CB63F9-52E1-9A5C-6781-91A1D6E8CE61}"/>
              </a:ext>
            </a:extLst>
          </p:cNvPr>
          <p:cNvSpPr/>
          <p:nvPr/>
        </p:nvSpPr>
        <p:spPr>
          <a:xfrm>
            <a:off x="3803002"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DuckDB</a:t>
            </a:r>
          </a:p>
        </p:txBody>
      </p:sp>
      <p:sp>
        <p:nvSpPr>
          <p:cNvPr id="95" name="Rounded Rectangle 94">
            <a:extLst>
              <a:ext uri="{FF2B5EF4-FFF2-40B4-BE49-F238E27FC236}">
                <a16:creationId xmlns:a16="http://schemas.microsoft.com/office/drawing/2014/main" id="{F28EDEE3-A661-CB2C-7655-8AB1ADBD4EEA}"/>
              </a:ext>
            </a:extLst>
          </p:cNvPr>
          <p:cNvSpPr/>
          <p:nvPr/>
        </p:nvSpPr>
        <p:spPr>
          <a:xfrm>
            <a:off x="4827130"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LangChain</a:t>
            </a:r>
          </a:p>
        </p:txBody>
      </p:sp>
      <p:sp>
        <p:nvSpPr>
          <p:cNvPr id="96" name="Rounded Rectangle 95">
            <a:extLst>
              <a:ext uri="{FF2B5EF4-FFF2-40B4-BE49-F238E27FC236}">
                <a16:creationId xmlns:a16="http://schemas.microsoft.com/office/drawing/2014/main" id="{BF838D5F-3B14-6657-122C-C8552E6B3195}"/>
              </a:ext>
            </a:extLst>
          </p:cNvPr>
          <p:cNvSpPr/>
          <p:nvPr/>
        </p:nvSpPr>
        <p:spPr>
          <a:xfrm>
            <a:off x="5851258"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OpenAI GPT-4o</a:t>
            </a:r>
          </a:p>
        </p:txBody>
      </p:sp>
      <p:sp>
        <p:nvSpPr>
          <p:cNvPr id="97" name="Rounded Rectangle 96">
            <a:extLst>
              <a:ext uri="{FF2B5EF4-FFF2-40B4-BE49-F238E27FC236}">
                <a16:creationId xmlns:a16="http://schemas.microsoft.com/office/drawing/2014/main" id="{A7BD25F2-4A28-4FF5-F0CF-6AB2D0EA9FCF}"/>
              </a:ext>
            </a:extLst>
          </p:cNvPr>
          <p:cNvSpPr/>
          <p:nvPr/>
        </p:nvSpPr>
        <p:spPr>
          <a:xfrm>
            <a:off x="6875386"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Pandas</a:t>
            </a:r>
          </a:p>
        </p:txBody>
      </p:sp>
      <p:sp>
        <p:nvSpPr>
          <p:cNvPr id="98" name="Rounded Rectangle 97">
            <a:extLst>
              <a:ext uri="{FF2B5EF4-FFF2-40B4-BE49-F238E27FC236}">
                <a16:creationId xmlns:a16="http://schemas.microsoft.com/office/drawing/2014/main" id="{F7AEEB53-C7BB-E745-A491-1BFA0255E1CC}"/>
              </a:ext>
            </a:extLst>
          </p:cNvPr>
          <p:cNvSpPr/>
          <p:nvPr/>
        </p:nvSpPr>
        <p:spPr>
          <a:xfrm>
            <a:off x="7899514"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Plotly</a:t>
            </a:r>
          </a:p>
        </p:txBody>
      </p:sp>
      <p:sp>
        <p:nvSpPr>
          <p:cNvPr id="99" name="Rounded Rectangle 98">
            <a:extLst>
              <a:ext uri="{FF2B5EF4-FFF2-40B4-BE49-F238E27FC236}">
                <a16:creationId xmlns:a16="http://schemas.microsoft.com/office/drawing/2014/main" id="{CA07BA9E-F2F0-613D-5E55-28879CA7C194}"/>
              </a:ext>
            </a:extLst>
          </p:cNvPr>
          <p:cNvSpPr/>
          <p:nvPr/>
        </p:nvSpPr>
        <p:spPr>
          <a:xfrm>
            <a:off x="8923642"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DotEnv</a:t>
            </a:r>
          </a:p>
        </p:txBody>
      </p:sp>
      <p:sp>
        <p:nvSpPr>
          <p:cNvPr id="100" name="Rounded Rectangle 99">
            <a:extLst>
              <a:ext uri="{FF2B5EF4-FFF2-40B4-BE49-F238E27FC236}">
                <a16:creationId xmlns:a16="http://schemas.microsoft.com/office/drawing/2014/main" id="{325552F0-4019-21A5-D1BD-FF896F9F173C}"/>
              </a:ext>
            </a:extLst>
          </p:cNvPr>
          <p:cNvSpPr/>
          <p:nvPr/>
        </p:nvSpPr>
        <p:spPr>
          <a:xfrm>
            <a:off x="9947770"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NumPy</a:t>
            </a:r>
          </a:p>
        </p:txBody>
      </p:sp>
      <p:sp>
        <p:nvSpPr>
          <p:cNvPr id="101" name="Rounded Rectangle 100">
            <a:extLst>
              <a:ext uri="{FF2B5EF4-FFF2-40B4-BE49-F238E27FC236}">
                <a16:creationId xmlns:a16="http://schemas.microsoft.com/office/drawing/2014/main" id="{618DA125-A241-BB52-BF21-FEFC9BA2CDE1}"/>
              </a:ext>
            </a:extLst>
          </p:cNvPr>
          <p:cNvSpPr/>
          <p:nvPr/>
        </p:nvSpPr>
        <p:spPr>
          <a:xfrm>
            <a:off x="10971898" y="6263362"/>
            <a:ext cx="960120" cy="256032"/>
          </a:xfrm>
          <a:prstGeom prst="roundRect">
            <a:avLst/>
          </a:prstGeom>
          <a:solidFill>
            <a:srgbClr val="1E406E"/>
          </a:solidFill>
          <a:ln w="9525">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IN" sz="750" b="1">
                <a:solidFill>
                  <a:schemeClr val="bg1"/>
                </a:solidFill>
              </a:rPr>
              <a:t>Regex</a:t>
            </a:r>
          </a:p>
        </p:txBody>
      </p:sp>
      <p:sp>
        <p:nvSpPr>
          <p:cNvPr id="102" name="Text Placeholder 5">
            <a:extLst>
              <a:ext uri="{FF2B5EF4-FFF2-40B4-BE49-F238E27FC236}">
                <a16:creationId xmlns:a16="http://schemas.microsoft.com/office/drawing/2014/main" id="{764A3CEF-0280-7B4F-186B-A47F68AF593C}"/>
              </a:ext>
            </a:extLst>
          </p:cNvPr>
          <p:cNvSpPr txBox="1">
            <a:spLocks/>
          </p:cNvSpPr>
          <p:nvPr/>
        </p:nvSpPr>
        <p:spPr>
          <a:xfrm>
            <a:off x="515477" y="914376"/>
            <a:ext cx="11088050" cy="307777"/>
          </a:xfrm>
          <a:prstGeom prst="rect">
            <a:avLst/>
          </a:prstGeom>
        </p:spPr>
        <p:txBody>
          <a:bodyPr/>
          <a:lst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solidFill>
                  <a:schemeClr val="bg1"/>
                </a:solidFill>
              </a:rPr>
              <a:t>User Intent → Semantic Layer → SQL Engine → Insight</a:t>
            </a:r>
          </a:p>
        </p:txBody>
      </p:sp>
    </p:spTree>
    <p:extLst>
      <p:ext uri="{BB962C8B-B14F-4D97-AF65-F5344CB8AC3E}">
        <p14:creationId xmlns:p14="http://schemas.microsoft.com/office/powerpoint/2010/main" val="2720912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4FC4117-658D-6DF7-899C-911A9A3127EC}"/>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5D465231-2D16-15D4-BA62-4F6062816604}"/>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2E894EA3-59C2-D9DA-62B4-3D0A63E1E47B}"/>
              </a:ext>
            </a:extLst>
          </p:cNvPr>
          <p:cNvSpPr>
            <a:spLocks noGrp="1"/>
          </p:cNvSpPr>
          <p:nvPr>
            <p:ph type="sldNum" sz="quarter" idx="12"/>
          </p:nvPr>
        </p:nvSpPr>
        <p:spPr/>
        <p:txBody>
          <a:bodyPr/>
          <a:lstStyle/>
          <a:p>
            <a:pPr algn="r"/>
            <a:fld id="{5D9A5160-6218-4E5A-B9E6-B93E3DAE377C}" type="slidenum">
              <a:rPr lang="en-US" smtClean="0"/>
              <a:pPr algn="r"/>
              <a:t>7</a:t>
            </a:fld>
            <a:endParaRPr lang="en-US"/>
          </a:p>
        </p:txBody>
      </p:sp>
      <p:sp>
        <p:nvSpPr>
          <p:cNvPr id="6" name="Rounded Rectangle 5">
            <a:extLst>
              <a:ext uri="{FF2B5EF4-FFF2-40B4-BE49-F238E27FC236}">
                <a16:creationId xmlns:a16="http://schemas.microsoft.com/office/drawing/2014/main" id="{8CF16BEB-09CD-8826-5BA5-01D8D16B4222}"/>
              </a:ext>
            </a:extLst>
          </p:cNvPr>
          <p:cNvSpPr/>
          <p:nvPr/>
        </p:nvSpPr>
        <p:spPr>
          <a:xfrm>
            <a:off x="192505" y="1787466"/>
            <a:ext cx="11906441" cy="1191512"/>
          </a:xfrm>
          <a:prstGeom prst="roundRect">
            <a:avLst/>
          </a:prstGeom>
          <a:solidFill>
            <a:srgbClr val="3B82F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endParaRPr lang="en-US" sz="1900" dirty="0" err="1">
              <a:solidFill>
                <a:schemeClr val="bg1"/>
              </a:solidFill>
            </a:endParaRPr>
          </a:p>
        </p:txBody>
      </p:sp>
      <p:sp>
        <p:nvSpPr>
          <p:cNvPr id="7" name="Rounded Rectangle 6">
            <a:extLst>
              <a:ext uri="{FF2B5EF4-FFF2-40B4-BE49-F238E27FC236}">
                <a16:creationId xmlns:a16="http://schemas.microsoft.com/office/drawing/2014/main" id="{8120300A-A7BE-F5F2-FE86-84452A525247}"/>
              </a:ext>
            </a:extLst>
          </p:cNvPr>
          <p:cNvSpPr/>
          <p:nvPr/>
        </p:nvSpPr>
        <p:spPr>
          <a:xfrm>
            <a:off x="192506" y="5703369"/>
            <a:ext cx="11906442" cy="881438"/>
          </a:xfrm>
          <a:prstGeom prst="roundRect">
            <a:avLst/>
          </a:prstGeom>
          <a:solidFill>
            <a:srgbClr val="64748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endParaRPr lang="en-US" sz="1900" dirty="0" err="1">
              <a:solidFill>
                <a:schemeClr val="bg1"/>
              </a:solidFill>
            </a:endParaRPr>
          </a:p>
        </p:txBody>
      </p:sp>
      <p:sp>
        <p:nvSpPr>
          <p:cNvPr id="8" name="Rounded Rectangle 7">
            <a:extLst>
              <a:ext uri="{FF2B5EF4-FFF2-40B4-BE49-F238E27FC236}">
                <a16:creationId xmlns:a16="http://schemas.microsoft.com/office/drawing/2014/main" id="{7C3CC157-CF1D-9E4C-9819-7B5B6E94687B}"/>
              </a:ext>
            </a:extLst>
          </p:cNvPr>
          <p:cNvSpPr/>
          <p:nvPr/>
        </p:nvSpPr>
        <p:spPr>
          <a:xfrm>
            <a:off x="192506" y="4746862"/>
            <a:ext cx="11906442" cy="881438"/>
          </a:xfrm>
          <a:prstGeom prst="roundRect">
            <a:avLst/>
          </a:prstGeom>
          <a:solidFill>
            <a:srgbClr val="14B8A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endParaRPr lang="en-US" sz="1900" dirty="0" err="1">
              <a:solidFill>
                <a:schemeClr val="bg1"/>
              </a:solidFill>
            </a:endParaRPr>
          </a:p>
        </p:txBody>
      </p:sp>
      <p:sp>
        <p:nvSpPr>
          <p:cNvPr id="9" name="Rounded Rectangle 8">
            <a:extLst>
              <a:ext uri="{FF2B5EF4-FFF2-40B4-BE49-F238E27FC236}">
                <a16:creationId xmlns:a16="http://schemas.microsoft.com/office/drawing/2014/main" id="{8368172D-EE12-7D1D-72F5-FB496CDF6408}"/>
              </a:ext>
            </a:extLst>
          </p:cNvPr>
          <p:cNvSpPr/>
          <p:nvPr/>
        </p:nvSpPr>
        <p:spPr>
          <a:xfrm>
            <a:off x="192506" y="3054046"/>
            <a:ext cx="11906442" cy="1617748"/>
          </a:xfrm>
          <a:prstGeom prst="roundRect">
            <a:avLst/>
          </a:prstGeom>
          <a:solidFill>
            <a:schemeClr val="accent2">
              <a:lumMod val="20000"/>
              <a:lumOff val="80000"/>
              <a:alpha val="20000"/>
            </a:schemeClr>
          </a:solidFill>
          <a:ln w="19050"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2" tIns="45708" rIns="91416" bIns="45708" numCol="1" spcCol="0" rtlCol="0" fromWordArt="0" anchor="ctr" anchorCtr="0" forceAA="0" compatLnSpc="1">
            <a:prstTxWarp prst="textNoShape">
              <a:avLst/>
            </a:prstTxWarp>
            <a:noAutofit/>
          </a:bodyPr>
          <a:lstStyle/>
          <a:p>
            <a:pPr defTabSz="914126"/>
            <a:endParaRPr lang="en-US" sz="1600" b="1" dirty="0" err="1">
              <a:solidFill>
                <a:prstClr val="black"/>
              </a:solidFill>
              <a:latin typeface="Ubuntu Light"/>
            </a:endParaRPr>
          </a:p>
        </p:txBody>
      </p:sp>
      <p:cxnSp>
        <p:nvCxnSpPr>
          <p:cNvPr id="10" name="Straight Arrow Connector 11">
            <a:extLst>
              <a:ext uri="{FF2B5EF4-FFF2-40B4-BE49-F238E27FC236}">
                <a16:creationId xmlns:a16="http://schemas.microsoft.com/office/drawing/2014/main" id="{B1BC1208-8CC7-FA72-BF5F-2E5AA01DD043}"/>
              </a:ext>
            </a:extLst>
          </p:cNvPr>
          <p:cNvCxnSpPr>
            <a:cxnSpLocks/>
            <a:stCxn id="57" idx="1"/>
            <a:endCxn id="11" idx="1"/>
          </p:cNvCxnSpPr>
          <p:nvPr/>
        </p:nvCxnSpPr>
        <p:spPr>
          <a:xfrm rot="10800000" flipV="1">
            <a:off x="1226595" y="2580933"/>
            <a:ext cx="4082065" cy="1513786"/>
          </a:xfrm>
          <a:prstGeom prst="bentConnector3">
            <a:avLst>
              <a:gd name="adj1" fmla="val 105600"/>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a:extLst>
              <a:ext uri="{FF2B5EF4-FFF2-40B4-BE49-F238E27FC236}">
                <a16:creationId xmlns:a16="http://schemas.microsoft.com/office/drawing/2014/main" id="{7003388E-4FD9-1370-F747-08CF8651A5C0}"/>
              </a:ext>
            </a:extLst>
          </p:cNvPr>
          <p:cNvSpPr/>
          <p:nvPr/>
        </p:nvSpPr>
        <p:spPr>
          <a:xfrm>
            <a:off x="1226594" y="3824719"/>
            <a:ext cx="1180927"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Create/ Update Semantic Model</a:t>
            </a:r>
          </a:p>
        </p:txBody>
      </p:sp>
      <p:sp>
        <p:nvSpPr>
          <p:cNvPr id="12" name="Rounded Rectangle 11">
            <a:extLst>
              <a:ext uri="{FF2B5EF4-FFF2-40B4-BE49-F238E27FC236}">
                <a16:creationId xmlns:a16="http://schemas.microsoft.com/office/drawing/2014/main" id="{BD7882EF-D8F2-3D9C-47BF-7000F343D88F}"/>
              </a:ext>
            </a:extLst>
          </p:cNvPr>
          <p:cNvSpPr/>
          <p:nvPr/>
        </p:nvSpPr>
        <p:spPr>
          <a:xfrm>
            <a:off x="2688448" y="3824719"/>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Final SQL Query</a:t>
            </a:r>
          </a:p>
        </p:txBody>
      </p:sp>
      <p:cxnSp>
        <p:nvCxnSpPr>
          <p:cNvPr id="13" name="Straight Arrow Connector 12">
            <a:extLst>
              <a:ext uri="{FF2B5EF4-FFF2-40B4-BE49-F238E27FC236}">
                <a16:creationId xmlns:a16="http://schemas.microsoft.com/office/drawing/2014/main" id="{BD54DBA2-151A-1DA8-25D0-2A22910F9454}"/>
              </a:ext>
            </a:extLst>
          </p:cNvPr>
          <p:cNvCxnSpPr>
            <a:cxnSpLocks/>
            <a:stCxn id="11" idx="3"/>
            <a:endCxn id="12" idx="1"/>
          </p:cNvCxnSpPr>
          <p:nvPr/>
        </p:nvCxnSpPr>
        <p:spPr>
          <a:xfrm>
            <a:off x="2407521" y="4094719"/>
            <a:ext cx="2809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819C9873-46C8-5424-E930-316A7764009A}"/>
              </a:ext>
            </a:extLst>
          </p:cNvPr>
          <p:cNvSpPr/>
          <p:nvPr/>
        </p:nvSpPr>
        <p:spPr>
          <a:xfrm>
            <a:off x="3869375" y="3824719"/>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Extract Metadata</a:t>
            </a:r>
          </a:p>
        </p:txBody>
      </p:sp>
      <p:cxnSp>
        <p:nvCxnSpPr>
          <p:cNvPr id="15" name="Straight Arrow Connector 14">
            <a:extLst>
              <a:ext uri="{FF2B5EF4-FFF2-40B4-BE49-F238E27FC236}">
                <a16:creationId xmlns:a16="http://schemas.microsoft.com/office/drawing/2014/main" id="{269B98CC-0482-6FE2-CB2D-956B0734BB9C}"/>
              </a:ext>
            </a:extLst>
          </p:cNvPr>
          <p:cNvCxnSpPr>
            <a:cxnSpLocks/>
            <a:stCxn id="12" idx="3"/>
            <a:endCxn id="14" idx="1"/>
          </p:cNvCxnSpPr>
          <p:nvPr/>
        </p:nvCxnSpPr>
        <p:spPr>
          <a:xfrm>
            <a:off x="3588448" y="4094719"/>
            <a:ext cx="2809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2E01A218-EB1C-1299-E6E5-06BC6776A9F6}"/>
              </a:ext>
            </a:extLst>
          </p:cNvPr>
          <p:cNvSpPr/>
          <p:nvPr/>
        </p:nvSpPr>
        <p:spPr>
          <a:xfrm>
            <a:off x="7553428" y="3824719"/>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AI Payload prep</a:t>
            </a:r>
          </a:p>
        </p:txBody>
      </p:sp>
      <p:sp>
        <p:nvSpPr>
          <p:cNvPr id="17" name="Rounded Rectangle 16">
            <a:extLst>
              <a:ext uri="{FF2B5EF4-FFF2-40B4-BE49-F238E27FC236}">
                <a16:creationId xmlns:a16="http://schemas.microsoft.com/office/drawing/2014/main" id="{15A61B08-A77B-DF62-52F8-4C38D1CDAAE3}"/>
              </a:ext>
            </a:extLst>
          </p:cNvPr>
          <p:cNvSpPr/>
          <p:nvPr/>
        </p:nvSpPr>
        <p:spPr>
          <a:xfrm>
            <a:off x="8734355" y="3824719"/>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Self heal SQL Query</a:t>
            </a:r>
          </a:p>
        </p:txBody>
      </p:sp>
      <p:sp>
        <p:nvSpPr>
          <p:cNvPr id="18" name="Rounded Rectangle 17">
            <a:extLst>
              <a:ext uri="{FF2B5EF4-FFF2-40B4-BE49-F238E27FC236}">
                <a16:creationId xmlns:a16="http://schemas.microsoft.com/office/drawing/2014/main" id="{706D0391-1AA6-9347-3126-840864BAEB85}"/>
              </a:ext>
            </a:extLst>
          </p:cNvPr>
          <p:cNvSpPr/>
          <p:nvPr/>
        </p:nvSpPr>
        <p:spPr>
          <a:xfrm>
            <a:off x="9915282" y="3824719"/>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Results &amp; Charts</a:t>
            </a:r>
          </a:p>
        </p:txBody>
      </p:sp>
      <p:sp>
        <p:nvSpPr>
          <p:cNvPr id="19" name="Rounded Rectangle 18">
            <a:extLst>
              <a:ext uri="{FF2B5EF4-FFF2-40B4-BE49-F238E27FC236}">
                <a16:creationId xmlns:a16="http://schemas.microsoft.com/office/drawing/2014/main" id="{4A0D671D-7782-F471-3708-313D269B2B73}"/>
              </a:ext>
            </a:extLst>
          </p:cNvPr>
          <p:cNvSpPr/>
          <p:nvPr/>
        </p:nvSpPr>
        <p:spPr>
          <a:xfrm>
            <a:off x="5050302" y="3824719"/>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Ask Question</a:t>
            </a:r>
          </a:p>
        </p:txBody>
      </p:sp>
      <p:sp>
        <p:nvSpPr>
          <p:cNvPr id="20" name="Diamond 19">
            <a:extLst>
              <a:ext uri="{FF2B5EF4-FFF2-40B4-BE49-F238E27FC236}">
                <a16:creationId xmlns:a16="http://schemas.microsoft.com/office/drawing/2014/main" id="{F64097F5-C6FA-D156-202B-AD54A36F75E7}"/>
              </a:ext>
            </a:extLst>
          </p:cNvPr>
          <p:cNvSpPr/>
          <p:nvPr/>
        </p:nvSpPr>
        <p:spPr>
          <a:xfrm>
            <a:off x="6231229" y="3568884"/>
            <a:ext cx="1041272" cy="105167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Answered </a:t>
            </a:r>
            <a:r>
              <a:rPr lang="en-US" sz="1000" dirty="0" err="1"/>
              <a:t>Ques</a:t>
            </a:r>
            <a:r>
              <a:rPr lang="en-US" sz="1000" dirty="0"/>
              <a:t>?</a:t>
            </a:r>
          </a:p>
        </p:txBody>
      </p:sp>
      <p:sp>
        <p:nvSpPr>
          <p:cNvPr id="21" name="TextBox 20">
            <a:extLst>
              <a:ext uri="{FF2B5EF4-FFF2-40B4-BE49-F238E27FC236}">
                <a16:creationId xmlns:a16="http://schemas.microsoft.com/office/drawing/2014/main" id="{D5AD07DE-6954-6EFA-680D-31989694BF26}"/>
              </a:ext>
            </a:extLst>
          </p:cNvPr>
          <p:cNvSpPr txBox="1"/>
          <p:nvPr/>
        </p:nvSpPr>
        <p:spPr>
          <a:xfrm>
            <a:off x="6933213" y="3282007"/>
            <a:ext cx="949859" cy="246221"/>
          </a:xfrm>
          <a:prstGeom prst="rect">
            <a:avLst/>
          </a:prstGeom>
          <a:noFill/>
        </p:spPr>
        <p:txBody>
          <a:bodyPr wrap="square" rtlCol="0">
            <a:spAutoFit/>
          </a:bodyPr>
          <a:lstStyle/>
          <a:p>
            <a:pPr algn="ctr"/>
            <a:r>
              <a:rPr lang="en-US" sz="1000" dirty="0">
                <a:solidFill>
                  <a:schemeClr val="bg1"/>
                </a:solidFill>
              </a:rPr>
              <a:t>Yes </a:t>
            </a:r>
          </a:p>
        </p:txBody>
      </p:sp>
      <p:sp>
        <p:nvSpPr>
          <p:cNvPr id="22" name="Rounded Rectangle 21">
            <a:extLst>
              <a:ext uri="{FF2B5EF4-FFF2-40B4-BE49-F238E27FC236}">
                <a16:creationId xmlns:a16="http://schemas.microsoft.com/office/drawing/2014/main" id="{CA115C2E-DEBE-4200-2ABE-9C4206AB3B6F}"/>
              </a:ext>
            </a:extLst>
          </p:cNvPr>
          <p:cNvSpPr/>
          <p:nvPr/>
        </p:nvSpPr>
        <p:spPr>
          <a:xfrm>
            <a:off x="7869098" y="3193488"/>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Read SQL query from Cache</a:t>
            </a:r>
          </a:p>
        </p:txBody>
      </p:sp>
      <p:sp>
        <p:nvSpPr>
          <p:cNvPr id="23" name="Rounded Rectangle 22">
            <a:extLst>
              <a:ext uri="{FF2B5EF4-FFF2-40B4-BE49-F238E27FC236}">
                <a16:creationId xmlns:a16="http://schemas.microsoft.com/office/drawing/2014/main" id="{DC81282C-44BE-2071-0EC7-4DB4AC6F3BBE}"/>
              </a:ext>
            </a:extLst>
          </p:cNvPr>
          <p:cNvSpPr/>
          <p:nvPr/>
        </p:nvSpPr>
        <p:spPr>
          <a:xfrm>
            <a:off x="11096205" y="3824719"/>
            <a:ext cx="900000" cy="5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Insights</a:t>
            </a:r>
          </a:p>
        </p:txBody>
      </p:sp>
      <p:sp>
        <p:nvSpPr>
          <p:cNvPr id="24" name="Title 3">
            <a:extLst>
              <a:ext uri="{FF2B5EF4-FFF2-40B4-BE49-F238E27FC236}">
                <a16:creationId xmlns:a16="http://schemas.microsoft.com/office/drawing/2014/main" id="{ABAD518A-43C3-B461-946C-8BD4CE2E8770}"/>
              </a:ext>
            </a:extLst>
          </p:cNvPr>
          <p:cNvSpPr txBox="1">
            <a:spLocks/>
          </p:cNvSpPr>
          <p:nvPr/>
        </p:nvSpPr>
        <p:spPr>
          <a:xfrm>
            <a:off x="550387" y="53958"/>
            <a:ext cx="11088050" cy="930372"/>
          </a:xfrm>
          <a:prstGeom prst="rect">
            <a:avLst/>
          </a:prstGeom>
        </p:spPr>
        <p:txBody>
          <a:bodyPr vert="horz" lIns="0" tIns="0" rIns="0" bIns="126000" rtlCol="0" anchor="b" anchorCtr="0">
            <a:no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r>
              <a:rPr lang="en-IN" sz="3200" b="1" dirty="0">
                <a:solidFill>
                  <a:srgbClr val="0070C0"/>
                </a:solidFill>
              </a:rPr>
              <a:t>Implementation Approach</a:t>
            </a:r>
            <a:endParaRPr lang="en-US" dirty="0"/>
          </a:p>
        </p:txBody>
      </p:sp>
      <p:pic>
        <p:nvPicPr>
          <p:cNvPr id="25" name="Picture 24" descr="Vector User Icon Stock Illustrations – 567,014 Vector User Icon Stock Illustrations, Vectors &amp; Clipart - Dreamstime">
            <a:extLst>
              <a:ext uri="{FF2B5EF4-FFF2-40B4-BE49-F238E27FC236}">
                <a16:creationId xmlns:a16="http://schemas.microsoft.com/office/drawing/2014/main" id="{8579111B-72DD-0AC3-5938-3412286AA738}"/>
              </a:ext>
            </a:extLst>
          </p:cNvPr>
          <p:cNvPicPr>
            <a:picLocks noChangeAspect="1"/>
          </p:cNvPicPr>
          <p:nvPr/>
        </p:nvPicPr>
        <p:blipFill>
          <a:blip r:embed="rId2"/>
          <a:stretch/>
        </p:blipFill>
        <p:spPr>
          <a:xfrm>
            <a:off x="5583601" y="1298413"/>
            <a:ext cx="889054" cy="889054"/>
          </a:xfrm>
          <a:prstGeom prst="rect">
            <a:avLst/>
          </a:prstGeom>
        </p:spPr>
      </p:pic>
      <p:pic>
        <p:nvPicPr>
          <p:cNvPr id="26" name="Graphic 25" descr="Artificial Intelligence with solid fill">
            <a:extLst>
              <a:ext uri="{FF2B5EF4-FFF2-40B4-BE49-F238E27FC236}">
                <a16:creationId xmlns:a16="http://schemas.microsoft.com/office/drawing/2014/main" id="{D2B7F61D-3E54-1DFA-1BDB-6373F55A4C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37128" y="5010865"/>
            <a:ext cx="576000" cy="576000"/>
          </a:xfrm>
          <a:prstGeom prst="rect">
            <a:avLst/>
          </a:prstGeom>
        </p:spPr>
      </p:pic>
      <p:pic>
        <p:nvPicPr>
          <p:cNvPr id="27" name="Graphic 26" descr="Artificial Intelligence with solid fill">
            <a:extLst>
              <a:ext uri="{FF2B5EF4-FFF2-40B4-BE49-F238E27FC236}">
                <a16:creationId xmlns:a16="http://schemas.microsoft.com/office/drawing/2014/main" id="{56950345-157D-261B-95A1-DD477B67C3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43353" y="5006466"/>
            <a:ext cx="576000" cy="576000"/>
          </a:xfrm>
          <a:prstGeom prst="rect">
            <a:avLst/>
          </a:prstGeom>
        </p:spPr>
      </p:pic>
      <p:pic>
        <p:nvPicPr>
          <p:cNvPr id="28" name="Graphic 27" descr="Database with solid fill">
            <a:extLst>
              <a:ext uri="{FF2B5EF4-FFF2-40B4-BE49-F238E27FC236}">
                <a16:creationId xmlns:a16="http://schemas.microsoft.com/office/drawing/2014/main" id="{EF537CCB-51D0-5ABA-1D66-93C161A213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86818" y="5843374"/>
            <a:ext cx="576000" cy="576000"/>
          </a:xfrm>
          <a:prstGeom prst="rect">
            <a:avLst/>
          </a:prstGeom>
        </p:spPr>
      </p:pic>
      <p:sp>
        <p:nvSpPr>
          <p:cNvPr id="29" name="Text Placeholder 5">
            <a:extLst>
              <a:ext uri="{FF2B5EF4-FFF2-40B4-BE49-F238E27FC236}">
                <a16:creationId xmlns:a16="http://schemas.microsoft.com/office/drawing/2014/main" id="{40FEFC52-1C31-D711-4E06-CD51B9EDECCD}"/>
              </a:ext>
            </a:extLst>
          </p:cNvPr>
          <p:cNvSpPr txBox="1">
            <a:spLocks/>
          </p:cNvSpPr>
          <p:nvPr/>
        </p:nvSpPr>
        <p:spPr>
          <a:xfrm>
            <a:off x="515477" y="914376"/>
            <a:ext cx="11088050" cy="307777"/>
          </a:xfrm>
          <a:prstGeom prst="rect">
            <a:avLst/>
          </a:prstGeom>
        </p:spPr>
        <p:txBody>
          <a:bodyPr/>
          <a:lst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solidFill>
                  <a:schemeClr val="bg1"/>
                </a:solidFill>
              </a:rPr>
              <a:t>Data and </a:t>
            </a:r>
            <a:r>
              <a:rPr lang="en-US" dirty="0">
                <a:solidFill>
                  <a:schemeClr val="accent4"/>
                </a:solidFill>
              </a:rPr>
              <a:t>AI</a:t>
            </a:r>
            <a:r>
              <a:rPr lang="en-US" dirty="0">
                <a:solidFill>
                  <a:schemeClr val="bg1"/>
                </a:solidFill>
              </a:rPr>
              <a:t> interaction </a:t>
            </a:r>
          </a:p>
        </p:txBody>
      </p:sp>
      <p:cxnSp>
        <p:nvCxnSpPr>
          <p:cNvPr id="30" name="Straight Arrow Connector 11">
            <a:extLst>
              <a:ext uri="{FF2B5EF4-FFF2-40B4-BE49-F238E27FC236}">
                <a16:creationId xmlns:a16="http://schemas.microsoft.com/office/drawing/2014/main" id="{301DDAD9-72E3-8AA2-2916-A145375D0422}"/>
              </a:ext>
            </a:extLst>
          </p:cNvPr>
          <p:cNvCxnSpPr>
            <a:cxnSpLocks/>
            <a:stCxn id="25" idx="1"/>
            <a:endCxn id="11" idx="0"/>
          </p:cNvCxnSpPr>
          <p:nvPr/>
        </p:nvCxnSpPr>
        <p:spPr>
          <a:xfrm rot="10800000" flipV="1">
            <a:off x="1817059" y="1742939"/>
            <a:ext cx="3766543" cy="2081779"/>
          </a:xfrm>
          <a:prstGeom prst="bentConnector2">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58FC9F8-A94D-EAEE-84D0-566243DEB904}"/>
              </a:ext>
            </a:extLst>
          </p:cNvPr>
          <p:cNvCxnSpPr>
            <a:cxnSpLocks/>
            <a:stCxn id="14" idx="3"/>
            <a:endCxn id="19" idx="1"/>
          </p:cNvCxnSpPr>
          <p:nvPr/>
        </p:nvCxnSpPr>
        <p:spPr>
          <a:xfrm>
            <a:off x="4769375" y="4094719"/>
            <a:ext cx="2809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0DBCF788-4E63-939A-D787-1B74D2E911E1}"/>
              </a:ext>
            </a:extLst>
          </p:cNvPr>
          <p:cNvCxnSpPr>
            <a:cxnSpLocks/>
            <a:stCxn id="19" idx="3"/>
            <a:endCxn id="20" idx="1"/>
          </p:cNvCxnSpPr>
          <p:nvPr/>
        </p:nvCxnSpPr>
        <p:spPr>
          <a:xfrm>
            <a:off x="5950302" y="4094719"/>
            <a:ext cx="2809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2F68B1F-092A-1D4A-F52A-C75CD42F9857}"/>
              </a:ext>
            </a:extLst>
          </p:cNvPr>
          <p:cNvCxnSpPr>
            <a:cxnSpLocks/>
            <a:stCxn id="20" idx="3"/>
            <a:endCxn id="16" idx="1"/>
          </p:cNvCxnSpPr>
          <p:nvPr/>
        </p:nvCxnSpPr>
        <p:spPr>
          <a:xfrm>
            <a:off x="7272501" y="4094719"/>
            <a:ext cx="2809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131">
            <a:extLst>
              <a:ext uri="{FF2B5EF4-FFF2-40B4-BE49-F238E27FC236}">
                <a16:creationId xmlns:a16="http://schemas.microsoft.com/office/drawing/2014/main" id="{348317A2-D204-1C90-05C7-F64A7DCE9C44}"/>
              </a:ext>
            </a:extLst>
          </p:cNvPr>
          <p:cNvCxnSpPr>
            <a:cxnSpLocks/>
            <a:stCxn id="16" idx="2"/>
            <a:endCxn id="27" idx="1"/>
          </p:cNvCxnSpPr>
          <p:nvPr/>
        </p:nvCxnSpPr>
        <p:spPr>
          <a:xfrm rot="16200000" flipH="1">
            <a:off x="7658517" y="4709629"/>
            <a:ext cx="929747" cy="23992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131">
            <a:extLst>
              <a:ext uri="{FF2B5EF4-FFF2-40B4-BE49-F238E27FC236}">
                <a16:creationId xmlns:a16="http://schemas.microsoft.com/office/drawing/2014/main" id="{AD2C5B17-75AB-67B1-DD16-B5C05C9EA4A9}"/>
              </a:ext>
            </a:extLst>
          </p:cNvPr>
          <p:cNvCxnSpPr>
            <a:cxnSpLocks/>
            <a:stCxn id="27" idx="0"/>
            <a:endCxn id="17" idx="1"/>
          </p:cNvCxnSpPr>
          <p:nvPr/>
        </p:nvCxnSpPr>
        <p:spPr>
          <a:xfrm rot="5400000" flipH="1" flipV="1">
            <a:off x="8176981" y="4449092"/>
            <a:ext cx="911747" cy="20300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131">
            <a:extLst>
              <a:ext uri="{FF2B5EF4-FFF2-40B4-BE49-F238E27FC236}">
                <a16:creationId xmlns:a16="http://schemas.microsoft.com/office/drawing/2014/main" id="{2E397376-7DA1-D172-7C58-CB8FD3811A89}"/>
              </a:ext>
            </a:extLst>
          </p:cNvPr>
          <p:cNvCxnSpPr>
            <a:cxnSpLocks/>
            <a:stCxn id="18" idx="2"/>
            <a:endCxn id="26" idx="1"/>
          </p:cNvCxnSpPr>
          <p:nvPr/>
        </p:nvCxnSpPr>
        <p:spPr>
          <a:xfrm rot="16200000" flipH="1">
            <a:off x="10084132" y="4645869"/>
            <a:ext cx="934146" cy="37184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131">
            <a:extLst>
              <a:ext uri="{FF2B5EF4-FFF2-40B4-BE49-F238E27FC236}">
                <a16:creationId xmlns:a16="http://schemas.microsoft.com/office/drawing/2014/main" id="{DF2F4055-93DF-B910-86B1-2D4BEC9942A6}"/>
              </a:ext>
            </a:extLst>
          </p:cNvPr>
          <p:cNvCxnSpPr>
            <a:cxnSpLocks/>
            <a:stCxn id="26" idx="3"/>
            <a:endCxn id="23" idx="2"/>
          </p:cNvCxnSpPr>
          <p:nvPr/>
        </p:nvCxnSpPr>
        <p:spPr>
          <a:xfrm flipV="1">
            <a:off x="11313128" y="4364719"/>
            <a:ext cx="233077" cy="93414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11">
            <a:extLst>
              <a:ext uri="{FF2B5EF4-FFF2-40B4-BE49-F238E27FC236}">
                <a16:creationId xmlns:a16="http://schemas.microsoft.com/office/drawing/2014/main" id="{D2F824D9-98AE-388E-4D93-34A084B7126C}"/>
              </a:ext>
            </a:extLst>
          </p:cNvPr>
          <p:cNvCxnSpPr>
            <a:cxnSpLocks/>
            <a:stCxn id="25" idx="3"/>
            <a:endCxn id="19" idx="0"/>
          </p:cNvCxnSpPr>
          <p:nvPr/>
        </p:nvCxnSpPr>
        <p:spPr>
          <a:xfrm flipH="1">
            <a:off x="5500302" y="1742940"/>
            <a:ext cx="972353" cy="2081779"/>
          </a:xfrm>
          <a:prstGeom prst="bentConnector4">
            <a:avLst>
              <a:gd name="adj1" fmla="val -56177"/>
              <a:gd name="adj2" fmla="val 75935"/>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131">
            <a:extLst>
              <a:ext uri="{FF2B5EF4-FFF2-40B4-BE49-F238E27FC236}">
                <a16:creationId xmlns:a16="http://schemas.microsoft.com/office/drawing/2014/main" id="{D6B27646-52A6-EA13-5801-5743DBDF764D}"/>
              </a:ext>
            </a:extLst>
          </p:cNvPr>
          <p:cNvCxnSpPr>
            <a:cxnSpLocks/>
            <a:stCxn id="17" idx="2"/>
            <a:endCxn id="28" idx="1"/>
          </p:cNvCxnSpPr>
          <p:nvPr/>
        </p:nvCxnSpPr>
        <p:spPr>
          <a:xfrm rot="16200000" flipH="1">
            <a:off x="8452259" y="5096814"/>
            <a:ext cx="1766655" cy="30246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131">
            <a:extLst>
              <a:ext uri="{FF2B5EF4-FFF2-40B4-BE49-F238E27FC236}">
                <a16:creationId xmlns:a16="http://schemas.microsoft.com/office/drawing/2014/main" id="{D3994199-8B8F-7201-FE5D-F1BF707494B9}"/>
              </a:ext>
            </a:extLst>
          </p:cNvPr>
          <p:cNvCxnSpPr>
            <a:cxnSpLocks/>
            <a:stCxn id="28" idx="0"/>
            <a:endCxn id="18" idx="1"/>
          </p:cNvCxnSpPr>
          <p:nvPr/>
        </p:nvCxnSpPr>
        <p:spPr>
          <a:xfrm rot="5400000" flipH="1" flipV="1">
            <a:off x="8970723" y="4898815"/>
            <a:ext cx="1748655" cy="14046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131">
            <a:extLst>
              <a:ext uri="{FF2B5EF4-FFF2-40B4-BE49-F238E27FC236}">
                <a16:creationId xmlns:a16="http://schemas.microsoft.com/office/drawing/2014/main" id="{9DC8A02B-013C-5022-75FC-7E601E00A49B}"/>
              </a:ext>
            </a:extLst>
          </p:cNvPr>
          <p:cNvCxnSpPr>
            <a:cxnSpLocks/>
            <a:stCxn id="20" idx="0"/>
            <a:endCxn id="22" idx="1"/>
          </p:cNvCxnSpPr>
          <p:nvPr/>
        </p:nvCxnSpPr>
        <p:spPr>
          <a:xfrm rot="5400000" flipH="1" flipV="1">
            <a:off x="7257783" y="2957570"/>
            <a:ext cx="105396" cy="111723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131">
            <a:extLst>
              <a:ext uri="{FF2B5EF4-FFF2-40B4-BE49-F238E27FC236}">
                <a16:creationId xmlns:a16="http://schemas.microsoft.com/office/drawing/2014/main" id="{8A1DF0B8-B869-0F32-9599-20924ED41B28}"/>
              </a:ext>
            </a:extLst>
          </p:cNvPr>
          <p:cNvCxnSpPr>
            <a:cxnSpLocks/>
            <a:stCxn id="22" idx="3"/>
            <a:endCxn id="18" idx="0"/>
          </p:cNvCxnSpPr>
          <p:nvPr/>
        </p:nvCxnSpPr>
        <p:spPr>
          <a:xfrm>
            <a:off x="8769098" y="3463488"/>
            <a:ext cx="1596184" cy="36123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131">
            <a:extLst>
              <a:ext uri="{FF2B5EF4-FFF2-40B4-BE49-F238E27FC236}">
                <a16:creationId xmlns:a16="http://schemas.microsoft.com/office/drawing/2014/main" id="{F263FF0A-9442-A7A4-4768-18B8ADE126C7}"/>
              </a:ext>
            </a:extLst>
          </p:cNvPr>
          <p:cNvCxnSpPr>
            <a:cxnSpLocks/>
            <a:stCxn id="23" idx="0"/>
            <a:endCxn id="57" idx="3"/>
          </p:cNvCxnSpPr>
          <p:nvPr/>
        </p:nvCxnSpPr>
        <p:spPr>
          <a:xfrm rot="16200000" flipV="1">
            <a:off x="8483358" y="761872"/>
            <a:ext cx="1243786" cy="488190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131">
            <a:extLst>
              <a:ext uri="{FF2B5EF4-FFF2-40B4-BE49-F238E27FC236}">
                <a16:creationId xmlns:a16="http://schemas.microsoft.com/office/drawing/2014/main" id="{244E1E42-C6A1-F6FE-B81A-CD40CCC5E9BD}"/>
              </a:ext>
            </a:extLst>
          </p:cNvPr>
          <p:cNvCxnSpPr>
            <a:cxnSpLocks/>
            <a:stCxn id="18" idx="3"/>
          </p:cNvCxnSpPr>
          <p:nvPr/>
        </p:nvCxnSpPr>
        <p:spPr>
          <a:xfrm flipV="1">
            <a:off x="10815282" y="2589230"/>
            <a:ext cx="185443" cy="150548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45" name="Picture 44" descr="Chatgpt Logo Stock Illustrations – 434 Chatgpt Logo Stock ...">
            <a:extLst>
              <a:ext uri="{FF2B5EF4-FFF2-40B4-BE49-F238E27FC236}">
                <a16:creationId xmlns:a16="http://schemas.microsoft.com/office/drawing/2014/main" id="{CDBB1378-0167-DAD6-A2AD-012B411D003D}"/>
              </a:ext>
            </a:extLst>
          </p:cNvPr>
          <p:cNvPicPr>
            <a:picLocks noChangeAspect="1"/>
          </p:cNvPicPr>
          <p:nvPr/>
        </p:nvPicPr>
        <p:blipFill>
          <a:blip r:embed="rId7"/>
          <a:stretch>
            <a:fillRect/>
          </a:stretch>
        </p:blipFill>
        <p:spPr>
          <a:xfrm>
            <a:off x="1066445" y="4896859"/>
            <a:ext cx="571189" cy="521833"/>
          </a:xfrm>
          <a:prstGeom prst="rect">
            <a:avLst/>
          </a:prstGeom>
        </p:spPr>
      </p:pic>
      <p:pic>
        <p:nvPicPr>
          <p:cNvPr id="46" name="Picture 45" descr="database icon. vector icon for your website, mobile ...">
            <a:extLst>
              <a:ext uri="{FF2B5EF4-FFF2-40B4-BE49-F238E27FC236}">
                <a16:creationId xmlns:a16="http://schemas.microsoft.com/office/drawing/2014/main" id="{3D47C918-803A-6E03-BE09-E2BC4D4D3DE1}"/>
              </a:ext>
            </a:extLst>
          </p:cNvPr>
          <p:cNvPicPr>
            <a:picLocks noChangeAspect="1"/>
          </p:cNvPicPr>
          <p:nvPr/>
        </p:nvPicPr>
        <p:blipFill>
          <a:blip r:embed="rId8"/>
          <a:stretch>
            <a:fillRect/>
          </a:stretch>
        </p:blipFill>
        <p:spPr>
          <a:xfrm>
            <a:off x="1063058" y="5902017"/>
            <a:ext cx="720000" cy="493328"/>
          </a:xfrm>
          <a:prstGeom prst="rect">
            <a:avLst/>
          </a:prstGeom>
        </p:spPr>
      </p:pic>
      <p:pic>
        <p:nvPicPr>
          <p:cNvPr id="47" name="Picture 46" descr="Presentation Icon Vector Art, Icons, and Graphics for Free ...">
            <a:extLst>
              <a:ext uri="{FF2B5EF4-FFF2-40B4-BE49-F238E27FC236}">
                <a16:creationId xmlns:a16="http://schemas.microsoft.com/office/drawing/2014/main" id="{31627152-EED4-3913-2992-B735C5FA0CF1}"/>
              </a:ext>
            </a:extLst>
          </p:cNvPr>
          <p:cNvPicPr>
            <a:picLocks noChangeAspect="1"/>
          </p:cNvPicPr>
          <p:nvPr/>
        </p:nvPicPr>
        <p:blipFill>
          <a:blip r:embed="rId9"/>
          <a:stretch>
            <a:fillRect/>
          </a:stretch>
        </p:blipFill>
        <p:spPr>
          <a:xfrm>
            <a:off x="1043291" y="1987222"/>
            <a:ext cx="420750" cy="396000"/>
          </a:xfrm>
          <a:prstGeom prst="rect">
            <a:avLst/>
          </a:prstGeom>
        </p:spPr>
      </p:pic>
      <p:cxnSp>
        <p:nvCxnSpPr>
          <p:cNvPr id="48" name="Straight Arrow Connector 11">
            <a:extLst>
              <a:ext uri="{FF2B5EF4-FFF2-40B4-BE49-F238E27FC236}">
                <a16:creationId xmlns:a16="http://schemas.microsoft.com/office/drawing/2014/main" id="{A186FAD2-1D97-35EE-99CC-B81DE02EFFCB}"/>
              </a:ext>
            </a:extLst>
          </p:cNvPr>
          <p:cNvCxnSpPr>
            <a:cxnSpLocks/>
            <a:stCxn id="14" idx="2"/>
            <a:endCxn id="28" idx="2"/>
          </p:cNvCxnSpPr>
          <p:nvPr/>
        </p:nvCxnSpPr>
        <p:spPr>
          <a:xfrm rot="16200000" flipH="1">
            <a:off x="6019769" y="2664324"/>
            <a:ext cx="2054655" cy="5455443"/>
          </a:xfrm>
          <a:prstGeom prst="bentConnector3">
            <a:avLst>
              <a:gd name="adj1" fmla="val 11253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49" name="Picture 48" descr="File:Python-logo-notext.svg - Wikimedia Commons">
            <a:extLst>
              <a:ext uri="{FF2B5EF4-FFF2-40B4-BE49-F238E27FC236}">
                <a16:creationId xmlns:a16="http://schemas.microsoft.com/office/drawing/2014/main" id="{C1CC44E7-14E9-1697-2D2B-B2111293B2F2}"/>
              </a:ext>
            </a:extLst>
          </p:cNvPr>
          <p:cNvPicPr>
            <a:picLocks noChangeAspect="1"/>
          </p:cNvPicPr>
          <p:nvPr/>
        </p:nvPicPr>
        <p:blipFill>
          <a:blip r:embed="rId10"/>
          <a:stretch>
            <a:fillRect/>
          </a:stretch>
        </p:blipFill>
        <p:spPr>
          <a:xfrm>
            <a:off x="1066445" y="3241326"/>
            <a:ext cx="384304" cy="396000"/>
          </a:xfrm>
          <a:prstGeom prst="rect">
            <a:avLst/>
          </a:prstGeom>
        </p:spPr>
      </p:pic>
      <p:sp>
        <p:nvSpPr>
          <p:cNvPr id="50" name="TextBox 49">
            <a:extLst>
              <a:ext uri="{FF2B5EF4-FFF2-40B4-BE49-F238E27FC236}">
                <a16:creationId xmlns:a16="http://schemas.microsoft.com/office/drawing/2014/main" id="{19D6BE90-C01B-4CED-B0D4-21B3D56774F2}"/>
              </a:ext>
            </a:extLst>
          </p:cNvPr>
          <p:cNvSpPr txBox="1"/>
          <p:nvPr/>
        </p:nvSpPr>
        <p:spPr>
          <a:xfrm rot="16200000">
            <a:off x="-89704" y="3648034"/>
            <a:ext cx="1280161" cy="430887"/>
          </a:xfrm>
          <a:prstGeom prst="rect">
            <a:avLst/>
          </a:prstGeom>
          <a:noFill/>
        </p:spPr>
        <p:txBody>
          <a:bodyPr wrap="square">
            <a:spAutoFit/>
          </a:bodyPr>
          <a:lstStyle/>
          <a:p>
            <a:pPr algn="ctr"/>
            <a:r>
              <a:rPr lang="en-IN" sz="1100" b="1" i="0" dirty="0">
                <a:solidFill>
                  <a:schemeClr val="bg1"/>
                </a:solidFill>
              </a:rPr>
              <a:t>Processing Layer</a:t>
            </a:r>
          </a:p>
        </p:txBody>
      </p:sp>
      <p:sp>
        <p:nvSpPr>
          <p:cNvPr id="51" name="TextBox 50">
            <a:extLst>
              <a:ext uri="{FF2B5EF4-FFF2-40B4-BE49-F238E27FC236}">
                <a16:creationId xmlns:a16="http://schemas.microsoft.com/office/drawing/2014/main" id="{809DC87E-FF00-62AD-1271-351B4A10B54E}"/>
              </a:ext>
            </a:extLst>
          </p:cNvPr>
          <p:cNvSpPr txBox="1"/>
          <p:nvPr/>
        </p:nvSpPr>
        <p:spPr>
          <a:xfrm rot="16200000">
            <a:off x="15147" y="2125716"/>
            <a:ext cx="1070459" cy="430887"/>
          </a:xfrm>
          <a:prstGeom prst="rect">
            <a:avLst/>
          </a:prstGeom>
          <a:noFill/>
        </p:spPr>
        <p:txBody>
          <a:bodyPr wrap="square">
            <a:spAutoFit/>
          </a:bodyPr>
          <a:lstStyle/>
          <a:p>
            <a:pPr algn="ctr"/>
            <a:r>
              <a:rPr lang="en-IN" sz="1100" b="1" dirty="0">
                <a:solidFill>
                  <a:schemeClr val="bg1"/>
                </a:solidFill>
              </a:rPr>
              <a:t>Presentation Layer</a:t>
            </a:r>
            <a:endParaRPr lang="en-IN" sz="1100" b="1" i="0" dirty="0">
              <a:solidFill>
                <a:schemeClr val="bg1"/>
              </a:solidFill>
            </a:endParaRPr>
          </a:p>
        </p:txBody>
      </p:sp>
      <p:sp>
        <p:nvSpPr>
          <p:cNvPr id="52" name="TextBox 51">
            <a:extLst>
              <a:ext uri="{FF2B5EF4-FFF2-40B4-BE49-F238E27FC236}">
                <a16:creationId xmlns:a16="http://schemas.microsoft.com/office/drawing/2014/main" id="{481FB586-2149-8AB8-2DF0-F0ECC5ED365B}"/>
              </a:ext>
            </a:extLst>
          </p:cNvPr>
          <p:cNvSpPr txBox="1"/>
          <p:nvPr/>
        </p:nvSpPr>
        <p:spPr>
          <a:xfrm rot="16200000">
            <a:off x="127490" y="5922369"/>
            <a:ext cx="845774" cy="430887"/>
          </a:xfrm>
          <a:prstGeom prst="rect">
            <a:avLst/>
          </a:prstGeom>
          <a:noFill/>
        </p:spPr>
        <p:txBody>
          <a:bodyPr wrap="square">
            <a:spAutoFit/>
          </a:bodyPr>
          <a:lstStyle/>
          <a:p>
            <a:pPr algn="ctr"/>
            <a:r>
              <a:rPr lang="en-IN" sz="1100" b="1" i="0" dirty="0">
                <a:solidFill>
                  <a:schemeClr val="bg1"/>
                </a:solidFill>
              </a:rPr>
              <a:t>Database Layer</a:t>
            </a:r>
          </a:p>
        </p:txBody>
      </p:sp>
      <p:sp>
        <p:nvSpPr>
          <p:cNvPr id="53" name="TextBox 52">
            <a:extLst>
              <a:ext uri="{FF2B5EF4-FFF2-40B4-BE49-F238E27FC236}">
                <a16:creationId xmlns:a16="http://schemas.microsoft.com/office/drawing/2014/main" id="{4A23E164-035E-8EBC-88A8-2FDEA79293A0}"/>
              </a:ext>
            </a:extLst>
          </p:cNvPr>
          <p:cNvSpPr txBox="1"/>
          <p:nvPr/>
        </p:nvSpPr>
        <p:spPr>
          <a:xfrm rot="16200000">
            <a:off x="192412" y="4942333"/>
            <a:ext cx="715929" cy="430887"/>
          </a:xfrm>
          <a:prstGeom prst="rect">
            <a:avLst/>
          </a:prstGeom>
          <a:noFill/>
        </p:spPr>
        <p:txBody>
          <a:bodyPr wrap="square">
            <a:spAutoFit/>
          </a:bodyPr>
          <a:lstStyle/>
          <a:p>
            <a:pPr algn="ctr"/>
            <a:r>
              <a:rPr lang="en-IN" sz="1100" b="1" i="0" dirty="0">
                <a:solidFill>
                  <a:schemeClr val="bg1"/>
                </a:solidFill>
              </a:rPr>
              <a:t>AI Layer</a:t>
            </a:r>
          </a:p>
        </p:txBody>
      </p:sp>
      <p:sp>
        <p:nvSpPr>
          <p:cNvPr id="54" name="TextBox 53">
            <a:extLst>
              <a:ext uri="{FF2B5EF4-FFF2-40B4-BE49-F238E27FC236}">
                <a16:creationId xmlns:a16="http://schemas.microsoft.com/office/drawing/2014/main" id="{4D053E9F-DC65-B065-3C2F-209429212DAD}"/>
              </a:ext>
            </a:extLst>
          </p:cNvPr>
          <p:cNvSpPr txBox="1"/>
          <p:nvPr/>
        </p:nvSpPr>
        <p:spPr>
          <a:xfrm>
            <a:off x="6889930" y="4061913"/>
            <a:ext cx="949859" cy="246221"/>
          </a:xfrm>
          <a:prstGeom prst="rect">
            <a:avLst/>
          </a:prstGeom>
          <a:noFill/>
        </p:spPr>
        <p:txBody>
          <a:bodyPr wrap="square" rtlCol="0">
            <a:spAutoFit/>
          </a:bodyPr>
          <a:lstStyle/>
          <a:p>
            <a:pPr algn="ctr"/>
            <a:r>
              <a:rPr lang="en-US" sz="1000" dirty="0">
                <a:solidFill>
                  <a:schemeClr val="bg1"/>
                </a:solidFill>
              </a:rPr>
              <a:t>No </a:t>
            </a:r>
          </a:p>
        </p:txBody>
      </p:sp>
      <p:pic>
        <p:nvPicPr>
          <p:cNvPr id="55" name="Picture 54" descr="Application programming interface Logo Computer programming, api icon, text, logo png | PNGEgg">
            <a:extLst>
              <a:ext uri="{FF2B5EF4-FFF2-40B4-BE49-F238E27FC236}">
                <a16:creationId xmlns:a16="http://schemas.microsoft.com/office/drawing/2014/main" id="{F07F6BF6-8E3D-5F58-9FAD-54698E32FA32}"/>
              </a:ext>
            </a:extLst>
          </p:cNvPr>
          <p:cNvPicPr>
            <a:picLocks noChangeAspect="1"/>
          </p:cNvPicPr>
          <p:nvPr/>
        </p:nvPicPr>
        <p:blipFill>
          <a:blip r:embed="rId11"/>
          <a:srcRect l="15033" t="14846" r="14512" b="13656"/>
          <a:stretch>
            <a:fillRect/>
          </a:stretch>
        </p:blipFill>
        <p:spPr>
          <a:xfrm>
            <a:off x="7862963" y="4799812"/>
            <a:ext cx="288000" cy="287468"/>
          </a:xfrm>
          <a:prstGeom prst="ellipse">
            <a:avLst/>
          </a:prstGeom>
        </p:spPr>
      </p:pic>
      <p:pic>
        <p:nvPicPr>
          <p:cNvPr id="56" name="Picture 55" descr="Application programming interface Logo Computer programming, api icon, text, logo png | PNGEgg">
            <a:extLst>
              <a:ext uri="{FF2B5EF4-FFF2-40B4-BE49-F238E27FC236}">
                <a16:creationId xmlns:a16="http://schemas.microsoft.com/office/drawing/2014/main" id="{7E7940DB-25DF-1C78-0D31-DA0A21530327}"/>
              </a:ext>
            </a:extLst>
          </p:cNvPr>
          <p:cNvPicPr>
            <a:picLocks noChangeAspect="1"/>
          </p:cNvPicPr>
          <p:nvPr/>
        </p:nvPicPr>
        <p:blipFill>
          <a:blip r:embed="rId11"/>
          <a:srcRect l="15033" t="14846" r="14512" b="13656"/>
          <a:stretch>
            <a:fillRect/>
          </a:stretch>
        </p:blipFill>
        <p:spPr>
          <a:xfrm>
            <a:off x="10219917" y="4799812"/>
            <a:ext cx="288000" cy="287468"/>
          </a:xfrm>
          <a:prstGeom prst="ellipse">
            <a:avLst/>
          </a:prstGeom>
        </p:spPr>
      </p:pic>
      <p:pic>
        <p:nvPicPr>
          <p:cNvPr id="57" name="Picture 56" descr="16-Inch MacBook Pro Possibly Referenced in macOS Catalina 10.15.1 Beta - MacRumors">
            <a:extLst>
              <a:ext uri="{FF2B5EF4-FFF2-40B4-BE49-F238E27FC236}">
                <a16:creationId xmlns:a16="http://schemas.microsoft.com/office/drawing/2014/main" id="{0F94A300-766B-25E4-D755-FA28515AA766}"/>
              </a:ext>
            </a:extLst>
          </p:cNvPr>
          <p:cNvPicPr>
            <a:picLocks noChangeAspect="1"/>
          </p:cNvPicPr>
          <p:nvPr/>
        </p:nvPicPr>
        <p:blipFill rotWithShape="1">
          <a:blip r:embed="rId12"/>
          <a:srcRect l="7836" t="28717" r="8999" b="24113"/>
          <a:stretch>
            <a:fillRect/>
          </a:stretch>
        </p:blipFill>
        <p:spPr>
          <a:xfrm>
            <a:off x="5308659" y="2185222"/>
            <a:ext cx="1355638" cy="791421"/>
          </a:xfrm>
          <a:prstGeom prst="rect">
            <a:avLst/>
          </a:prstGeom>
        </p:spPr>
      </p:pic>
      <p:pic>
        <p:nvPicPr>
          <p:cNvPr id="58" name="Picture 57" descr="Bar chart - Free business icons">
            <a:extLst>
              <a:ext uri="{FF2B5EF4-FFF2-40B4-BE49-F238E27FC236}">
                <a16:creationId xmlns:a16="http://schemas.microsoft.com/office/drawing/2014/main" id="{D85009A2-A8B8-FF63-C724-F27FF438C2FA}"/>
              </a:ext>
            </a:extLst>
          </p:cNvPr>
          <p:cNvPicPr>
            <a:picLocks noChangeAspect="1"/>
          </p:cNvPicPr>
          <p:nvPr/>
        </p:nvPicPr>
        <p:blipFill>
          <a:blip r:embed="rId13"/>
          <a:stretch>
            <a:fillRect/>
          </a:stretch>
        </p:blipFill>
        <p:spPr>
          <a:xfrm>
            <a:off x="5511248" y="2253652"/>
            <a:ext cx="972353" cy="540001"/>
          </a:xfrm>
          <a:prstGeom prst="rect">
            <a:avLst/>
          </a:prstGeom>
        </p:spPr>
      </p:pic>
    </p:spTree>
    <p:extLst>
      <p:ext uri="{BB962C8B-B14F-4D97-AF65-F5344CB8AC3E}">
        <p14:creationId xmlns:p14="http://schemas.microsoft.com/office/powerpoint/2010/main" val="1602248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2FACD6D-DD79-7C06-E4DB-9F58CB5E221B}"/>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B0542BF5-4EA6-2C5F-8B53-7BE3285E87E8}"/>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23355DE0-1636-A385-4F6C-6D86501DA14E}"/>
              </a:ext>
            </a:extLst>
          </p:cNvPr>
          <p:cNvSpPr>
            <a:spLocks noGrp="1"/>
          </p:cNvSpPr>
          <p:nvPr>
            <p:ph type="sldNum" sz="quarter" idx="12"/>
          </p:nvPr>
        </p:nvSpPr>
        <p:spPr/>
        <p:txBody>
          <a:bodyPr/>
          <a:lstStyle/>
          <a:p>
            <a:pPr algn="r"/>
            <a:fld id="{5D9A5160-6218-4E5A-B9E6-B93E3DAE377C}" type="slidenum">
              <a:rPr lang="en-US" smtClean="0"/>
              <a:pPr algn="r"/>
              <a:t>8</a:t>
            </a:fld>
            <a:endParaRPr lang="en-US"/>
          </a:p>
        </p:txBody>
      </p:sp>
      <p:sp>
        <p:nvSpPr>
          <p:cNvPr id="6" name="Frame 5">
            <a:extLst>
              <a:ext uri="{FF2B5EF4-FFF2-40B4-BE49-F238E27FC236}">
                <a16:creationId xmlns:a16="http://schemas.microsoft.com/office/drawing/2014/main" id="{40E6F63F-82EA-0251-36E7-E4D56A785454}"/>
              </a:ext>
            </a:extLst>
          </p:cNvPr>
          <p:cNvSpPr>
            <a:spLocks noChangeAspect="1"/>
          </p:cNvSpPr>
          <p:nvPr/>
        </p:nvSpPr>
        <p:spPr>
          <a:xfrm>
            <a:off x="4066039" y="1430613"/>
            <a:ext cx="3836302" cy="4420273"/>
          </a:xfrm>
          <a:prstGeom prst="frame">
            <a:avLst>
              <a:gd name="adj1" fmla="val 12500"/>
            </a:avLst>
          </a:prstGeom>
          <a:solidFill>
            <a:schemeClr val="accent1">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 name="Title 3">
            <a:extLst>
              <a:ext uri="{FF2B5EF4-FFF2-40B4-BE49-F238E27FC236}">
                <a16:creationId xmlns:a16="http://schemas.microsoft.com/office/drawing/2014/main" id="{3E8DA644-F272-8C0F-D390-7185EF6F241C}"/>
              </a:ext>
            </a:extLst>
          </p:cNvPr>
          <p:cNvSpPr txBox="1">
            <a:spLocks/>
          </p:cNvSpPr>
          <p:nvPr/>
        </p:nvSpPr>
        <p:spPr>
          <a:xfrm>
            <a:off x="550387" y="53958"/>
            <a:ext cx="11088050" cy="930372"/>
          </a:xfrm>
          <a:prstGeom prst="rect">
            <a:avLst/>
          </a:prstGeom>
        </p:spPr>
        <p:txBody>
          <a:bodyPr vert="horz" lIns="0" tIns="0" rIns="0" bIns="126000" rtlCol="0" anchor="b" anchorCtr="0">
            <a:no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r>
              <a:rPr lang="en-IN" sz="3200" b="1">
                <a:solidFill>
                  <a:srgbClr val="0070C0"/>
                </a:solidFill>
              </a:rPr>
              <a:t>Key Features</a:t>
            </a:r>
          </a:p>
        </p:txBody>
      </p:sp>
      <p:sp>
        <p:nvSpPr>
          <p:cNvPr id="8" name="Oval 7">
            <a:extLst>
              <a:ext uri="{FF2B5EF4-FFF2-40B4-BE49-F238E27FC236}">
                <a16:creationId xmlns:a16="http://schemas.microsoft.com/office/drawing/2014/main" id="{75EEBE43-89E7-522A-2C02-599A80D8F00B}"/>
              </a:ext>
            </a:extLst>
          </p:cNvPr>
          <p:cNvSpPr>
            <a:spLocks noChangeAspect="1"/>
          </p:cNvSpPr>
          <p:nvPr/>
        </p:nvSpPr>
        <p:spPr>
          <a:xfrm>
            <a:off x="4066039" y="1430613"/>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sz="1600" dirty="0"/>
              <a:t>🔍</a:t>
            </a:r>
          </a:p>
        </p:txBody>
      </p:sp>
      <p:sp>
        <p:nvSpPr>
          <p:cNvPr id="9" name="TextBox 8">
            <a:extLst>
              <a:ext uri="{FF2B5EF4-FFF2-40B4-BE49-F238E27FC236}">
                <a16:creationId xmlns:a16="http://schemas.microsoft.com/office/drawing/2014/main" id="{4C0670A3-38B6-C6EC-7698-1BB4330A754B}"/>
              </a:ext>
            </a:extLst>
          </p:cNvPr>
          <p:cNvSpPr txBox="1"/>
          <p:nvPr/>
        </p:nvSpPr>
        <p:spPr>
          <a:xfrm>
            <a:off x="617408" y="1430613"/>
            <a:ext cx="3426372" cy="600164"/>
          </a:xfrm>
          <a:prstGeom prst="rect">
            <a:avLst/>
          </a:prstGeom>
          <a:noFill/>
        </p:spPr>
        <p:txBody>
          <a:bodyPr wrap="square">
            <a:spAutoFit/>
          </a:bodyPr>
          <a:lstStyle/>
          <a:p>
            <a:pPr algn="r"/>
            <a:r>
              <a:rPr lang="en-IN" sz="1100" b="1" dirty="0">
                <a:solidFill>
                  <a:srgbClr val="4FC3F7"/>
                </a:solidFill>
              </a:rPr>
              <a:t>Intent Recognition</a:t>
            </a:r>
          </a:p>
          <a:p>
            <a:pPr algn="r"/>
            <a:r>
              <a:rPr sz="1100" b="0" i="0" dirty="0">
                <a:solidFill>
                  <a:schemeClr val="bg1"/>
                </a:solidFill>
              </a:rPr>
              <a:t>Understands 'top performers' means ORDER BY revenue DESC LIMIT 10 </a:t>
            </a:r>
            <a:r>
              <a:rPr lang="en-US" sz="1100" dirty="0">
                <a:solidFill>
                  <a:schemeClr val="bg1"/>
                </a:solidFill>
              </a:rPr>
              <a:t>-</a:t>
            </a:r>
            <a:r>
              <a:rPr sz="1100" b="0" i="0" dirty="0">
                <a:solidFill>
                  <a:schemeClr val="bg1"/>
                </a:solidFill>
              </a:rPr>
              <a:t> not literal keyword match</a:t>
            </a:r>
          </a:p>
        </p:txBody>
      </p:sp>
      <p:pic>
        <p:nvPicPr>
          <p:cNvPr id="10" name="Graphic 9" descr="Old Key with solid fill">
            <a:extLst>
              <a:ext uri="{FF2B5EF4-FFF2-40B4-BE49-F238E27FC236}">
                <a16:creationId xmlns:a16="http://schemas.microsoft.com/office/drawing/2014/main" id="{2006540F-3F78-8EB5-1B72-39685D7DD6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26990" y="3183549"/>
            <a:ext cx="914400" cy="914400"/>
          </a:xfrm>
          <a:prstGeom prst="rect">
            <a:avLst/>
          </a:prstGeom>
        </p:spPr>
      </p:pic>
      <p:sp>
        <p:nvSpPr>
          <p:cNvPr id="11" name="TextBox 10">
            <a:extLst>
              <a:ext uri="{FF2B5EF4-FFF2-40B4-BE49-F238E27FC236}">
                <a16:creationId xmlns:a16="http://schemas.microsoft.com/office/drawing/2014/main" id="{AA4D677B-E189-2D44-3AA9-A35377911768}"/>
              </a:ext>
            </a:extLst>
          </p:cNvPr>
          <p:cNvSpPr txBox="1"/>
          <p:nvPr/>
        </p:nvSpPr>
        <p:spPr>
          <a:xfrm>
            <a:off x="381805" y="2399755"/>
            <a:ext cx="3661975" cy="600164"/>
          </a:xfrm>
          <a:prstGeom prst="rect">
            <a:avLst/>
          </a:prstGeom>
          <a:noFill/>
        </p:spPr>
        <p:txBody>
          <a:bodyPr wrap="square">
            <a:spAutoFit/>
          </a:bodyPr>
          <a:lstStyle/>
          <a:p>
            <a:pPr algn="r"/>
            <a:r>
              <a:rPr lang="en-IN" sz="1100" b="1" dirty="0">
                <a:solidFill>
                  <a:srgbClr val="4FC3F7"/>
                </a:solidFill>
              </a:rPr>
              <a:t>Schema-Aware Context</a:t>
            </a:r>
          </a:p>
          <a:p>
            <a:pPr algn="r"/>
            <a:r>
              <a:rPr sz="1100" b="0" i="0" dirty="0">
                <a:solidFill>
                  <a:schemeClr val="bg1"/>
                </a:solidFill>
              </a:rPr>
              <a:t>Injects column types, value ranges and top-values into prompt </a:t>
            </a:r>
            <a:r>
              <a:rPr lang="en-US" sz="1100" b="0" i="0" dirty="0">
                <a:solidFill>
                  <a:schemeClr val="bg1"/>
                </a:solidFill>
              </a:rPr>
              <a:t>-</a:t>
            </a:r>
            <a:r>
              <a:rPr sz="1100" b="0" i="0" dirty="0">
                <a:solidFill>
                  <a:schemeClr val="bg1"/>
                </a:solidFill>
              </a:rPr>
              <a:t> LLM knows your data before answering</a:t>
            </a:r>
          </a:p>
        </p:txBody>
      </p:sp>
      <p:sp>
        <p:nvSpPr>
          <p:cNvPr id="12" name="Oval 11">
            <a:extLst>
              <a:ext uri="{FF2B5EF4-FFF2-40B4-BE49-F238E27FC236}">
                <a16:creationId xmlns:a16="http://schemas.microsoft.com/office/drawing/2014/main" id="{391F65DE-033A-CBA9-1957-FE7C97B54C1C}"/>
              </a:ext>
            </a:extLst>
          </p:cNvPr>
          <p:cNvSpPr>
            <a:spLocks noChangeAspect="1"/>
          </p:cNvSpPr>
          <p:nvPr/>
        </p:nvSpPr>
        <p:spPr>
          <a:xfrm>
            <a:off x="4076051" y="3368897"/>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IN" sz="1600" dirty="0"/>
              <a:t>🔗</a:t>
            </a:r>
            <a:endParaRPr sz="1600" dirty="0"/>
          </a:p>
        </p:txBody>
      </p:sp>
      <p:sp>
        <p:nvSpPr>
          <p:cNvPr id="13" name="TextBox 12">
            <a:extLst>
              <a:ext uri="{FF2B5EF4-FFF2-40B4-BE49-F238E27FC236}">
                <a16:creationId xmlns:a16="http://schemas.microsoft.com/office/drawing/2014/main" id="{DEE3CB6C-2DB0-D90A-98B6-7BF0DEA8B9A3}"/>
              </a:ext>
            </a:extLst>
          </p:cNvPr>
          <p:cNvSpPr txBox="1"/>
          <p:nvPr/>
        </p:nvSpPr>
        <p:spPr>
          <a:xfrm>
            <a:off x="660669" y="3368897"/>
            <a:ext cx="3383111" cy="600164"/>
          </a:xfrm>
          <a:prstGeom prst="rect">
            <a:avLst/>
          </a:prstGeom>
          <a:noFill/>
        </p:spPr>
        <p:txBody>
          <a:bodyPr wrap="square">
            <a:spAutoFit/>
          </a:bodyPr>
          <a:lstStyle/>
          <a:p>
            <a:pPr algn="r"/>
            <a:r>
              <a:rPr lang="en-IN" sz="1100" b="1" dirty="0">
                <a:solidFill>
                  <a:srgbClr val="4FC3F7"/>
                </a:solidFill>
              </a:rPr>
              <a:t>Auto Relationship Discovery</a:t>
            </a:r>
          </a:p>
          <a:p>
            <a:pPr algn="r"/>
            <a:r>
              <a:rPr sz="1100" b="0" i="0" dirty="0">
                <a:solidFill>
                  <a:schemeClr val="bg1"/>
                </a:solidFill>
              </a:rPr>
              <a:t>Detects foreign key relationships across tables using normalized name + value overlap scoring</a:t>
            </a:r>
          </a:p>
        </p:txBody>
      </p:sp>
      <p:sp>
        <p:nvSpPr>
          <p:cNvPr id="14" name="Oval 13">
            <a:extLst>
              <a:ext uri="{FF2B5EF4-FFF2-40B4-BE49-F238E27FC236}">
                <a16:creationId xmlns:a16="http://schemas.microsoft.com/office/drawing/2014/main" id="{A0FF54F1-5E20-D2E7-2CF6-73EB32984E4D}"/>
              </a:ext>
            </a:extLst>
          </p:cNvPr>
          <p:cNvSpPr>
            <a:spLocks noChangeAspect="1"/>
          </p:cNvSpPr>
          <p:nvPr/>
        </p:nvSpPr>
        <p:spPr>
          <a:xfrm>
            <a:off x="7420787" y="1432210"/>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sz="1600" dirty="0"/>
              <a:t>💬</a:t>
            </a:r>
          </a:p>
        </p:txBody>
      </p:sp>
      <p:sp>
        <p:nvSpPr>
          <p:cNvPr id="15" name="Oval 14">
            <a:extLst>
              <a:ext uri="{FF2B5EF4-FFF2-40B4-BE49-F238E27FC236}">
                <a16:creationId xmlns:a16="http://schemas.microsoft.com/office/drawing/2014/main" id="{19068F7D-6FF5-181C-5166-C4523AF1DCD7}"/>
              </a:ext>
            </a:extLst>
          </p:cNvPr>
          <p:cNvSpPr>
            <a:spLocks noChangeAspect="1"/>
          </p:cNvSpPr>
          <p:nvPr/>
        </p:nvSpPr>
        <p:spPr>
          <a:xfrm>
            <a:off x="4105167" y="5307181"/>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sz="1600" dirty="0"/>
              <a:t>⚙️</a:t>
            </a:r>
          </a:p>
        </p:txBody>
      </p:sp>
      <p:sp>
        <p:nvSpPr>
          <p:cNvPr id="16" name="TextBox 15">
            <a:extLst>
              <a:ext uri="{FF2B5EF4-FFF2-40B4-BE49-F238E27FC236}">
                <a16:creationId xmlns:a16="http://schemas.microsoft.com/office/drawing/2014/main" id="{E81DAE7B-110E-B57C-ACD0-109A7867DFA6}"/>
              </a:ext>
            </a:extLst>
          </p:cNvPr>
          <p:cNvSpPr txBox="1"/>
          <p:nvPr/>
        </p:nvSpPr>
        <p:spPr>
          <a:xfrm>
            <a:off x="477358" y="5307181"/>
            <a:ext cx="3566422" cy="600164"/>
          </a:xfrm>
          <a:prstGeom prst="rect">
            <a:avLst/>
          </a:prstGeom>
          <a:noFill/>
        </p:spPr>
        <p:txBody>
          <a:bodyPr wrap="square">
            <a:spAutoFit/>
          </a:bodyPr>
          <a:lstStyle/>
          <a:p>
            <a:pPr algn="r"/>
            <a:r>
              <a:rPr lang="en-IN" sz="1100" b="1" dirty="0">
                <a:solidFill>
                  <a:srgbClr val="4FC3F7"/>
                </a:solidFill>
              </a:rPr>
              <a:t>Config-Driven Domain</a:t>
            </a:r>
          </a:p>
          <a:p>
            <a:pPr algn="r"/>
            <a:r>
              <a:rPr sz="1100" b="0" i="0" dirty="0">
                <a:solidFill>
                  <a:schemeClr val="bg1"/>
                </a:solidFill>
              </a:rPr>
              <a:t>JSON config maps domain terms: 'revenue' </a:t>
            </a:r>
            <a:r>
              <a:rPr lang="en-US" sz="1100" b="0" i="0" dirty="0">
                <a:solidFill>
                  <a:schemeClr val="bg1"/>
                </a:solidFill>
              </a:rPr>
              <a:t>-</a:t>
            </a:r>
            <a:r>
              <a:rPr sz="1100" b="0" i="0" dirty="0">
                <a:solidFill>
                  <a:schemeClr val="bg1"/>
                </a:solidFill>
              </a:rPr>
              <a:t> actual column name per industry/client deployment</a:t>
            </a:r>
          </a:p>
        </p:txBody>
      </p:sp>
      <p:sp>
        <p:nvSpPr>
          <p:cNvPr id="17" name="Oval 16">
            <a:extLst>
              <a:ext uri="{FF2B5EF4-FFF2-40B4-BE49-F238E27FC236}">
                <a16:creationId xmlns:a16="http://schemas.microsoft.com/office/drawing/2014/main" id="{838490B2-38EB-6D70-059C-54206C24851D}"/>
              </a:ext>
            </a:extLst>
          </p:cNvPr>
          <p:cNvSpPr>
            <a:spLocks noChangeAspect="1"/>
          </p:cNvSpPr>
          <p:nvPr/>
        </p:nvSpPr>
        <p:spPr>
          <a:xfrm>
            <a:off x="4066039" y="4338039"/>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sz="1600"/>
              <a:t>🔄</a:t>
            </a:r>
          </a:p>
        </p:txBody>
      </p:sp>
      <p:sp>
        <p:nvSpPr>
          <p:cNvPr id="18" name="TextBox 17">
            <a:extLst>
              <a:ext uri="{FF2B5EF4-FFF2-40B4-BE49-F238E27FC236}">
                <a16:creationId xmlns:a16="http://schemas.microsoft.com/office/drawing/2014/main" id="{DE689CB1-1F3C-3732-3A32-9EFAF6782043}"/>
              </a:ext>
            </a:extLst>
          </p:cNvPr>
          <p:cNvSpPr txBox="1"/>
          <p:nvPr/>
        </p:nvSpPr>
        <p:spPr>
          <a:xfrm>
            <a:off x="627160" y="4338039"/>
            <a:ext cx="3416620" cy="600164"/>
          </a:xfrm>
          <a:prstGeom prst="rect">
            <a:avLst/>
          </a:prstGeom>
          <a:noFill/>
        </p:spPr>
        <p:txBody>
          <a:bodyPr wrap="square">
            <a:spAutoFit/>
          </a:bodyPr>
          <a:lstStyle/>
          <a:p>
            <a:pPr algn="r"/>
            <a:r>
              <a:rPr lang="en-IN" sz="1100" b="1" dirty="0">
                <a:solidFill>
                  <a:srgbClr val="4FC3F7"/>
                </a:solidFill>
              </a:rPr>
              <a:t>Self-Healing SQL</a:t>
            </a:r>
          </a:p>
          <a:p>
            <a:pPr algn="r"/>
            <a:r>
              <a:rPr sz="1100" b="0" i="0" dirty="0">
                <a:solidFill>
                  <a:schemeClr val="bg1"/>
                </a:solidFill>
              </a:rPr>
              <a:t>When generated SQL fails, LLM auto-corrects with the error message — no manual intervention</a:t>
            </a:r>
          </a:p>
        </p:txBody>
      </p:sp>
      <p:sp>
        <p:nvSpPr>
          <p:cNvPr id="19" name="Oval 18">
            <a:extLst>
              <a:ext uri="{FF2B5EF4-FFF2-40B4-BE49-F238E27FC236}">
                <a16:creationId xmlns:a16="http://schemas.microsoft.com/office/drawing/2014/main" id="{811CB624-24BE-652A-39AE-E62B36FB7FEC}"/>
              </a:ext>
            </a:extLst>
          </p:cNvPr>
          <p:cNvSpPr>
            <a:spLocks noChangeAspect="1"/>
          </p:cNvSpPr>
          <p:nvPr/>
        </p:nvSpPr>
        <p:spPr>
          <a:xfrm>
            <a:off x="4066039" y="2399755"/>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sz="1600" dirty="0"/>
              <a:t>📐</a:t>
            </a:r>
          </a:p>
        </p:txBody>
      </p:sp>
      <p:sp>
        <p:nvSpPr>
          <p:cNvPr id="20" name="TextBox 19">
            <a:extLst>
              <a:ext uri="{FF2B5EF4-FFF2-40B4-BE49-F238E27FC236}">
                <a16:creationId xmlns:a16="http://schemas.microsoft.com/office/drawing/2014/main" id="{519E3120-FD6F-C60C-8FFA-A0C70F1F1368}"/>
              </a:ext>
            </a:extLst>
          </p:cNvPr>
          <p:cNvSpPr txBox="1"/>
          <p:nvPr/>
        </p:nvSpPr>
        <p:spPr>
          <a:xfrm>
            <a:off x="7888786" y="1430613"/>
            <a:ext cx="3526051" cy="584775"/>
          </a:xfrm>
          <a:prstGeom prst="rect">
            <a:avLst/>
          </a:prstGeom>
          <a:noFill/>
        </p:spPr>
        <p:txBody>
          <a:bodyPr wrap="square">
            <a:spAutoFit/>
          </a:bodyPr>
          <a:lstStyle/>
          <a:p>
            <a:r>
              <a:rPr lang="en-IN" sz="1050" b="1" dirty="0">
                <a:solidFill>
                  <a:srgbClr val="4FC3F7"/>
                </a:solidFill>
              </a:rPr>
              <a:t>Follow-up Memory</a:t>
            </a:r>
          </a:p>
          <a:p>
            <a:pPr algn="l"/>
            <a:r>
              <a:rPr sz="1050" b="0" i="0" dirty="0">
                <a:solidFill>
                  <a:schemeClr val="bg1"/>
                </a:solidFill>
              </a:rPr>
              <a:t>Session memory enriches short follow-up questions </a:t>
            </a:r>
            <a:r>
              <a:rPr lang="en-US" sz="1050" b="0" i="0" dirty="0">
                <a:solidFill>
                  <a:schemeClr val="bg1"/>
                </a:solidFill>
              </a:rPr>
              <a:t>-</a:t>
            </a:r>
            <a:r>
              <a:rPr sz="1050" b="0" i="0" dirty="0">
                <a:solidFill>
                  <a:schemeClr val="bg1"/>
                </a:solidFill>
              </a:rPr>
              <a:t> 'show only Ford' builds on previous query</a:t>
            </a:r>
          </a:p>
        </p:txBody>
      </p:sp>
      <p:sp>
        <p:nvSpPr>
          <p:cNvPr id="21" name="Oval 20">
            <a:extLst>
              <a:ext uri="{FF2B5EF4-FFF2-40B4-BE49-F238E27FC236}">
                <a16:creationId xmlns:a16="http://schemas.microsoft.com/office/drawing/2014/main" id="{9AD7C406-B56F-542E-D3A3-D38DEFF69A52}"/>
              </a:ext>
            </a:extLst>
          </p:cNvPr>
          <p:cNvSpPr>
            <a:spLocks noChangeAspect="1"/>
          </p:cNvSpPr>
          <p:nvPr/>
        </p:nvSpPr>
        <p:spPr>
          <a:xfrm>
            <a:off x="7420787" y="2399755"/>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IN" sz="1600" dirty="0"/>
              <a:t>🛡️</a:t>
            </a:r>
          </a:p>
        </p:txBody>
      </p:sp>
      <p:sp>
        <p:nvSpPr>
          <p:cNvPr id="22" name="TextBox 21">
            <a:extLst>
              <a:ext uri="{FF2B5EF4-FFF2-40B4-BE49-F238E27FC236}">
                <a16:creationId xmlns:a16="http://schemas.microsoft.com/office/drawing/2014/main" id="{26226D99-EAC2-BE07-72AC-A7C54ABFD4D2}"/>
              </a:ext>
            </a:extLst>
          </p:cNvPr>
          <p:cNvSpPr txBox="1"/>
          <p:nvPr/>
        </p:nvSpPr>
        <p:spPr>
          <a:xfrm>
            <a:off x="7888786" y="2374468"/>
            <a:ext cx="3526051" cy="577081"/>
          </a:xfrm>
          <a:prstGeom prst="rect">
            <a:avLst/>
          </a:prstGeom>
          <a:noFill/>
        </p:spPr>
        <p:txBody>
          <a:bodyPr wrap="square">
            <a:spAutoFit/>
          </a:bodyPr>
          <a:lstStyle/>
          <a:p>
            <a:r>
              <a:rPr lang="en-IN" sz="1050" b="1" dirty="0">
                <a:solidFill>
                  <a:srgbClr val="4FC3F7"/>
                </a:solidFill>
              </a:rPr>
              <a:t>SQL Guard Rails</a:t>
            </a:r>
          </a:p>
          <a:p>
            <a:pPr algn="l"/>
            <a:r>
              <a:rPr lang="en-IN" sz="1050" b="0" i="0" dirty="0">
                <a:solidFill>
                  <a:schemeClr val="bg1"/>
                </a:solidFill>
              </a:rPr>
              <a:t>Only </a:t>
            </a:r>
            <a:r>
              <a:rPr lang="en-IN" sz="1050" b="0" i="0" dirty="0">
                <a:solidFill>
                  <a:schemeClr val="accent1"/>
                </a:solidFill>
              </a:rPr>
              <a:t>SELECT</a:t>
            </a:r>
            <a:r>
              <a:rPr lang="en-IN" sz="1050" b="0" i="0" dirty="0">
                <a:solidFill>
                  <a:schemeClr val="bg1"/>
                </a:solidFill>
              </a:rPr>
              <a:t> statements are passed, no DDL statements allowed. (ALTER, DELETE, TRUNCATE etc)</a:t>
            </a:r>
          </a:p>
        </p:txBody>
      </p:sp>
      <p:sp>
        <p:nvSpPr>
          <p:cNvPr id="23" name="Oval 22">
            <a:extLst>
              <a:ext uri="{FF2B5EF4-FFF2-40B4-BE49-F238E27FC236}">
                <a16:creationId xmlns:a16="http://schemas.microsoft.com/office/drawing/2014/main" id="{E11A9F93-CDE8-6E1B-A0BF-EF908E7BF969}"/>
              </a:ext>
            </a:extLst>
          </p:cNvPr>
          <p:cNvSpPr>
            <a:spLocks noChangeAspect="1"/>
          </p:cNvSpPr>
          <p:nvPr/>
        </p:nvSpPr>
        <p:spPr>
          <a:xfrm>
            <a:off x="7456601" y="3335797"/>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IN" sz="1600" dirty="0"/>
              <a:t>📊</a:t>
            </a:r>
          </a:p>
        </p:txBody>
      </p:sp>
      <p:sp>
        <p:nvSpPr>
          <p:cNvPr id="24" name="TextBox 23">
            <a:extLst>
              <a:ext uri="{FF2B5EF4-FFF2-40B4-BE49-F238E27FC236}">
                <a16:creationId xmlns:a16="http://schemas.microsoft.com/office/drawing/2014/main" id="{C09F2F9F-8004-1539-4BC5-F83A46EF28C1}"/>
              </a:ext>
            </a:extLst>
          </p:cNvPr>
          <p:cNvSpPr txBox="1"/>
          <p:nvPr/>
        </p:nvSpPr>
        <p:spPr>
          <a:xfrm>
            <a:off x="7888786" y="3310510"/>
            <a:ext cx="3526051" cy="738664"/>
          </a:xfrm>
          <a:prstGeom prst="rect">
            <a:avLst/>
          </a:prstGeom>
          <a:noFill/>
        </p:spPr>
        <p:txBody>
          <a:bodyPr wrap="square">
            <a:spAutoFit/>
          </a:bodyPr>
          <a:lstStyle/>
          <a:p>
            <a:r>
              <a:rPr lang="en-IN" sz="1050" b="1" dirty="0">
                <a:solidFill>
                  <a:srgbClr val="4FC3F7"/>
                </a:solidFill>
              </a:rPr>
              <a:t>KPI Dashboard</a:t>
            </a:r>
          </a:p>
          <a:p>
            <a:pPr algn="l"/>
            <a:r>
              <a:rPr lang="en-IN" sz="1050" b="0" i="0" dirty="0">
                <a:solidFill>
                  <a:schemeClr val="bg1"/>
                </a:solidFill>
              </a:rPr>
              <a:t>Auto detects </a:t>
            </a:r>
            <a:r>
              <a:rPr lang="en-IN" sz="1050" b="0" i="0" dirty="0">
                <a:solidFill>
                  <a:schemeClr val="accent1"/>
                </a:solidFill>
              </a:rPr>
              <a:t>revenue, YoY, Volume,</a:t>
            </a:r>
            <a:r>
              <a:rPr lang="en-IN" sz="1050" b="0" i="0" dirty="0">
                <a:solidFill>
                  <a:schemeClr val="bg1"/>
                </a:solidFill>
              </a:rPr>
              <a:t> sales columns and build KPI based on underlying data ready for review once file </a:t>
            </a:r>
            <a:r>
              <a:rPr lang="en-IN" sz="1050" dirty="0">
                <a:solidFill>
                  <a:schemeClr val="bg1"/>
                </a:solidFill>
              </a:rPr>
              <a:t>uploaded</a:t>
            </a:r>
            <a:endParaRPr lang="en-IN" sz="1050" b="0" i="0" dirty="0">
              <a:solidFill>
                <a:schemeClr val="bg1"/>
              </a:solidFill>
            </a:endParaRPr>
          </a:p>
        </p:txBody>
      </p:sp>
      <p:sp>
        <p:nvSpPr>
          <p:cNvPr id="25" name="Oval 24">
            <a:extLst>
              <a:ext uri="{FF2B5EF4-FFF2-40B4-BE49-F238E27FC236}">
                <a16:creationId xmlns:a16="http://schemas.microsoft.com/office/drawing/2014/main" id="{B7FB0B3A-2010-B9A5-3F04-5BBD892CFB78}"/>
              </a:ext>
            </a:extLst>
          </p:cNvPr>
          <p:cNvSpPr>
            <a:spLocks noChangeAspect="1"/>
          </p:cNvSpPr>
          <p:nvPr/>
        </p:nvSpPr>
        <p:spPr>
          <a:xfrm>
            <a:off x="7434342" y="4363326"/>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IN" sz="1600" dirty="0"/>
              <a:t>🔬</a:t>
            </a:r>
          </a:p>
        </p:txBody>
      </p:sp>
      <p:sp>
        <p:nvSpPr>
          <p:cNvPr id="26" name="TextBox 25">
            <a:extLst>
              <a:ext uri="{FF2B5EF4-FFF2-40B4-BE49-F238E27FC236}">
                <a16:creationId xmlns:a16="http://schemas.microsoft.com/office/drawing/2014/main" id="{37B4C196-62FF-745B-F723-7B035A177254}"/>
              </a:ext>
            </a:extLst>
          </p:cNvPr>
          <p:cNvSpPr txBox="1"/>
          <p:nvPr/>
        </p:nvSpPr>
        <p:spPr>
          <a:xfrm>
            <a:off x="7888786" y="4338039"/>
            <a:ext cx="3526051" cy="738664"/>
          </a:xfrm>
          <a:prstGeom prst="rect">
            <a:avLst/>
          </a:prstGeom>
          <a:noFill/>
        </p:spPr>
        <p:txBody>
          <a:bodyPr wrap="square">
            <a:spAutoFit/>
          </a:bodyPr>
          <a:lstStyle/>
          <a:p>
            <a:r>
              <a:rPr lang="en-IN" sz="1050" b="1" dirty="0">
                <a:solidFill>
                  <a:srgbClr val="4FC3F7"/>
                </a:solidFill>
              </a:rPr>
              <a:t>Data Quality Intelligence</a:t>
            </a:r>
          </a:p>
          <a:p>
            <a:pPr algn="l"/>
            <a:r>
              <a:rPr lang="en-IN" sz="1050" b="0" i="0" dirty="0">
                <a:solidFill>
                  <a:schemeClr val="bg1"/>
                </a:solidFill>
              </a:rPr>
              <a:t>Performs automated data quality checks covering nulls, duplicates, outliers, type mismatches, cardinality issues, and date-gap validation.</a:t>
            </a:r>
          </a:p>
        </p:txBody>
      </p:sp>
      <p:sp>
        <p:nvSpPr>
          <p:cNvPr id="27" name="TextBox 26">
            <a:extLst>
              <a:ext uri="{FF2B5EF4-FFF2-40B4-BE49-F238E27FC236}">
                <a16:creationId xmlns:a16="http://schemas.microsoft.com/office/drawing/2014/main" id="{D52C8767-FABD-8F01-0643-33B793EE1CC3}"/>
              </a:ext>
            </a:extLst>
          </p:cNvPr>
          <p:cNvSpPr txBox="1"/>
          <p:nvPr/>
        </p:nvSpPr>
        <p:spPr>
          <a:xfrm>
            <a:off x="7888786" y="5307181"/>
            <a:ext cx="3526051" cy="738664"/>
          </a:xfrm>
          <a:prstGeom prst="rect">
            <a:avLst/>
          </a:prstGeom>
          <a:noFill/>
        </p:spPr>
        <p:txBody>
          <a:bodyPr wrap="square">
            <a:spAutoFit/>
          </a:bodyPr>
          <a:lstStyle/>
          <a:p>
            <a:r>
              <a:rPr lang="en-IN" sz="1050" b="1" dirty="0">
                <a:solidFill>
                  <a:srgbClr val="4FC3F7"/>
                </a:solidFill>
              </a:rPr>
              <a:t>Smart Auto Join</a:t>
            </a:r>
          </a:p>
          <a:p>
            <a:r>
              <a:rPr lang="en-IN" sz="1050" dirty="0">
                <a:solidFill>
                  <a:schemeClr val="bg1"/>
                </a:solidFill>
              </a:rPr>
              <a:t>Uses a multi-pass join engine to intelligently detect column relationships and automatically map star and snowflake schemas.</a:t>
            </a:r>
          </a:p>
        </p:txBody>
      </p:sp>
      <p:sp>
        <p:nvSpPr>
          <p:cNvPr id="28" name="Oval 27">
            <a:extLst>
              <a:ext uri="{FF2B5EF4-FFF2-40B4-BE49-F238E27FC236}">
                <a16:creationId xmlns:a16="http://schemas.microsoft.com/office/drawing/2014/main" id="{11F807EC-D8D4-80EF-DF21-DB483BE7F4BD}"/>
              </a:ext>
            </a:extLst>
          </p:cNvPr>
          <p:cNvSpPr>
            <a:spLocks noChangeAspect="1"/>
          </p:cNvSpPr>
          <p:nvPr/>
        </p:nvSpPr>
        <p:spPr>
          <a:xfrm>
            <a:off x="7434341" y="5341010"/>
            <a:ext cx="468000" cy="468000"/>
          </a:xfrm>
          <a:prstGeom prst="ellipse">
            <a:avLst/>
          </a:prstGeom>
          <a:solidFill>
            <a:srgbClr val="017049"/>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fontAlgn="t">
              <a:lnSpc>
                <a:spcPts val="1500"/>
              </a:lnSpc>
              <a:buNone/>
            </a:pPr>
            <a:r>
              <a:rPr lang="en-IN" sz="1600" dirty="0">
                <a:latin typeface="Segoe UI" panose="020B0502040204020203" pitchFamily="34" charset="0"/>
              </a:rPr>
              <a:t>🌐</a:t>
            </a:r>
          </a:p>
        </p:txBody>
      </p:sp>
    </p:spTree>
    <p:extLst>
      <p:ext uri="{BB962C8B-B14F-4D97-AF65-F5344CB8AC3E}">
        <p14:creationId xmlns:p14="http://schemas.microsoft.com/office/powerpoint/2010/main" val="394422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10E9F05-D2F4-5C48-3A29-1DC1FDE87505}"/>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C8F69F5F-7FE5-B6DE-64F5-0B40B2CC5675}"/>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A13CB68F-E427-FF40-CC04-7228411E4F8C}"/>
              </a:ext>
            </a:extLst>
          </p:cNvPr>
          <p:cNvSpPr>
            <a:spLocks noGrp="1"/>
          </p:cNvSpPr>
          <p:nvPr>
            <p:ph type="sldNum" sz="quarter" idx="12"/>
          </p:nvPr>
        </p:nvSpPr>
        <p:spPr/>
        <p:txBody>
          <a:bodyPr/>
          <a:lstStyle/>
          <a:p>
            <a:pPr algn="r"/>
            <a:fld id="{5D9A5160-6218-4E5A-B9E6-B93E3DAE377C}" type="slidenum">
              <a:rPr lang="en-US" smtClean="0"/>
              <a:pPr algn="r"/>
              <a:t>9</a:t>
            </a:fld>
            <a:endParaRPr lang="en-US"/>
          </a:p>
        </p:txBody>
      </p:sp>
      <p:sp>
        <p:nvSpPr>
          <p:cNvPr id="29" name="Title 3">
            <a:extLst>
              <a:ext uri="{FF2B5EF4-FFF2-40B4-BE49-F238E27FC236}">
                <a16:creationId xmlns:a16="http://schemas.microsoft.com/office/drawing/2014/main" id="{BF1EF55F-4533-2C49-F8A6-3FC0B67A0B12}"/>
              </a:ext>
            </a:extLst>
          </p:cNvPr>
          <p:cNvSpPr txBox="1">
            <a:spLocks/>
          </p:cNvSpPr>
          <p:nvPr/>
        </p:nvSpPr>
        <p:spPr>
          <a:xfrm>
            <a:off x="550387" y="53958"/>
            <a:ext cx="11088050" cy="930372"/>
          </a:xfrm>
          <a:prstGeom prst="rect">
            <a:avLst/>
          </a:prstGeom>
        </p:spPr>
        <p:txBody>
          <a:bodyPr vert="horz" lIns="0" tIns="0" rIns="0" bIns="126000" rtlCol="0" anchor="b" anchorCtr="0">
            <a:no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r>
              <a:rPr lang="en-IN" sz="3200" b="1" dirty="0">
                <a:solidFill>
                  <a:srgbClr val="0070C0"/>
                </a:solidFill>
              </a:rPr>
              <a:t>Databricks Genie vs </a:t>
            </a:r>
            <a:r>
              <a:rPr lang="en-IN" sz="3200" b="1" dirty="0" err="1">
                <a:solidFill>
                  <a:srgbClr val="F59E0B"/>
                </a:solidFill>
              </a:rPr>
              <a:t>AskDB</a:t>
            </a:r>
            <a:endParaRPr lang="en-IN" sz="3200" b="1" dirty="0">
              <a:solidFill>
                <a:srgbClr val="0070C0"/>
              </a:solidFill>
            </a:endParaRPr>
          </a:p>
        </p:txBody>
      </p:sp>
      <p:pic>
        <p:nvPicPr>
          <p:cNvPr id="30" name="Picture 29">
            <a:extLst>
              <a:ext uri="{FF2B5EF4-FFF2-40B4-BE49-F238E27FC236}">
                <a16:creationId xmlns:a16="http://schemas.microsoft.com/office/drawing/2014/main" id="{C33652D8-637E-2EBE-15AB-9D74B8A5666E}"/>
              </a:ext>
            </a:extLst>
          </p:cNvPr>
          <p:cNvPicPr>
            <a:picLocks noChangeAspect="1"/>
          </p:cNvPicPr>
          <p:nvPr/>
        </p:nvPicPr>
        <p:blipFill>
          <a:blip r:embed="rId2"/>
          <a:stretch>
            <a:fillRect/>
          </a:stretch>
        </p:blipFill>
        <p:spPr>
          <a:xfrm>
            <a:off x="1091820" y="1204038"/>
            <a:ext cx="4433578" cy="955798"/>
          </a:xfrm>
          <a:prstGeom prst="rect">
            <a:avLst/>
          </a:prstGeom>
        </p:spPr>
      </p:pic>
      <p:pic>
        <p:nvPicPr>
          <p:cNvPr id="31" name="Picture 30">
            <a:extLst>
              <a:ext uri="{FF2B5EF4-FFF2-40B4-BE49-F238E27FC236}">
                <a16:creationId xmlns:a16="http://schemas.microsoft.com/office/drawing/2014/main" id="{57A5F294-46AF-85DB-80FD-3503EDF45D90}"/>
              </a:ext>
            </a:extLst>
          </p:cNvPr>
          <p:cNvPicPr>
            <a:picLocks noChangeAspect="1"/>
          </p:cNvPicPr>
          <p:nvPr/>
        </p:nvPicPr>
        <p:blipFill>
          <a:blip r:embed="rId3"/>
          <a:stretch>
            <a:fillRect/>
          </a:stretch>
        </p:blipFill>
        <p:spPr>
          <a:xfrm>
            <a:off x="1091820" y="4286894"/>
            <a:ext cx="4408300" cy="2019489"/>
          </a:xfrm>
          <a:prstGeom prst="rect">
            <a:avLst/>
          </a:prstGeom>
        </p:spPr>
      </p:pic>
      <p:pic>
        <p:nvPicPr>
          <p:cNvPr id="32" name="Picture 31">
            <a:extLst>
              <a:ext uri="{FF2B5EF4-FFF2-40B4-BE49-F238E27FC236}">
                <a16:creationId xmlns:a16="http://schemas.microsoft.com/office/drawing/2014/main" id="{69163059-8A38-A903-B769-6C53A5E9E075}"/>
              </a:ext>
            </a:extLst>
          </p:cNvPr>
          <p:cNvPicPr>
            <a:picLocks noChangeAspect="1"/>
          </p:cNvPicPr>
          <p:nvPr/>
        </p:nvPicPr>
        <p:blipFill>
          <a:blip r:embed="rId4"/>
          <a:stretch>
            <a:fillRect/>
          </a:stretch>
        </p:blipFill>
        <p:spPr>
          <a:xfrm>
            <a:off x="1083913" y="2411337"/>
            <a:ext cx="4449392" cy="1698859"/>
          </a:xfrm>
          <a:prstGeom prst="rect">
            <a:avLst/>
          </a:prstGeom>
        </p:spPr>
      </p:pic>
      <p:pic>
        <p:nvPicPr>
          <p:cNvPr id="33" name="Picture 32">
            <a:extLst>
              <a:ext uri="{FF2B5EF4-FFF2-40B4-BE49-F238E27FC236}">
                <a16:creationId xmlns:a16="http://schemas.microsoft.com/office/drawing/2014/main" id="{5311A090-36E0-3761-65FF-4A25FC3F95EC}"/>
              </a:ext>
            </a:extLst>
          </p:cNvPr>
          <p:cNvPicPr>
            <a:picLocks noChangeAspect="1"/>
          </p:cNvPicPr>
          <p:nvPr/>
        </p:nvPicPr>
        <p:blipFill>
          <a:blip r:embed="rId5"/>
          <a:stretch>
            <a:fillRect/>
          </a:stretch>
        </p:blipFill>
        <p:spPr>
          <a:xfrm>
            <a:off x="6717260" y="1797762"/>
            <a:ext cx="4449600" cy="2111409"/>
          </a:xfrm>
          <a:prstGeom prst="rect">
            <a:avLst/>
          </a:prstGeom>
        </p:spPr>
      </p:pic>
      <p:pic>
        <p:nvPicPr>
          <p:cNvPr id="34" name="Picture 33">
            <a:extLst>
              <a:ext uri="{FF2B5EF4-FFF2-40B4-BE49-F238E27FC236}">
                <a16:creationId xmlns:a16="http://schemas.microsoft.com/office/drawing/2014/main" id="{438859A7-71C4-5BBF-30CF-9683DF289744}"/>
              </a:ext>
            </a:extLst>
          </p:cNvPr>
          <p:cNvPicPr>
            <a:picLocks noChangeAspect="1"/>
          </p:cNvPicPr>
          <p:nvPr/>
        </p:nvPicPr>
        <p:blipFill>
          <a:blip r:embed="rId6"/>
          <a:srcRect b="31579"/>
          <a:stretch>
            <a:fillRect/>
          </a:stretch>
        </p:blipFill>
        <p:spPr>
          <a:xfrm>
            <a:off x="6717261" y="1240348"/>
            <a:ext cx="5372070" cy="444073"/>
          </a:xfrm>
          <a:prstGeom prst="rect">
            <a:avLst/>
          </a:prstGeom>
        </p:spPr>
      </p:pic>
      <p:pic>
        <p:nvPicPr>
          <p:cNvPr id="35" name="Picture 34">
            <a:extLst>
              <a:ext uri="{FF2B5EF4-FFF2-40B4-BE49-F238E27FC236}">
                <a16:creationId xmlns:a16="http://schemas.microsoft.com/office/drawing/2014/main" id="{46A97E4E-6BE8-3161-C117-C184B5A9F404}"/>
              </a:ext>
            </a:extLst>
          </p:cNvPr>
          <p:cNvPicPr>
            <a:picLocks noChangeAspect="1"/>
          </p:cNvPicPr>
          <p:nvPr/>
        </p:nvPicPr>
        <p:blipFill>
          <a:blip r:embed="rId7"/>
          <a:stretch>
            <a:fillRect/>
          </a:stretch>
        </p:blipFill>
        <p:spPr>
          <a:xfrm>
            <a:off x="6717260" y="4022511"/>
            <a:ext cx="4867700" cy="2707383"/>
          </a:xfrm>
          <a:prstGeom prst="rect">
            <a:avLst/>
          </a:prstGeom>
        </p:spPr>
      </p:pic>
      <p:cxnSp>
        <p:nvCxnSpPr>
          <p:cNvPr id="36" name="Straight Connector 35">
            <a:extLst>
              <a:ext uri="{FF2B5EF4-FFF2-40B4-BE49-F238E27FC236}">
                <a16:creationId xmlns:a16="http://schemas.microsoft.com/office/drawing/2014/main" id="{6800F91E-AD15-32A4-BBB5-676A5C4F8B04}"/>
              </a:ext>
            </a:extLst>
          </p:cNvPr>
          <p:cNvCxnSpPr>
            <a:cxnSpLocks/>
          </p:cNvCxnSpPr>
          <p:nvPr/>
        </p:nvCxnSpPr>
        <p:spPr>
          <a:xfrm>
            <a:off x="6094412" y="944547"/>
            <a:ext cx="0" cy="5873670"/>
          </a:xfrm>
          <a:prstGeom prst="line">
            <a:avLst/>
          </a:prstGeom>
          <a:ln w="127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37" name="Text Placeholder 5">
            <a:extLst>
              <a:ext uri="{FF2B5EF4-FFF2-40B4-BE49-F238E27FC236}">
                <a16:creationId xmlns:a16="http://schemas.microsoft.com/office/drawing/2014/main" id="{73512BD3-4DCD-C607-8F91-C1009BCC315F}"/>
              </a:ext>
            </a:extLst>
          </p:cNvPr>
          <p:cNvSpPr txBox="1">
            <a:spLocks/>
          </p:cNvSpPr>
          <p:nvPr/>
        </p:nvSpPr>
        <p:spPr>
          <a:xfrm rot="16200000">
            <a:off x="-2372642" y="3373290"/>
            <a:ext cx="5543886" cy="322300"/>
          </a:xfrm>
          <a:prstGeom prst="rect">
            <a:avLst/>
          </a:prstGeom>
        </p:spPr>
        <p:txBody>
          <a:bodyPr/>
          <a:lst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r>
              <a:rPr lang="en-US" sz="2800" dirty="0">
                <a:solidFill>
                  <a:schemeClr val="bg1"/>
                </a:solidFill>
              </a:rPr>
              <a:t>Databricks Genie</a:t>
            </a:r>
          </a:p>
        </p:txBody>
      </p:sp>
      <p:pic>
        <p:nvPicPr>
          <p:cNvPr id="38" name="Picture 37" descr="Databricks Genie One: AI cowork for Business Teams | Databricks">
            <a:extLst>
              <a:ext uri="{FF2B5EF4-FFF2-40B4-BE49-F238E27FC236}">
                <a16:creationId xmlns:a16="http://schemas.microsoft.com/office/drawing/2014/main" id="{F7DB629E-213E-C581-0C36-7CB7B73079FB}"/>
              </a:ext>
            </a:extLst>
          </p:cNvPr>
          <p:cNvPicPr>
            <a:picLocks noChangeAspect="1"/>
          </p:cNvPicPr>
          <p:nvPr/>
        </p:nvPicPr>
        <p:blipFill>
          <a:blip r:embed="rId8"/>
          <a:srcRect l="56473" t="14096" b="9558"/>
          <a:stretch>
            <a:fillRect/>
          </a:stretch>
        </p:blipFill>
        <p:spPr>
          <a:xfrm>
            <a:off x="254137" y="1204038"/>
            <a:ext cx="493400" cy="452248"/>
          </a:xfrm>
          <a:prstGeom prst="rect">
            <a:avLst/>
          </a:prstGeom>
        </p:spPr>
      </p:pic>
      <p:sp>
        <p:nvSpPr>
          <p:cNvPr id="39" name="Text Placeholder 5">
            <a:extLst>
              <a:ext uri="{FF2B5EF4-FFF2-40B4-BE49-F238E27FC236}">
                <a16:creationId xmlns:a16="http://schemas.microsoft.com/office/drawing/2014/main" id="{A78F7156-60B6-1D82-54B6-F69513EF4F01}"/>
              </a:ext>
            </a:extLst>
          </p:cNvPr>
          <p:cNvSpPr txBox="1">
            <a:spLocks/>
          </p:cNvSpPr>
          <p:nvPr/>
        </p:nvSpPr>
        <p:spPr>
          <a:xfrm rot="5400000">
            <a:off x="9178959" y="3487189"/>
            <a:ext cx="5543886" cy="322300"/>
          </a:xfrm>
          <a:prstGeom prst="rect">
            <a:avLst/>
          </a:prstGeom>
        </p:spPr>
        <p:txBody>
          <a:bodyPr/>
          <a:lstStyle>
            <a:lvl1pPr marL="0" marR="0" indent="0" algn="l" defTabSz="914126" rtl="0" eaLnBrk="1" fontAlgn="auto" latinLnBrk="0" hangingPunct="1">
              <a:lnSpc>
                <a:spcPct val="100000"/>
              </a:lnSpc>
              <a:spcBef>
                <a:spcPts val="1799"/>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21" indent="-180921" algn="l" defTabSz="914126"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59892" indent="-179946" algn="l" defTabSz="914126"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588" indent="-179946" algn="l" defTabSz="914126"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8922" indent="-180921" algn="l" defTabSz="914126"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r>
              <a:rPr lang="en-IN" sz="2800" b="1" dirty="0" err="1">
                <a:solidFill>
                  <a:srgbClr val="F59E0B"/>
                </a:solidFill>
              </a:rPr>
              <a:t>AskDB</a:t>
            </a:r>
            <a:endParaRPr lang="en-US" sz="2800" dirty="0">
              <a:solidFill>
                <a:schemeClr val="bg1"/>
              </a:solidFill>
            </a:endParaRPr>
          </a:p>
        </p:txBody>
      </p:sp>
    </p:spTree>
    <p:extLst>
      <p:ext uri="{BB962C8B-B14F-4D97-AF65-F5344CB8AC3E}">
        <p14:creationId xmlns:p14="http://schemas.microsoft.com/office/powerpoint/2010/main" val="2098682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46D02-93BF-6391-9A82-FCFFBCDDA48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5DDDF7D-3D67-1291-7116-7B667F6544C1}"/>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D9B4D2F9-E861-077E-EDED-CF0CB135BF0F}"/>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D40421C1-D445-66E4-4E77-B004560C1E4A}"/>
              </a:ext>
            </a:extLst>
          </p:cNvPr>
          <p:cNvSpPr>
            <a:spLocks noGrp="1"/>
          </p:cNvSpPr>
          <p:nvPr>
            <p:ph type="sldNum" sz="quarter" idx="12"/>
          </p:nvPr>
        </p:nvSpPr>
        <p:spPr/>
        <p:txBody>
          <a:bodyPr/>
          <a:lstStyle/>
          <a:p>
            <a:pPr algn="r"/>
            <a:fld id="{5D9A5160-6218-4E5A-B9E6-B93E3DAE377C}" type="slidenum">
              <a:rPr lang="en-US" smtClean="0"/>
              <a:pPr algn="r"/>
              <a:t>10</a:t>
            </a:fld>
            <a:endParaRPr lang="en-US"/>
          </a:p>
        </p:txBody>
      </p:sp>
      <p:sp>
        <p:nvSpPr>
          <p:cNvPr id="2" name="Title 3">
            <a:extLst>
              <a:ext uri="{FF2B5EF4-FFF2-40B4-BE49-F238E27FC236}">
                <a16:creationId xmlns:a16="http://schemas.microsoft.com/office/drawing/2014/main" id="{6D976CBD-1241-BD00-BA76-CA59C9612661}"/>
              </a:ext>
            </a:extLst>
          </p:cNvPr>
          <p:cNvSpPr txBox="1">
            <a:spLocks/>
          </p:cNvSpPr>
          <p:nvPr/>
        </p:nvSpPr>
        <p:spPr>
          <a:xfrm>
            <a:off x="550387" y="53958"/>
            <a:ext cx="11088050" cy="930372"/>
          </a:xfrm>
          <a:prstGeom prst="rect">
            <a:avLst/>
          </a:prstGeom>
        </p:spPr>
        <p:txBody>
          <a:bodyPr vert="horz" lIns="0" tIns="0" rIns="0" bIns="126000" rtlCol="0" anchor="b" anchorCtr="0">
            <a:no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r>
              <a:rPr lang="en-IN" sz="3200" b="1" dirty="0">
                <a:solidFill>
                  <a:srgbClr val="0070C0"/>
                </a:solidFill>
              </a:rPr>
              <a:t>Demo Link</a:t>
            </a:r>
          </a:p>
        </p:txBody>
      </p:sp>
      <p:sp>
        <p:nvSpPr>
          <p:cNvPr id="6" name="Speech Bubble: Rectangle with Corners Rounded 5">
            <a:extLst>
              <a:ext uri="{FF2B5EF4-FFF2-40B4-BE49-F238E27FC236}">
                <a16:creationId xmlns:a16="http://schemas.microsoft.com/office/drawing/2014/main" id="{FEF00705-88F1-0AF8-817F-E25ECEFD7A55}"/>
              </a:ext>
            </a:extLst>
          </p:cNvPr>
          <p:cNvSpPr/>
          <p:nvPr/>
        </p:nvSpPr>
        <p:spPr>
          <a:xfrm>
            <a:off x="949884" y="2020092"/>
            <a:ext cx="2798064" cy="1014984"/>
          </a:xfrm>
          <a:prstGeom prst="wedgeRoundRectCallout">
            <a:avLst>
              <a:gd name="adj1" fmla="val 2258"/>
              <a:gd name="adj2" fmla="val 146860"/>
              <a:gd name="adj3" fmla="val 1666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Databricks Geni Demo Link</a:t>
            </a:r>
            <a:endParaRPr lang="en-IN" sz="1400" dirty="0" err="1">
              <a:solidFill>
                <a:schemeClr val="tx1"/>
              </a:solidFill>
            </a:endParaRPr>
          </a:p>
        </p:txBody>
      </p:sp>
      <p:sp>
        <p:nvSpPr>
          <p:cNvPr id="7" name="Speech Bubble: Rectangle with Corners Rounded 6">
            <a:extLst>
              <a:ext uri="{FF2B5EF4-FFF2-40B4-BE49-F238E27FC236}">
                <a16:creationId xmlns:a16="http://schemas.microsoft.com/office/drawing/2014/main" id="{BAFFADF3-CE29-FF0C-79B7-BAF597724437}"/>
              </a:ext>
            </a:extLst>
          </p:cNvPr>
          <p:cNvSpPr/>
          <p:nvPr/>
        </p:nvSpPr>
        <p:spPr>
          <a:xfrm>
            <a:off x="7385304" y="2020092"/>
            <a:ext cx="3016428" cy="1014984"/>
          </a:xfrm>
          <a:prstGeom prst="wedgeRoundRectCallout">
            <a:avLst>
              <a:gd name="adj1" fmla="val -1585"/>
              <a:gd name="adj2" fmla="val 150464"/>
              <a:gd name="adj3" fmla="val 1666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err="1">
                <a:solidFill>
                  <a:schemeClr val="tx1"/>
                </a:solidFill>
              </a:rPr>
              <a:t>AskDB</a:t>
            </a:r>
            <a:r>
              <a:rPr lang="en-US" sz="1400" dirty="0">
                <a:solidFill>
                  <a:schemeClr val="tx1"/>
                </a:solidFill>
              </a:rPr>
              <a:t> Link</a:t>
            </a:r>
            <a:endParaRPr lang="en-IN" sz="1400" dirty="0" err="1">
              <a:solidFill>
                <a:schemeClr val="tx1"/>
              </a:solidFill>
            </a:endParaRPr>
          </a:p>
        </p:txBody>
      </p:sp>
      <p:sp>
        <p:nvSpPr>
          <p:cNvPr id="9" name="TextBox 8">
            <a:extLst>
              <a:ext uri="{FF2B5EF4-FFF2-40B4-BE49-F238E27FC236}">
                <a16:creationId xmlns:a16="http://schemas.microsoft.com/office/drawing/2014/main" id="{5BBA0E9A-4218-EE60-C8C6-DB6200B6E930}"/>
              </a:ext>
            </a:extLst>
          </p:cNvPr>
          <p:cNvSpPr txBox="1"/>
          <p:nvPr/>
        </p:nvSpPr>
        <p:spPr>
          <a:xfrm>
            <a:off x="2063605" y="4190178"/>
            <a:ext cx="2237015" cy="309958"/>
          </a:xfrm>
          <a:prstGeom prst="rect">
            <a:avLst/>
          </a:prstGeom>
          <a:noFill/>
        </p:spPr>
        <p:txBody>
          <a:bodyPr vert="horz" wrap="square" lIns="90000" tIns="46800" rIns="90000" bIns="46800" rtlCol="0" anchor="ctr">
            <a:spAutoFit/>
          </a:bodyPr>
          <a:lstStyle/>
          <a:p>
            <a:pPr>
              <a:spcBef>
                <a:spcPct val="0"/>
              </a:spcBef>
            </a:pPr>
            <a:r>
              <a:rPr lang="en-US" sz="1400" dirty="0">
                <a:solidFill>
                  <a:schemeClr val="bg1"/>
                </a:solidFill>
                <a:hlinkClick r:id="rId2" action="ppaction://hlinkfile">
                  <a:extLst>
                    <a:ext uri="{A12FA001-AC4F-418D-AE19-62706E023703}">
                      <ahyp:hlinkClr xmlns:ahyp="http://schemas.microsoft.com/office/drawing/2018/hyperlinkcolor" val="tx"/>
                    </a:ext>
                  </a:extLst>
                </a:hlinkClick>
              </a:rPr>
              <a:t>C</a:t>
            </a:r>
            <a:r>
              <a:rPr lang="en-IN" sz="1400" dirty="0">
                <a:solidFill>
                  <a:schemeClr val="bg1"/>
                </a:solidFill>
                <a:hlinkClick r:id="rId2" action="ppaction://hlinkfile">
                  <a:extLst>
                    <a:ext uri="{A12FA001-AC4F-418D-AE19-62706E023703}">
                      <ahyp:hlinkClr xmlns:ahyp="http://schemas.microsoft.com/office/drawing/2018/hyperlinkcolor" val="tx"/>
                    </a:ext>
                  </a:extLst>
                </a:hlinkClick>
              </a:rPr>
              <a:t>lick here for Link</a:t>
            </a:r>
            <a:endParaRPr lang="en-IN" sz="1400" dirty="0">
              <a:solidFill>
                <a:schemeClr val="bg1"/>
              </a:solidFill>
            </a:endParaRPr>
          </a:p>
        </p:txBody>
      </p:sp>
      <p:sp>
        <p:nvSpPr>
          <p:cNvPr id="10" name="TextBox 9">
            <a:extLst>
              <a:ext uri="{FF2B5EF4-FFF2-40B4-BE49-F238E27FC236}">
                <a16:creationId xmlns:a16="http://schemas.microsoft.com/office/drawing/2014/main" id="{C1B4AD8D-5F55-1F32-B31C-3BB9D09B124F}"/>
              </a:ext>
            </a:extLst>
          </p:cNvPr>
          <p:cNvSpPr txBox="1"/>
          <p:nvPr/>
        </p:nvSpPr>
        <p:spPr>
          <a:xfrm>
            <a:off x="8035369" y="4190178"/>
            <a:ext cx="3602736" cy="309958"/>
          </a:xfrm>
          <a:prstGeom prst="rect">
            <a:avLst/>
          </a:prstGeom>
          <a:noFill/>
        </p:spPr>
        <p:txBody>
          <a:bodyPr vert="horz" wrap="square" lIns="90000" tIns="46800" rIns="90000" bIns="46800" rtlCol="0" anchor="ctr">
            <a:spAutoFit/>
          </a:bodyPr>
          <a:lstStyle/>
          <a:p>
            <a:pPr>
              <a:spcBef>
                <a:spcPct val="0"/>
              </a:spcBef>
            </a:pPr>
            <a:r>
              <a:rPr lang="en-US" sz="1400" dirty="0">
                <a:solidFill>
                  <a:schemeClr val="bg1"/>
                </a:solidFill>
                <a:hlinkClick r:id="rId3" action="ppaction://hlinkfile">
                  <a:extLst>
                    <a:ext uri="{A12FA001-AC4F-418D-AE19-62706E023703}">
                      <ahyp:hlinkClr xmlns:ahyp="http://schemas.microsoft.com/office/drawing/2018/hyperlinkcolor" val="tx"/>
                    </a:ext>
                  </a:extLst>
                </a:hlinkClick>
              </a:rPr>
              <a:t>Click here for Link</a:t>
            </a:r>
            <a:endParaRPr lang="en-IN" sz="1400" dirty="0">
              <a:solidFill>
                <a:schemeClr val="bg1"/>
              </a:solidFill>
            </a:endParaRPr>
          </a:p>
        </p:txBody>
      </p:sp>
      <p:cxnSp>
        <p:nvCxnSpPr>
          <p:cNvPr id="12" name="Straight Connector 11">
            <a:extLst>
              <a:ext uri="{FF2B5EF4-FFF2-40B4-BE49-F238E27FC236}">
                <a16:creationId xmlns:a16="http://schemas.microsoft.com/office/drawing/2014/main" id="{E2619D4F-29FE-55DA-46BF-E0CD1C88E5F4}"/>
              </a:ext>
            </a:extLst>
          </p:cNvPr>
          <p:cNvCxnSpPr/>
          <p:nvPr/>
        </p:nvCxnSpPr>
        <p:spPr>
          <a:xfrm>
            <a:off x="5751576" y="1243584"/>
            <a:ext cx="0" cy="3995928"/>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137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87288-6BA2-E8B3-5EC6-FFDE216C173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9103F0DA-0ABF-85D0-5C95-A59C13577AB8}"/>
              </a:ext>
            </a:extLst>
          </p:cNvPr>
          <p:cNvSpPr>
            <a:spLocks noGrp="1"/>
          </p:cNvSpPr>
          <p:nvPr>
            <p:ph type="dt" sz="half" idx="10"/>
          </p:nvPr>
        </p:nvSpPr>
        <p:spPr/>
        <p:txBody>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596F23BB-F36A-82C5-8B00-7E74B75D70F4}"/>
              </a:ext>
            </a:extLst>
          </p:cNvPr>
          <p:cNvSpPr>
            <a:spLocks noGrp="1"/>
          </p:cNvSpPr>
          <p:nvPr>
            <p:ph type="ftr" sz="quarter" idx="11"/>
          </p:nvPr>
        </p:nvSpPr>
        <p:spPr/>
        <p:txBody>
          <a:bodyPr/>
          <a:lstStyle/>
          <a:p>
            <a:pPr>
              <a:spcBef>
                <a:spcPts val="1000"/>
              </a:spcBef>
            </a:pPr>
            <a:r>
              <a:rPr lang="en-US"/>
              <a:t>AI Data Copilot - AskData</a:t>
            </a:r>
          </a:p>
        </p:txBody>
      </p:sp>
      <p:sp>
        <p:nvSpPr>
          <p:cNvPr id="5" name="Slide Number Placeholder 4">
            <a:extLst>
              <a:ext uri="{FF2B5EF4-FFF2-40B4-BE49-F238E27FC236}">
                <a16:creationId xmlns:a16="http://schemas.microsoft.com/office/drawing/2014/main" id="{AB2FD233-067F-5228-D342-A89176B33523}"/>
              </a:ext>
            </a:extLst>
          </p:cNvPr>
          <p:cNvSpPr>
            <a:spLocks noGrp="1"/>
          </p:cNvSpPr>
          <p:nvPr>
            <p:ph type="sldNum" sz="quarter" idx="12"/>
          </p:nvPr>
        </p:nvSpPr>
        <p:spPr/>
        <p:txBody>
          <a:bodyPr/>
          <a:lstStyle/>
          <a:p>
            <a:pPr algn="r"/>
            <a:fld id="{5D9A5160-6218-4E5A-B9E6-B93E3DAE377C}" type="slidenum">
              <a:rPr lang="en-US" smtClean="0"/>
              <a:pPr algn="r"/>
              <a:t>11</a:t>
            </a:fld>
            <a:endParaRPr lang="en-US"/>
          </a:p>
        </p:txBody>
      </p:sp>
      <p:sp>
        <p:nvSpPr>
          <p:cNvPr id="6" name="Title 3">
            <a:extLst>
              <a:ext uri="{FF2B5EF4-FFF2-40B4-BE49-F238E27FC236}">
                <a16:creationId xmlns:a16="http://schemas.microsoft.com/office/drawing/2014/main" id="{B31B6B1A-7385-6E5F-661A-C6D594C336CC}"/>
              </a:ext>
            </a:extLst>
          </p:cNvPr>
          <p:cNvSpPr txBox="1">
            <a:spLocks/>
          </p:cNvSpPr>
          <p:nvPr/>
        </p:nvSpPr>
        <p:spPr>
          <a:xfrm>
            <a:off x="550387" y="53958"/>
            <a:ext cx="11088050" cy="930372"/>
          </a:xfrm>
          <a:prstGeom prst="rect">
            <a:avLst/>
          </a:prstGeom>
        </p:spPr>
        <p:txBody>
          <a:bodyPr vert="horz" lIns="0" tIns="0" rIns="0" bIns="126000" rtlCol="0" anchor="b" anchorCtr="0">
            <a:no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r>
              <a:rPr lang="en-IN" sz="3200" b="1" dirty="0">
                <a:solidFill>
                  <a:srgbClr val="0070C0"/>
                </a:solidFill>
              </a:rPr>
              <a:t>Future Roadmap</a:t>
            </a:r>
          </a:p>
        </p:txBody>
      </p:sp>
      <p:sp>
        <p:nvSpPr>
          <p:cNvPr id="7" name="Trapezium 6">
            <a:extLst>
              <a:ext uri="{FF2B5EF4-FFF2-40B4-BE49-F238E27FC236}">
                <a16:creationId xmlns:a16="http://schemas.microsoft.com/office/drawing/2014/main" id="{4656C440-DC65-C5BA-03BF-F8D77D471468}"/>
              </a:ext>
            </a:extLst>
          </p:cNvPr>
          <p:cNvSpPr/>
          <p:nvPr/>
        </p:nvSpPr>
        <p:spPr>
          <a:xfrm>
            <a:off x="5159141" y="984330"/>
            <a:ext cx="1530418" cy="5873670"/>
          </a:xfrm>
          <a:prstGeom prst="trapezoid">
            <a:avLst>
              <a:gd name="adj" fmla="val 24371"/>
            </a:avLst>
          </a:prstGeom>
          <a:solidFill>
            <a:schemeClr val="bg1">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cxnSp>
        <p:nvCxnSpPr>
          <p:cNvPr id="8" name="Straight Connector 7">
            <a:extLst>
              <a:ext uri="{FF2B5EF4-FFF2-40B4-BE49-F238E27FC236}">
                <a16:creationId xmlns:a16="http://schemas.microsoft.com/office/drawing/2014/main" id="{402565B1-8504-92E7-D666-F66FC9254A11}"/>
              </a:ext>
            </a:extLst>
          </p:cNvPr>
          <p:cNvCxnSpPr>
            <a:cxnSpLocks/>
            <a:stCxn id="7" idx="0"/>
            <a:endCxn id="7" idx="2"/>
          </p:cNvCxnSpPr>
          <p:nvPr/>
        </p:nvCxnSpPr>
        <p:spPr>
          <a:xfrm>
            <a:off x="5924350" y="984330"/>
            <a:ext cx="0" cy="5873670"/>
          </a:xfrm>
          <a:prstGeom prst="line">
            <a:avLst/>
          </a:prstGeom>
          <a:ln w="539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5FAFE9-A721-A7FA-D5C7-49D7BC3D19CB}"/>
              </a:ext>
            </a:extLst>
          </p:cNvPr>
          <p:cNvCxnSpPr>
            <a:cxnSpLocks/>
          </p:cNvCxnSpPr>
          <p:nvPr/>
        </p:nvCxnSpPr>
        <p:spPr>
          <a:xfrm flipH="1">
            <a:off x="5082140" y="984330"/>
            <a:ext cx="375384" cy="5873670"/>
          </a:xfrm>
          <a:prstGeom prst="line">
            <a:avLst/>
          </a:prstGeom>
          <a:ln w="1905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E177EDD-2960-F000-6159-121678803B66}"/>
              </a:ext>
            </a:extLst>
          </p:cNvPr>
          <p:cNvCxnSpPr>
            <a:cxnSpLocks/>
          </p:cNvCxnSpPr>
          <p:nvPr/>
        </p:nvCxnSpPr>
        <p:spPr>
          <a:xfrm>
            <a:off x="6391176" y="984330"/>
            <a:ext cx="375384" cy="5873670"/>
          </a:xfrm>
          <a:prstGeom prst="line">
            <a:avLst/>
          </a:prstGeom>
          <a:ln w="19050">
            <a:solidFill>
              <a:schemeClr val="bg1"/>
            </a:solidFill>
            <a:prstDash val="solid"/>
          </a:ln>
        </p:spPr>
        <p:style>
          <a:lnRef idx="1">
            <a:schemeClr val="accent1"/>
          </a:lnRef>
          <a:fillRef idx="0">
            <a:schemeClr val="accent1"/>
          </a:fillRef>
          <a:effectRef idx="0">
            <a:schemeClr val="accent1"/>
          </a:effectRef>
          <a:fontRef idx="minor">
            <a:schemeClr val="tx1"/>
          </a:fontRef>
        </p:style>
      </p:cxnSp>
      <p:pic>
        <p:nvPicPr>
          <p:cNvPr id="11" name="Picture 10" descr="Transparent Gold Cup Trophy PNG Picture Clipart​ | Gallery Yopriceville - High-Quality Free Images and Transparent PNG Clipart">
            <a:extLst>
              <a:ext uri="{FF2B5EF4-FFF2-40B4-BE49-F238E27FC236}">
                <a16:creationId xmlns:a16="http://schemas.microsoft.com/office/drawing/2014/main" id="{35DC4ED2-4713-5933-639B-6A29FBA713E4}"/>
              </a:ext>
            </a:extLst>
          </p:cNvPr>
          <p:cNvPicPr>
            <a:picLocks noChangeAspect="1"/>
          </p:cNvPicPr>
          <p:nvPr/>
        </p:nvPicPr>
        <p:blipFill>
          <a:blip r:embed="rId2"/>
          <a:stretch/>
        </p:blipFill>
        <p:spPr>
          <a:xfrm>
            <a:off x="5616125" y="185464"/>
            <a:ext cx="616448" cy="798866"/>
          </a:xfrm>
          <a:prstGeom prst="rect">
            <a:avLst/>
          </a:prstGeom>
        </p:spPr>
      </p:pic>
      <p:grpSp>
        <p:nvGrpSpPr>
          <p:cNvPr id="12" name="Group 11">
            <a:extLst>
              <a:ext uri="{FF2B5EF4-FFF2-40B4-BE49-F238E27FC236}">
                <a16:creationId xmlns:a16="http://schemas.microsoft.com/office/drawing/2014/main" id="{D626DC11-B830-FA0A-58B4-6B78FA4B65B6}"/>
              </a:ext>
            </a:extLst>
          </p:cNvPr>
          <p:cNvGrpSpPr/>
          <p:nvPr/>
        </p:nvGrpSpPr>
        <p:grpSpPr>
          <a:xfrm>
            <a:off x="2560163" y="5241806"/>
            <a:ext cx="2144595" cy="792000"/>
            <a:chOff x="2470719" y="5332398"/>
            <a:chExt cx="2144595" cy="792000"/>
          </a:xfrm>
          <a:solidFill>
            <a:srgbClr val="045E81"/>
          </a:solidFill>
        </p:grpSpPr>
        <p:sp>
          <p:nvSpPr>
            <p:cNvPr id="13" name="Teardrop 12">
              <a:extLst>
                <a:ext uri="{FF2B5EF4-FFF2-40B4-BE49-F238E27FC236}">
                  <a16:creationId xmlns:a16="http://schemas.microsoft.com/office/drawing/2014/main" id="{E4897FF8-C0F5-0213-7D02-99A8DB9F6A87}"/>
                </a:ext>
              </a:extLst>
            </p:cNvPr>
            <p:cNvSpPr/>
            <p:nvPr/>
          </p:nvSpPr>
          <p:spPr>
            <a:xfrm rot="5400000">
              <a:off x="3762114" y="5271198"/>
              <a:ext cx="792000" cy="914400"/>
            </a:xfrm>
            <a:prstGeom prst="teardrop">
              <a:avLst>
                <a:gd name="adj" fmla="val 200000"/>
              </a:avLst>
            </a:prstGeom>
            <a:solidFill>
              <a:srgbClr val="07394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4" name="Rounded Rectangle 13">
              <a:extLst>
                <a:ext uri="{FF2B5EF4-FFF2-40B4-BE49-F238E27FC236}">
                  <a16:creationId xmlns:a16="http://schemas.microsoft.com/office/drawing/2014/main" id="{561F934A-D09D-F7F6-0D90-B30754165AA0}"/>
                </a:ext>
              </a:extLst>
            </p:cNvPr>
            <p:cNvSpPr/>
            <p:nvPr/>
          </p:nvSpPr>
          <p:spPr>
            <a:xfrm>
              <a:off x="2470719" y="5332398"/>
              <a:ext cx="2136808" cy="792000"/>
            </a:xfrm>
            <a:prstGeom prst="roundRect">
              <a:avLst>
                <a:gd name="adj" fmla="val 50000"/>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n-US" sz="1400" dirty="0">
                  <a:solidFill>
                    <a:schemeClr val="bg1"/>
                  </a:solidFill>
                </a:rPr>
                <a:t>Vector Based Schema retrieval</a:t>
              </a:r>
            </a:p>
          </p:txBody>
        </p:sp>
      </p:grpSp>
      <p:grpSp>
        <p:nvGrpSpPr>
          <p:cNvPr id="15" name="Group 14">
            <a:extLst>
              <a:ext uri="{FF2B5EF4-FFF2-40B4-BE49-F238E27FC236}">
                <a16:creationId xmlns:a16="http://schemas.microsoft.com/office/drawing/2014/main" id="{8F904054-824A-BCC4-44BD-48BDD089FC5D}"/>
              </a:ext>
            </a:extLst>
          </p:cNvPr>
          <p:cNvGrpSpPr/>
          <p:nvPr/>
        </p:nvGrpSpPr>
        <p:grpSpPr>
          <a:xfrm>
            <a:off x="2651507" y="3613469"/>
            <a:ext cx="2144595" cy="792000"/>
            <a:chOff x="2470719" y="5332398"/>
            <a:chExt cx="2144595" cy="792000"/>
          </a:xfrm>
        </p:grpSpPr>
        <p:sp>
          <p:nvSpPr>
            <p:cNvPr id="16" name="Teardrop 15">
              <a:extLst>
                <a:ext uri="{FF2B5EF4-FFF2-40B4-BE49-F238E27FC236}">
                  <a16:creationId xmlns:a16="http://schemas.microsoft.com/office/drawing/2014/main" id="{8A29F9A6-DB80-E20F-D995-B5993DFDD4D6}"/>
                </a:ext>
              </a:extLst>
            </p:cNvPr>
            <p:cNvSpPr/>
            <p:nvPr/>
          </p:nvSpPr>
          <p:spPr>
            <a:xfrm rot="5400000">
              <a:off x="3762114" y="5271198"/>
              <a:ext cx="792000" cy="914400"/>
            </a:xfrm>
            <a:prstGeom prst="teardrop">
              <a:avLst>
                <a:gd name="adj" fmla="val 200000"/>
              </a:avLst>
            </a:prstGeom>
            <a:solidFill>
              <a:schemeClr val="accent3">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7" name="Rounded Rectangle 16">
              <a:extLst>
                <a:ext uri="{FF2B5EF4-FFF2-40B4-BE49-F238E27FC236}">
                  <a16:creationId xmlns:a16="http://schemas.microsoft.com/office/drawing/2014/main" id="{2124E1C3-DD82-31F7-DB05-FAA7FAA556E2}"/>
                </a:ext>
              </a:extLst>
            </p:cNvPr>
            <p:cNvSpPr/>
            <p:nvPr/>
          </p:nvSpPr>
          <p:spPr>
            <a:xfrm>
              <a:off x="2470719" y="5332398"/>
              <a:ext cx="2136808" cy="792000"/>
            </a:xfrm>
            <a:prstGeom prst="roundRect">
              <a:avLst>
                <a:gd name="adj" fmla="val 50000"/>
              </a:avLst>
            </a:prstGeom>
            <a:solidFill>
              <a:srgbClr val="00727C"/>
            </a:solidFill>
            <a:ln w="9525">
              <a:solidFill>
                <a:srgbClr val="00404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Connectors (DB &amp; Other GPT)</a:t>
              </a:r>
            </a:p>
          </p:txBody>
        </p:sp>
      </p:grpSp>
      <p:grpSp>
        <p:nvGrpSpPr>
          <p:cNvPr id="18" name="Group 17">
            <a:extLst>
              <a:ext uri="{FF2B5EF4-FFF2-40B4-BE49-F238E27FC236}">
                <a16:creationId xmlns:a16="http://schemas.microsoft.com/office/drawing/2014/main" id="{665A3546-1581-8DE4-DDEF-8E568046246E}"/>
              </a:ext>
            </a:extLst>
          </p:cNvPr>
          <p:cNvGrpSpPr/>
          <p:nvPr/>
        </p:nvGrpSpPr>
        <p:grpSpPr>
          <a:xfrm>
            <a:off x="2732403" y="2078034"/>
            <a:ext cx="2144595" cy="792000"/>
            <a:chOff x="2470719" y="5332398"/>
            <a:chExt cx="2144595" cy="792000"/>
          </a:xfrm>
        </p:grpSpPr>
        <p:sp>
          <p:nvSpPr>
            <p:cNvPr id="19" name="Teardrop 18">
              <a:extLst>
                <a:ext uri="{FF2B5EF4-FFF2-40B4-BE49-F238E27FC236}">
                  <a16:creationId xmlns:a16="http://schemas.microsoft.com/office/drawing/2014/main" id="{B5921750-922F-97EE-B675-ED709C158639}"/>
                </a:ext>
              </a:extLst>
            </p:cNvPr>
            <p:cNvSpPr/>
            <p:nvPr/>
          </p:nvSpPr>
          <p:spPr>
            <a:xfrm rot="5400000">
              <a:off x="3762114" y="5271198"/>
              <a:ext cx="792000" cy="914400"/>
            </a:xfrm>
            <a:prstGeom prst="teardrop">
              <a:avLst>
                <a:gd name="adj" fmla="val 200000"/>
              </a:avLst>
            </a:prstGeom>
            <a:solidFill>
              <a:srgbClr val="13618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0" name="Rounded Rectangle 19">
              <a:extLst>
                <a:ext uri="{FF2B5EF4-FFF2-40B4-BE49-F238E27FC236}">
                  <a16:creationId xmlns:a16="http://schemas.microsoft.com/office/drawing/2014/main" id="{B8C98D18-DF48-B36B-EBE0-FDF8330B270A}"/>
                </a:ext>
              </a:extLst>
            </p:cNvPr>
            <p:cNvSpPr/>
            <p:nvPr/>
          </p:nvSpPr>
          <p:spPr>
            <a:xfrm>
              <a:off x="2470719" y="5332398"/>
              <a:ext cx="2136808" cy="792000"/>
            </a:xfrm>
            <a:prstGeom prst="roundRect">
              <a:avLst>
                <a:gd name="adj" fmla="val 50000"/>
              </a:avLst>
            </a:prstGeom>
            <a:solidFill>
              <a:srgbClr val="1DB6F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Auto Anomaly Detection</a:t>
              </a:r>
            </a:p>
          </p:txBody>
        </p:sp>
      </p:grpSp>
      <p:grpSp>
        <p:nvGrpSpPr>
          <p:cNvPr id="21" name="Group 20">
            <a:extLst>
              <a:ext uri="{FF2B5EF4-FFF2-40B4-BE49-F238E27FC236}">
                <a16:creationId xmlns:a16="http://schemas.microsoft.com/office/drawing/2014/main" id="{98E195A4-8D61-9DB7-A6E8-8F40D1667AC6}"/>
              </a:ext>
            </a:extLst>
          </p:cNvPr>
          <p:cNvGrpSpPr/>
          <p:nvPr/>
        </p:nvGrpSpPr>
        <p:grpSpPr>
          <a:xfrm>
            <a:off x="6861418" y="2732123"/>
            <a:ext cx="2136808" cy="805075"/>
            <a:chOff x="8798764" y="2558066"/>
            <a:chExt cx="2136808" cy="805075"/>
          </a:xfrm>
        </p:grpSpPr>
        <p:sp>
          <p:nvSpPr>
            <p:cNvPr id="22" name="Teardrop 21">
              <a:extLst>
                <a:ext uri="{FF2B5EF4-FFF2-40B4-BE49-F238E27FC236}">
                  <a16:creationId xmlns:a16="http://schemas.microsoft.com/office/drawing/2014/main" id="{CA71FD18-E4DF-1A92-1C40-AA08ABBEA5D0}"/>
                </a:ext>
              </a:extLst>
            </p:cNvPr>
            <p:cNvSpPr/>
            <p:nvPr/>
          </p:nvSpPr>
          <p:spPr>
            <a:xfrm rot="10800000">
              <a:off x="8819625" y="2571141"/>
              <a:ext cx="792000" cy="792000"/>
            </a:xfrm>
            <a:prstGeom prst="teardrop">
              <a:avLst>
                <a:gd name="adj" fmla="val 200000"/>
              </a:avLst>
            </a:prstGeom>
            <a:solidFill>
              <a:srgbClr val="114F2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3" name="Rounded Rectangle 22">
              <a:extLst>
                <a:ext uri="{FF2B5EF4-FFF2-40B4-BE49-F238E27FC236}">
                  <a16:creationId xmlns:a16="http://schemas.microsoft.com/office/drawing/2014/main" id="{CFC508FB-0530-2A7B-24D0-9D9A3AD242E2}"/>
                </a:ext>
              </a:extLst>
            </p:cNvPr>
            <p:cNvSpPr/>
            <p:nvPr/>
          </p:nvSpPr>
          <p:spPr>
            <a:xfrm>
              <a:off x="8798764" y="2558066"/>
              <a:ext cx="2136808" cy="792000"/>
            </a:xfrm>
            <a:prstGeom prst="roundRect">
              <a:avLst>
                <a:gd name="adj" fmla="val 50000"/>
              </a:avLst>
            </a:prstGeom>
            <a:solidFill>
              <a:srgbClr val="177B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Query Optimization Layer/Agents</a:t>
              </a:r>
            </a:p>
          </p:txBody>
        </p:sp>
      </p:grpSp>
      <p:grpSp>
        <p:nvGrpSpPr>
          <p:cNvPr id="24" name="Group 23">
            <a:extLst>
              <a:ext uri="{FF2B5EF4-FFF2-40B4-BE49-F238E27FC236}">
                <a16:creationId xmlns:a16="http://schemas.microsoft.com/office/drawing/2014/main" id="{C13C49D8-1F1A-40AB-185F-FBAE105BFAFD}"/>
              </a:ext>
            </a:extLst>
          </p:cNvPr>
          <p:cNvGrpSpPr/>
          <p:nvPr/>
        </p:nvGrpSpPr>
        <p:grpSpPr>
          <a:xfrm>
            <a:off x="6780911" y="1205759"/>
            <a:ext cx="2136808" cy="805075"/>
            <a:chOff x="8798764" y="2558066"/>
            <a:chExt cx="2136808" cy="805075"/>
          </a:xfrm>
        </p:grpSpPr>
        <p:sp>
          <p:nvSpPr>
            <p:cNvPr id="25" name="Teardrop 24">
              <a:extLst>
                <a:ext uri="{FF2B5EF4-FFF2-40B4-BE49-F238E27FC236}">
                  <a16:creationId xmlns:a16="http://schemas.microsoft.com/office/drawing/2014/main" id="{AA4F44BA-84D3-18C2-568A-430F5E93073F}"/>
                </a:ext>
              </a:extLst>
            </p:cNvPr>
            <p:cNvSpPr/>
            <p:nvPr/>
          </p:nvSpPr>
          <p:spPr>
            <a:xfrm rot="10800000">
              <a:off x="8819625" y="2571141"/>
              <a:ext cx="792000" cy="792000"/>
            </a:xfrm>
            <a:prstGeom prst="teardrop">
              <a:avLst>
                <a:gd name="adj" fmla="val 200000"/>
              </a:avLst>
            </a:prstGeom>
            <a:solidFill>
              <a:schemeClr val="accent3">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6" name="Rounded Rectangle 25">
              <a:extLst>
                <a:ext uri="{FF2B5EF4-FFF2-40B4-BE49-F238E27FC236}">
                  <a16:creationId xmlns:a16="http://schemas.microsoft.com/office/drawing/2014/main" id="{5F59F486-5DDE-FFFB-D9E4-0DC95FBFF6CB}"/>
                </a:ext>
              </a:extLst>
            </p:cNvPr>
            <p:cNvSpPr/>
            <p:nvPr/>
          </p:nvSpPr>
          <p:spPr>
            <a:xfrm>
              <a:off x="8798764" y="2558066"/>
              <a:ext cx="2136808" cy="792000"/>
            </a:xfrm>
            <a:prstGeom prst="roundRect">
              <a:avLst>
                <a:gd name="adj" fmla="val 50000"/>
              </a:avLst>
            </a:prstGeom>
            <a:solidFill>
              <a:srgbClr val="00727C"/>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Cloud Integrations</a:t>
              </a:r>
            </a:p>
          </p:txBody>
        </p:sp>
      </p:grpSp>
      <p:sp>
        <p:nvSpPr>
          <p:cNvPr id="27" name="TextBox 26">
            <a:extLst>
              <a:ext uri="{FF2B5EF4-FFF2-40B4-BE49-F238E27FC236}">
                <a16:creationId xmlns:a16="http://schemas.microsoft.com/office/drawing/2014/main" id="{12E66E4F-E962-6A7A-BFC1-1C7DA87FA77B}"/>
              </a:ext>
            </a:extLst>
          </p:cNvPr>
          <p:cNvSpPr txBox="1"/>
          <p:nvPr/>
        </p:nvSpPr>
        <p:spPr>
          <a:xfrm>
            <a:off x="2643720" y="4401623"/>
            <a:ext cx="2144595" cy="771623"/>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Connectors for other external databases like SQL, Oracle </a:t>
            </a:r>
            <a:r>
              <a:rPr lang="en-US" sz="1100" dirty="0" err="1">
                <a:solidFill>
                  <a:schemeClr val="bg1"/>
                </a:solidFill>
              </a:rPr>
              <a:t>etc</a:t>
            </a:r>
            <a:endParaRPr lang="en-US" sz="1100" dirty="0">
              <a:solidFill>
                <a:schemeClr val="bg1"/>
              </a:solidFill>
            </a:endParaRPr>
          </a:p>
          <a:p>
            <a:pPr>
              <a:spcBef>
                <a:spcPct val="0"/>
              </a:spcBef>
            </a:pPr>
            <a:r>
              <a:rPr lang="en-US" sz="1100" dirty="0">
                <a:solidFill>
                  <a:schemeClr val="bg1"/>
                </a:solidFill>
              </a:rPr>
              <a:t>Options to use other GPT clients like Claude, copilot </a:t>
            </a:r>
            <a:r>
              <a:rPr lang="en-US" sz="1100" dirty="0" err="1">
                <a:solidFill>
                  <a:schemeClr val="bg1"/>
                </a:solidFill>
              </a:rPr>
              <a:t>etc</a:t>
            </a:r>
            <a:endParaRPr lang="en-US" sz="1100" dirty="0">
              <a:solidFill>
                <a:schemeClr val="bg1"/>
              </a:solidFill>
            </a:endParaRPr>
          </a:p>
        </p:txBody>
      </p:sp>
      <p:sp>
        <p:nvSpPr>
          <p:cNvPr id="28" name="TextBox 27">
            <a:extLst>
              <a:ext uri="{FF2B5EF4-FFF2-40B4-BE49-F238E27FC236}">
                <a16:creationId xmlns:a16="http://schemas.microsoft.com/office/drawing/2014/main" id="{925C750D-7E3F-F53C-BEB7-2991DD267ED0}"/>
              </a:ext>
            </a:extLst>
          </p:cNvPr>
          <p:cNvSpPr txBox="1"/>
          <p:nvPr/>
        </p:nvSpPr>
        <p:spPr>
          <a:xfrm>
            <a:off x="2723807" y="2862428"/>
            <a:ext cx="2144595" cy="602345"/>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Post ingestion, automatically define the quality of the input data</a:t>
            </a:r>
          </a:p>
        </p:txBody>
      </p:sp>
      <p:sp>
        <p:nvSpPr>
          <p:cNvPr id="29" name="TextBox 28">
            <a:extLst>
              <a:ext uri="{FF2B5EF4-FFF2-40B4-BE49-F238E27FC236}">
                <a16:creationId xmlns:a16="http://schemas.microsoft.com/office/drawing/2014/main" id="{C131057A-0D84-5C07-F9D5-C74133FD5971}"/>
              </a:ext>
            </a:extLst>
          </p:cNvPr>
          <p:cNvSpPr txBox="1"/>
          <p:nvPr/>
        </p:nvSpPr>
        <p:spPr>
          <a:xfrm>
            <a:off x="6861418" y="2044230"/>
            <a:ext cx="2144595" cy="433068"/>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Deployment compatibility for AWS, Azure &amp; GCP</a:t>
            </a:r>
          </a:p>
        </p:txBody>
      </p:sp>
      <p:sp>
        <p:nvSpPr>
          <p:cNvPr id="30" name="TextBox 29">
            <a:extLst>
              <a:ext uri="{FF2B5EF4-FFF2-40B4-BE49-F238E27FC236}">
                <a16:creationId xmlns:a16="http://schemas.microsoft.com/office/drawing/2014/main" id="{85E08FB6-9577-D7AD-B6F0-000DDFEB8776}"/>
              </a:ext>
            </a:extLst>
          </p:cNvPr>
          <p:cNvSpPr txBox="1"/>
          <p:nvPr/>
        </p:nvSpPr>
        <p:spPr>
          <a:xfrm>
            <a:off x="6882278" y="3619696"/>
            <a:ext cx="2144595" cy="433068"/>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Cost estimation, Materialized view for recurring queries</a:t>
            </a:r>
          </a:p>
        </p:txBody>
      </p:sp>
      <p:sp>
        <p:nvSpPr>
          <p:cNvPr id="31" name="TextBox 30">
            <a:extLst>
              <a:ext uri="{FF2B5EF4-FFF2-40B4-BE49-F238E27FC236}">
                <a16:creationId xmlns:a16="http://schemas.microsoft.com/office/drawing/2014/main" id="{A43C318F-520C-31A5-7C72-FFB0CCEFF4E1}"/>
              </a:ext>
            </a:extLst>
          </p:cNvPr>
          <p:cNvSpPr txBox="1"/>
          <p:nvPr/>
        </p:nvSpPr>
        <p:spPr>
          <a:xfrm>
            <a:off x="2560163" y="6146106"/>
            <a:ext cx="2144595" cy="433068"/>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Send only limited schema based on the user questions</a:t>
            </a:r>
          </a:p>
        </p:txBody>
      </p:sp>
      <p:grpSp>
        <p:nvGrpSpPr>
          <p:cNvPr id="32" name="Group 31">
            <a:extLst>
              <a:ext uri="{FF2B5EF4-FFF2-40B4-BE49-F238E27FC236}">
                <a16:creationId xmlns:a16="http://schemas.microsoft.com/office/drawing/2014/main" id="{F74B882D-9140-20B5-2233-E1F01E2778E7}"/>
              </a:ext>
            </a:extLst>
          </p:cNvPr>
          <p:cNvGrpSpPr/>
          <p:nvPr/>
        </p:nvGrpSpPr>
        <p:grpSpPr>
          <a:xfrm>
            <a:off x="7026613" y="4225091"/>
            <a:ext cx="2136808" cy="805075"/>
            <a:chOff x="8798764" y="2558066"/>
            <a:chExt cx="2136808" cy="805075"/>
          </a:xfrm>
          <a:solidFill>
            <a:srgbClr val="87D5ED"/>
          </a:solidFill>
        </p:grpSpPr>
        <p:sp>
          <p:nvSpPr>
            <p:cNvPr id="33" name="Teardrop 32">
              <a:extLst>
                <a:ext uri="{FF2B5EF4-FFF2-40B4-BE49-F238E27FC236}">
                  <a16:creationId xmlns:a16="http://schemas.microsoft.com/office/drawing/2014/main" id="{49A44C04-6B8D-D0B6-EE52-A2456DD101B4}"/>
                </a:ext>
              </a:extLst>
            </p:cNvPr>
            <p:cNvSpPr/>
            <p:nvPr/>
          </p:nvSpPr>
          <p:spPr>
            <a:xfrm rot="10800000">
              <a:off x="8819625" y="2571141"/>
              <a:ext cx="792000" cy="792000"/>
            </a:xfrm>
            <a:prstGeom prst="teardrop">
              <a:avLst>
                <a:gd name="adj" fmla="val 200000"/>
              </a:avLst>
            </a:prstGeom>
            <a:solidFill>
              <a:srgbClr val="05548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34" name="Rounded Rectangle 33">
              <a:extLst>
                <a:ext uri="{FF2B5EF4-FFF2-40B4-BE49-F238E27FC236}">
                  <a16:creationId xmlns:a16="http://schemas.microsoft.com/office/drawing/2014/main" id="{39CF0555-9B8F-A11A-7EFE-92189F46A6B3}"/>
                </a:ext>
              </a:extLst>
            </p:cNvPr>
            <p:cNvSpPr/>
            <p:nvPr/>
          </p:nvSpPr>
          <p:spPr>
            <a:xfrm>
              <a:off x="8798764" y="2558066"/>
              <a:ext cx="2136808" cy="792000"/>
            </a:xfrm>
            <a:prstGeom prst="roundRect">
              <a:avLst>
                <a:gd name="adj" fmla="val 50000"/>
              </a:avLst>
            </a:prstGeom>
            <a:solidFill>
              <a:srgbClr val="03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Multiple AI Agents</a:t>
              </a:r>
            </a:p>
          </p:txBody>
        </p:sp>
      </p:grpSp>
      <p:sp>
        <p:nvSpPr>
          <p:cNvPr id="35" name="TextBox 34">
            <a:extLst>
              <a:ext uri="{FF2B5EF4-FFF2-40B4-BE49-F238E27FC236}">
                <a16:creationId xmlns:a16="http://schemas.microsoft.com/office/drawing/2014/main" id="{0A813F9E-C378-40F3-328A-DAA6B51C4AB5}"/>
              </a:ext>
            </a:extLst>
          </p:cNvPr>
          <p:cNvSpPr txBox="1"/>
          <p:nvPr/>
        </p:nvSpPr>
        <p:spPr>
          <a:xfrm>
            <a:off x="7047473" y="5112664"/>
            <a:ext cx="2144595" cy="433068"/>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Different agents for planner, SQL, Analysis, Visualization</a:t>
            </a:r>
          </a:p>
        </p:txBody>
      </p:sp>
    </p:spTree>
    <p:extLst>
      <p:ext uri="{BB962C8B-B14F-4D97-AF65-F5344CB8AC3E}">
        <p14:creationId xmlns:p14="http://schemas.microsoft.com/office/powerpoint/2010/main" val="2941123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ABE68-8947-9D2A-9E64-C829424742ED}"/>
            </a:ext>
          </a:extLst>
        </p:cNvPr>
        <p:cNvGrpSpPr/>
        <p:nvPr/>
      </p:nvGrpSpPr>
      <p:grpSpPr>
        <a:xfrm>
          <a:off x="0" y="0"/>
          <a:ext cx="0" cy="0"/>
          <a:chOff x="0" y="0"/>
          <a:chExt cx="0" cy="0"/>
        </a:xfrm>
      </p:grpSpPr>
      <p:pic>
        <p:nvPicPr>
          <p:cNvPr id="7" name="Picture 6" descr="Person raising hand">
            <a:extLst>
              <a:ext uri="{FF2B5EF4-FFF2-40B4-BE49-F238E27FC236}">
                <a16:creationId xmlns:a16="http://schemas.microsoft.com/office/drawing/2014/main" id="{ED033315-F4AF-233A-AE6E-51E6BC3F535F}"/>
              </a:ext>
            </a:extLst>
          </p:cNvPr>
          <p:cNvPicPr>
            <a:picLocks noChangeAspect="1"/>
          </p:cNvPicPr>
          <p:nvPr/>
        </p:nvPicPr>
        <p:blipFill>
          <a:blip r:embed="rId2"/>
          <a:srcRect t="944" b="14765"/>
          <a:stretch>
            <a:fillRect/>
          </a:stretch>
        </p:blipFill>
        <p:spPr>
          <a:xfrm>
            <a:off x="-1" y="10"/>
            <a:ext cx="12188826" cy="6857990"/>
          </a:xfrm>
          <a:prstGeom prst="rect">
            <a:avLst/>
          </a:prstGeom>
          <a:noFill/>
        </p:spPr>
      </p:pic>
      <p:sp>
        <p:nvSpPr>
          <p:cNvPr id="6" name="Title 3">
            <a:extLst>
              <a:ext uri="{FF2B5EF4-FFF2-40B4-BE49-F238E27FC236}">
                <a16:creationId xmlns:a16="http://schemas.microsoft.com/office/drawing/2014/main" id="{10B52A9D-01F6-B7A4-77FF-E579EC453303}"/>
              </a:ext>
            </a:extLst>
          </p:cNvPr>
          <p:cNvSpPr txBox="1">
            <a:spLocks/>
          </p:cNvSpPr>
          <p:nvPr/>
        </p:nvSpPr>
        <p:spPr>
          <a:xfrm>
            <a:off x="7448231" y="2154596"/>
            <a:ext cx="4169243" cy="2737444"/>
          </a:xfrm>
          <a:prstGeom prst="rect">
            <a:avLst/>
          </a:prstGeom>
        </p:spPr>
        <p:txBody>
          <a:bodyPr vert="horz" lIns="0" tIns="0" rIns="0" bIns="126000" rtlCol="0" anchor="b" anchorCtr="0">
            <a:normAutofit/>
          </a:bodyPr>
          <a:lstStyle>
            <a:lvl1pPr marL="0" marR="0" indent="0" algn="l" defTabSz="914126" rtl="0" eaLnBrk="1" fontAlgn="auto" latinLnBrk="0" hangingPunct="1">
              <a:lnSpc>
                <a:spcPct val="90000"/>
              </a:lnSpc>
              <a:spcBef>
                <a:spcPct val="0"/>
              </a:spcBef>
              <a:spcAft>
                <a:spcPts val="0"/>
              </a:spcAft>
              <a:buClrTx/>
              <a:buSzTx/>
              <a:buFontTx/>
              <a:buNone/>
              <a:tabLst/>
              <a:defRPr kumimoji="0" lang="de-DE" sz="3199" b="0" i="0" u="none" strike="noStrike" kern="1200" cap="none" spc="0" normalizeH="0" baseline="0" noProof="0" dirty="0">
                <a:ln>
                  <a:noFill/>
                </a:ln>
                <a:solidFill>
                  <a:schemeClr val="tx1"/>
                </a:solidFill>
                <a:effectLst/>
                <a:uLnTx/>
                <a:uFillTx/>
                <a:latin typeface="+mj-lt"/>
                <a:ea typeface="+mj-ea"/>
                <a:cs typeface="+mj-cs"/>
              </a:defRPr>
            </a:lvl1pPr>
          </a:lstStyle>
          <a:p>
            <a:pPr algn="r">
              <a:spcAft>
                <a:spcPts val="600"/>
              </a:spcAft>
            </a:pPr>
            <a:r>
              <a:rPr kumimoji="0" lang="en-US" sz="4799" b="0" i="0" u="none" strike="noStrike" kern="1200" cap="none" spc="0" normalizeH="0" baseline="0" noProof="0" dirty="0">
                <a:ln>
                  <a:noFill/>
                </a:ln>
                <a:solidFill>
                  <a:schemeClr val="accent1"/>
                </a:solidFill>
                <a:effectLst/>
                <a:uLnTx/>
                <a:uFillTx/>
                <a:latin typeface="+mj-lt"/>
                <a:ea typeface="+mj-ea"/>
                <a:cs typeface="+mj-cs"/>
              </a:rPr>
              <a:t>Questions?</a:t>
            </a:r>
          </a:p>
        </p:txBody>
      </p:sp>
      <p:sp>
        <p:nvSpPr>
          <p:cNvPr id="3" name="Date Placeholder 2">
            <a:extLst>
              <a:ext uri="{FF2B5EF4-FFF2-40B4-BE49-F238E27FC236}">
                <a16:creationId xmlns:a16="http://schemas.microsoft.com/office/drawing/2014/main" id="{A547E48F-FD1A-681A-2A05-173656BD1475}"/>
              </a:ext>
            </a:extLst>
          </p:cNvPr>
          <p:cNvSpPr>
            <a:spLocks noGrp="1"/>
          </p:cNvSpPr>
          <p:nvPr>
            <p:ph type="dt" sz="half" idx="14"/>
          </p:nvPr>
        </p:nvSpPr>
        <p:spPr>
          <a:xfrm>
            <a:off x="9807372" y="6650662"/>
            <a:ext cx="1830733" cy="123111"/>
          </a:xfrm>
        </p:spPr>
        <p:txBody>
          <a:bodyPr wrap="none" lIns="0" tIns="0" rIns="0" bIns="0" anchor="ctr" anchorCtr="0">
            <a:normAutofit/>
          </a:bodyPr>
          <a:lstStyle/>
          <a:p>
            <a:pPr>
              <a:spcBef>
                <a:spcPts val="1000"/>
              </a:spcBef>
            </a:pPr>
            <a:r>
              <a:rPr lang="en-IN"/>
              <a:t>Company Confidential © Capgemini 2026. All rights reserved.</a:t>
            </a:r>
            <a:endParaRPr lang="en-US"/>
          </a:p>
        </p:txBody>
      </p:sp>
      <p:sp>
        <p:nvSpPr>
          <p:cNvPr id="4" name="Footer Placeholder 3">
            <a:extLst>
              <a:ext uri="{FF2B5EF4-FFF2-40B4-BE49-F238E27FC236}">
                <a16:creationId xmlns:a16="http://schemas.microsoft.com/office/drawing/2014/main" id="{830A8086-0F73-E554-EF82-65D996C9BB60}"/>
              </a:ext>
            </a:extLst>
          </p:cNvPr>
          <p:cNvSpPr>
            <a:spLocks noGrp="1"/>
          </p:cNvSpPr>
          <p:nvPr>
            <p:ph type="ftr" sz="quarter" idx="15"/>
          </p:nvPr>
        </p:nvSpPr>
        <p:spPr>
          <a:xfrm>
            <a:off x="550719" y="6650662"/>
            <a:ext cx="4715296" cy="123111"/>
          </a:xfrm>
        </p:spPr>
        <p:txBody>
          <a:bodyPr wrap="none" lIns="0" tIns="0" rIns="0" bIns="0" anchor="ctr" anchorCtr="0">
            <a:normAutofit/>
          </a:bodyPr>
          <a:lstStyle/>
          <a:p>
            <a:pPr>
              <a:spcBef>
                <a:spcPts val="1000"/>
              </a:spcBef>
            </a:pPr>
            <a:r>
              <a:rPr lang="en-US" kern="1200">
                <a:latin typeface="+mn-lt"/>
                <a:ea typeface="+mn-ea"/>
                <a:cs typeface="+mn-cs"/>
              </a:rPr>
              <a:t>AI Data Copilot - AskData</a:t>
            </a:r>
          </a:p>
        </p:txBody>
      </p:sp>
      <p:sp>
        <p:nvSpPr>
          <p:cNvPr id="5" name="Slide Number Placeholder 4">
            <a:extLst>
              <a:ext uri="{FF2B5EF4-FFF2-40B4-BE49-F238E27FC236}">
                <a16:creationId xmlns:a16="http://schemas.microsoft.com/office/drawing/2014/main" id="{206839D2-A147-4CE4-B762-73368CD2CAAF}"/>
              </a:ext>
            </a:extLst>
          </p:cNvPr>
          <p:cNvSpPr>
            <a:spLocks noGrp="1"/>
          </p:cNvSpPr>
          <p:nvPr>
            <p:ph type="sldNum" sz="quarter" idx="16"/>
          </p:nvPr>
        </p:nvSpPr>
        <p:spPr>
          <a:xfrm>
            <a:off x="11775274" y="6650662"/>
            <a:ext cx="232604"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12</a:t>
            </a:fld>
            <a:endParaRPr lang="en-US"/>
          </a:p>
        </p:txBody>
      </p:sp>
      <p:sp>
        <p:nvSpPr>
          <p:cNvPr id="19" name="Text Placeholder 6">
            <a:extLst>
              <a:ext uri="{FF2B5EF4-FFF2-40B4-BE49-F238E27FC236}">
                <a16:creationId xmlns:a16="http://schemas.microsoft.com/office/drawing/2014/main" id="{51D7CFDC-A52C-48C3-3A37-2C20E91BD1FD}"/>
              </a:ext>
            </a:extLst>
          </p:cNvPr>
          <p:cNvSpPr>
            <a:spLocks noGrp="1"/>
          </p:cNvSpPr>
          <p:nvPr>
            <p:ph type="body" sz="quarter" idx="40"/>
          </p:nvPr>
        </p:nvSpPr>
        <p:spPr>
          <a:xfrm>
            <a:off x="11762562" y="128961"/>
            <a:ext cx="268976" cy="335806"/>
          </a:xfrm>
        </p:spPr>
        <p:txBody>
          <a:bodyPr/>
          <a:lstStyle/>
          <a:p>
            <a:endParaRPr lang="en-US"/>
          </a:p>
        </p:txBody>
      </p:sp>
    </p:spTree>
    <p:extLst>
      <p:ext uri="{BB962C8B-B14F-4D97-AF65-F5344CB8AC3E}">
        <p14:creationId xmlns:p14="http://schemas.microsoft.com/office/powerpoint/2010/main" val="2503362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0DDB7-FFE3-3AF2-06A6-2FA064D075F7}"/>
            </a:ext>
          </a:extLst>
        </p:cNvPr>
        <p:cNvGrpSpPr/>
        <p:nvPr/>
      </p:nvGrpSpPr>
      <p:grpSpPr>
        <a:xfrm>
          <a:off x="0" y="0"/>
          <a:ext cx="0" cy="0"/>
          <a:chOff x="0" y="0"/>
          <a:chExt cx="0" cy="0"/>
        </a:xfrm>
      </p:grpSpPr>
    </p:spTree>
    <p:extLst>
      <p:ext uri="{BB962C8B-B14F-4D97-AF65-F5344CB8AC3E}">
        <p14:creationId xmlns:p14="http://schemas.microsoft.com/office/powerpoint/2010/main" val="314469948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8229600" cy="502920"/>
          </a:xfrm>
          <a:prstGeom prst="rect">
            <a:avLst/>
          </a:prstGeom>
          <a:noFill/>
        </p:spPr>
        <p:txBody>
          <a:bodyPr wrap="square">
            <a:spAutoFit/>
          </a:bodyPr>
          <a:lstStyle/>
          <a:p>
            <a:pPr algn="l"/>
            <a:r>
              <a:rPr sz="2400" b="1" i="0" dirty="0">
                <a:solidFill>
                  <a:srgbClr val="FFFFFF"/>
                </a:solidFill>
              </a:rPr>
              <a:t>AI Data Platform  vs  Databricks Genie</a:t>
            </a:r>
          </a:p>
        </p:txBody>
      </p:sp>
      <p:sp>
        <p:nvSpPr>
          <p:cNvPr id="6" name="Rectangle 5"/>
          <p:cNvSpPr/>
          <p:nvPr/>
        </p:nvSpPr>
        <p:spPr>
          <a:xfrm>
            <a:off x="0" y="676656"/>
            <a:ext cx="12188952" cy="18288"/>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987552"/>
            <a:ext cx="3200400" cy="3840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3756" y="974343"/>
            <a:ext cx="3090672" cy="276999"/>
          </a:xfrm>
          <a:prstGeom prst="rect">
            <a:avLst/>
          </a:prstGeom>
          <a:noFill/>
        </p:spPr>
        <p:txBody>
          <a:bodyPr wrap="square">
            <a:spAutoFit/>
          </a:bodyPr>
          <a:lstStyle/>
          <a:p>
            <a:pPr algn="ctr"/>
            <a:r>
              <a:rPr sz="1200" b="1" i="0" dirty="0">
                <a:solidFill>
                  <a:schemeClr val="bg1"/>
                </a:solidFill>
              </a:rPr>
              <a:t>Feature / Parameter</a:t>
            </a:r>
          </a:p>
        </p:txBody>
      </p:sp>
      <p:sp>
        <p:nvSpPr>
          <p:cNvPr id="10" name="TextBox 9"/>
          <p:cNvSpPr txBox="1"/>
          <p:nvPr/>
        </p:nvSpPr>
        <p:spPr>
          <a:xfrm>
            <a:off x="3639312" y="963352"/>
            <a:ext cx="3913632" cy="276999"/>
          </a:xfrm>
          <a:prstGeom prst="rect">
            <a:avLst/>
          </a:prstGeom>
          <a:noFill/>
        </p:spPr>
        <p:txBody>
          <a:bodyPr wrap="square">
            <a:spAutoFit/>
          </a:bodyPr>
          <a:lstStyle/>
          <a:p>
            <a:pPr algn="ctr"/>
            <a:r>
              <a:rPr sz="1200" b="1" i="0" dirty="0">
                <a:solidFill>
                  <a:schemeClr val="bg1"/>
                </a:solidFill>
              </a:rPr>
              <a:t>🚀 AI Data Platform</a:t>
            </a:r>
          </a:p>
        </p:txBody>
      </p:sp>
      <p:sp>
        <p:nvSpPr>
          <p:cNvPr id="11" name="Rectangle 10"/>
          <p:cNvSpPr/>
          <p:nvPr/>
        </p:nvSpPr>
        <p:spPr>
          <a:xfrm>
            <a:off x="7699248" y="987552"/>
            <a:ext cx="4023360"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35824" y="981751"/>
            <a:ext cx="3913632" cy="276999"/>
          </a:xfrm>
          <a:prstGeom prst="rect">
            <a:avLst/>
          </a:prstGeom>
          <a:noFill/>
        </p:spPr>
        <p:txBody>
          <a:bodyPr wrap="square">
            <a:spAutoFit/>
          </a:bodyPr>
          <a:lstStyle/>
          <a:p>
            <a:pPr algn="ctr"/>
            <a:r>
              <a:rPr sz="1200" b="1" i="0" dirty="0">
                <a:solidFill>
                  <a:srgbClr val="FFFFFF"/>
                </a:solidFill>
              </a:rPr>
              <a:t>🧱 Databricks Genie</a:t>
            </a:r>
          </a:p>
        </p:txBody>
      </p:sp>
      <p:sp>
        <p:nvSpPr>
          <p:cNvPr id="13" name="Rectangle 12"/>
          <p:cNvSpPr/>
          <p:nvPr/>
        </p:nvSpPr>
        <p:spPr>
          <a:xfrm>
            <a:off x="256032" y="1371600"/>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417320"/>
            <a:ext cx="3063240" cy="261610"/>
          </a:xfrm>
          <a:prstGeom prst="rect">
            <a:avLst/>
          </a:prstGeom>
          <a:noFill/>
        </p:spPr>
        <p:txBody>
          <a:bodyPr wrap="square">
            <a:spAutoFit/>
          </a:bodyPr>
          <a:lstStyle/>
          <a:p>
            <a:pPr algn="l"/>
            <a:r>
              <a:rPr sz="1100" b="0" i="0" dirty="0">
                <a:solidFill>
                  <a:schemeClr val="bg1"/>
                </a:solidFill>
              </a:rPr>
              <a:t>Deployment</a:t>
            </a:r>
          </a:p>
        </p:txBody>
      </p:sp>
      <p:sp>
        <p:nvSpPr>
          <p:cNvPr id="15" name="Rectangle 14"/>
          <p:cNvSpPr/>
          <p:nvPr/>
        </p:nvSpPr>
        <p:spPr>
          <a:xfrm>
            <a:off x="3566160" y="1371600"/>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1417320"/>
            <a:ext cx="3886200" cy="261610"/>
          </a:xfrm>
          <a:prstGeom prst="rect">
            <a:avLst/>
          </a:prstGeom>
          <a:noFill/>
        </p:spPr>
        <p:txBody>
          <a:bodyPr wrap="square">
            <a:spAutoFit/>
          </a:bodyPr>
          <a:lstStyle/>
          <a:p>
            <a:pPr algn="l"/>
            <a:r>
              <a:rPr sz="1100" b="0" i="0" dirty="0">
                <a:solidFill>
                  <a:schemeClr val="bg1"/>
                </a:solidFill>
              </a:rPr>
              <a:t>Any </a:t>
            </a:r>
            <a:r>
              <a:rPr lang="en-IN" sz="1100" b="0" i="0" dirty="0">
                <a:solidFill>
                  <a:schemeClr val="bg1"/>
                </a:solidFill>
              </a:rPr>
              <a:t>SQL Warehouse</a:t>
            </a:r>
            <a:endParaRPr sz="1100" b="0" i="0" dirty="0">
              <a:solidFill>
                <a:schemeClr val="bg1"/>
              </a:solidFill>
            </a:endParaRPr>
          </a:p>
        </p:txBody>
      </p:sp>
      <p:sp>
        <p:nvSpPr>
          <p:cNvPr id="17" name="Rectangle 16"/>
          <p:cNvSpPr/>
          <p:nvPr/>
        </p:nvSpPr>
        <p:spPr>
          <a:xfrm>
            <a:off x="7699248" y="1371600"/>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90688" y="1417320"/>
            <a:ext cx="3886200" cy="261610"/>
          </a:xfrm>
          <a:prstGeom prst="rect">
            <a:avLst/>
          </a:prstGeom>
          <a:noFill/>
        </p:spPr>
        <p:txBody>
          <a:bodyPr wrap="square">
            <a:spAutoFit/>
          </a:bodyPr>
          <a:lstStyle/>
          <a:p>
            <a:pPr algn="l"/>
            <a:r>
              <a:rPr sz="1100" b="0" i="0" dirty="0">
                <a:solidFill>
                  <a:schemeClr val="bg1"/>
                </a:solidFill>
              </a:rPr>
              <a:t>Databricks workspace only</a:t>
            </a:r>
          </a:p>
        </p:txBody>
      </p:sp>
      <p:cxnSp>
        <p:nvCxnSpPr>
          <p:cNvPr id="19" name="Connector 18"/>
          <p:cNvCxnSpPr/>
          <p:nvPr/>
        </p:nvCxnSpPr>
        <p:spPr>
          <a:xfrm>
            <a:off x="256032" y="1380744"/>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56032" y="1673352"/>
            <a:ext cx="320040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7472" y="1719072"/>
            <a:ext cx="3063240" cy="261610"/>
          </a:xfrm>
          <a:prstGeom prst="rect">
            <a:avLst/>
          </a:prstGeom>
          <a:noFill/>
        </p:spPr>
        <p:txBody>
          <a:bodyPr wrap="square">
            <a:spAutoFit/>
          </a:bodyPr>
          <a:lstStyle/>
          <a:p>
            <a:pPr algn="l"/>
            <a:r>
              <a:rPr sz="1100" b="0" i="0" dirty="0">
                <a:solidFill>
                  <a:schemeClr val="bg1"/>
                </a:solidFill>
              </a:rPr>
              <a:t>Database Compatibility</a:t>
            </a:r>
          </a:p>
        </p:txBody>
      </p:sp>
      <p:sp>
        <p:nvSpPr>
          <p:cNvPr id="22" name="Rectangle 21"/>
          <p:cNvSpPr/>
          <p:nvPr/>
        </p:nvSpPr>
        <p:spPr>
          <a:xfrm>
            <a:off x="3566160" y="1673352"/>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0" y="1719072"/>
            <a:ext cx="3886200" cy="261610"/>
          </a:xfrm>
          <a:prstGeom prst="rect">
            <a:avLst/>
          </a:prstGeom>
          <a:noFill/>
        </p:spPr>
        <p:txBody>
          <a:bodyPr wrap="square">
            <a:spAutoFit/>
          </a:bodyPr>
          <a:lstStyle/>
          <a:p>
            <a:pPr algn="l"/>
            <a:r>
              <a:rPr sz="1100" b="0" i="0">
                <a:solidFill>
                  <a:schemeClr val="bg1"/>
                </a:solidFill>
              </a:rPr>
              <a:t>Any SQL-based DB</a:t>
            </a:r>
          </a:p>
        </p:txBody>
      </p:sp>
      <p:sp>
        <p:nvSpPr>
          <p:cNvPr id="24" name="Rectangle 23"/>
          <p:cNvSpPr/>
          <p:nvPr/>
        </p:nvSpPr>
        <p:spPr>
          <a:xfrm>
            <a:off x="7699248" y="1673352"/>
            <a:ext cx="402336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90688" y="1719072"/>
            <a:ext cx="3886200" cy="261610"/>
          </a:xfrm>
          <a:prstGeom prst="rect">
            <a:avLst/>
          </a:prstGeom>
          <a:noFill/>
        </p:spPr>
        <p:txBody>
          <a:bodyPr wrap="square">
            <a:spAutoFit/>
          </a:bodyPr>
          <a:lstStyle/>
          <a:p>
            <a:pPr algn="l"/>
            <a:r>
              <a:rPr sz="1100" b="0" i="0">
                <a:solidFill>
                  <a:schemeClr val="bg1"/>
                </a:solidFill>
              </a:rPr>
              <a:t>Databricks Delta Lake only</a:t>
            </a:r>
          </a:p>
        </p:txBody>
      </p:sp>
      <p:cxnSp>
        <p:nvCxnSpPr>
          <p:cNvPr id="26" name="Connector 25"/>
          <p:cNvCxnSpPr/>
          <p:nvPr/>
        </p:nvCxnSpPr>
        <p:spPr>
          <a:xfrm>
            <a:off x="256032" y="1673352"/>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256032" y="1975104"/>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7472" y="2020824"/>
            <a:ext cx="3063240" cy="261610"/>
          </a:xfrm>
          <a:prstGeom prst="rect">
            <a:avLst/>
          </a:prstGeom>
          <a:noFill/>
        </p:spPr>
        <p:txBody>
          <a:bodyPr wrap="square">
            <a:spAutoFit/>
          </a:bodyPr>
          <a:lstStyle/>
          <a:p>
            <a:pPr algn="l"/>
            <a:r>
              <a:rPr sz="1100" b="0" i="0">
                <a:solidFill>
                  <a:schemeClr val="bg1"/>
                </a:solidFill>
              </a:rPr>
              <a:t>Setup Cost</a:t>
            </a:r>
          </a:p>
        </p:txBody>
      </p:sp>
      <p:sp>
        <p:nvSpPr>
          <p:cNvPr id="29" name="Rectangle 28"/>
          <p:cNvSpPr/>
          <p:nvPr/>
        </p:nvSpPr>
        <p:spPr>
          <a:xfrm>
            <a:off x="3566160" y="1975104"/>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0" y="2020824"/>
            <a:ext cx="3886200" cy="261610"/>
          </a:xfrm>
          <a:prstGeom prst="rect">
            <a:avLst/>
          </a:prstGeom>
          <a:noFill/>
        </p:spPr>
        <p:txBody>
          <a:bodyPr wrap="square">
            <a:spAutoFit/>
          </a:bodyPr>
          <a:lstStyle/>
          <a:p>
            <a:pPr algn="l"/>
            <a:r>
              <a:rPr sz="1100" b="0" i="0">
                <a:solidFill>
                  <a:schemeClr val="bg1"/>
                </a:solidFill>
              </a:rPr>
              <a:t>Open-source · Zero licence</a:t>
            </a:r>
          </a:p>
        </p:txBody>
      </p:sp>
      <p:sp>
        <p:nvSpPr>
          <p:cNvPr id="31" name="Rectangle 30"/>
          <p:cNvSpPr/>
          <p:nvPr/>
        </p:nvSpPr>
        <p:spPr>
          <a:xfrm>
            <a:off x="7699248" y="1975104"/>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90688" y="2020824"/>
            <a:ext cx="3886200" cy="261610"/>
          </a:xfrm>
          <a:prstGeom prst="rect">
            <a:avLst/>
          </a:prstGeom>
          <a:noFill/>
        </p:spPr>
        <p:txBody>
          <a:bodyPr wrap="square">
            <a:spAutoFit/>
          </a:bodyPr>
          <a:lstStyle/>
          <a:p>
            <a:pPr algn="l"/>
            <a:r>
              <a:rPr sz="1100" b="0" i="0">
                <a:solidFill>
                  <a:schemeClr val="bg1"/>
                </a:solidFill>
              </a:rPr>
              <a:t>Databricks subscription</a:t>
            </a:r>
          </a:p>
        </p:txBody>
      </p:sp>
      <p:cxnSp>
        <p:nvCxnSpPr>
          <p:cNvPr id="33" name="Connector 32"/>
          <p:cNvCxnSpPr/>
          <p:nvPr/>
        </p:nvCxnSpPr>
        <p:spPr>
          <a:xfrm>
            <a:off x="256032" y="1975104"/>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256032" y="2276856"/>
            <a:ext cx="320040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7472" y="2322576"/>
            <a:ext cx="3063240" cy="261610"/>
          </a:xfrm>
          <a:prstGeom prst="rect">
            <a:avLst/>
          </a:prstGeom>
          <a:noFill/>
        </p:spPr>
        <p:txBody>
          <a:bodyPr wrap="square">
            <a:spAutoFit/>
          </a:bodyPr>
          <a:lstStyle/>
          <a:p>
            <a:pPr algn="l"/>
            <a:r>
              <a:rPr sz="1100" b="0" i="0">
                <a:solidFill>
                  <a:schemeClr val="bg1"/>
                </a:solidFill>
              </a:rPr>
              <a:t>Natural Language to SQL</a:t>
            </a:r>
          </a:p>
        </p:txBody>
      </p:sp>
      <p:sp>
        <p:nvSpPr>
          <p:cNvPr id="36" name="Rectangle 35"/>
          <p:cNvSpPr/>
          <p:nvPr/>
        </p:nvSpPr>
        <p:spPr>
          <a:xfrm>
            <a:off x="3566160" y="2276856"/>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0" y="2322576"/>
            <a:ext cx="3886200" cy="261610"/>
          </a:xfrm>
          <a:prstGeom prst="rect">
            <a:avLst/>
          </a:prstGeom>
          <a:noFill/>
        </p:spPr>
        <p:txBody>
          <a:bodyPr wrap="square">
            <a:spAutoFit/>
          </a:bodyPr>
          <a:lstStyle/>
          <a:p>
            <a:pPr algn="l"/>
            <a:r>
              <a:rPr sz="1100" b="0" i="0" dirty="0">
                <a:solidFill>
                  <a:schemeClr val="bg1"/>
                </a:solidFill>
              </a:rPr>
              <a:t>✅ </a:t>
            </a:r>
            <a:r>
              <a:rPr lang="en-IN" sz="1100" b="0" i="0" dirty="0">
                <a:solidFill>
                  <a:schemeClr val="bg1"/>
                </a:solidFill>
              </a:rPr>
              <a:t>Any LLM</a:t>
            </a:r>
            <a:r>
              <a:rPr sz="1100" b="0" i="0" dirty="0">
                <a:solidFill>
                  <a:schemeClr val="bg1"/>
                </a:solidFill>
              </a:rPr>
              <a:t> powered</a:t>
            </a:r>
          </a:p>
        </p:txBody>
      </p:sp>
      <p:sp>
        <p:nvSpPr>
          <p:cNvPr id="38" name="Rectangle 37"/>
          <p:cNvSpPr/>
          <p:nvPr/>
        </p:nvSpPr>
        <p:spPr>
          <a:xfrm>
            <a:off x="7699248" y="2276856"/>
            <a:ext cx="402336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90688" y="2322576"/>
            <a:ext cx="3886200" cy="261610"/>
          </a:xfrm>
          <a:prstGeom prst="rect">
            <a:avLst/>
          </a:prstGeom>
          <a:noFill/>
        </p:spPr>
        <p:txBody>
          <a:bodyPr wrap="square">
            <a:spAutoFit/>
          </a:bodyPr>
          <a:lstStyle/>
          <a:p>
            <a:pPr algn="l"/>
            <a:r>
              <a:rPr sz="1100" b="0" i="0">
                <a:solidFill>
                  <a:schemeClr val="bg1"/>
                </a:solidFill>
              </a:rPr>
              <a:t>✅ Built-in Genie AI</a:t>
            </a:r>
          </a:p>
        </p:txBody>
      </p:sp>
      <p:cxnSp>
        <p:nvCxnSpPr>
          <p:cNvPr id="40" name="Connector 39"/>
          <p:cNvCxnSpPr/>
          <p:nvPr/>
        </p:nvCxnSpPr>
        <p:spPr>
          <a:xfrm>
            <a:off x="256032" y="2276856"/>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56032" y="2578608"/>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7472" y="2624328"/>
            <a:ext cx="3063240" cy="261610"/>
          </a:xfrm>
          <a:prstGeom prst="rect">
            <a:avLst/>
          </a:prstGeom>
          <a:noFill/>
        </p:spPr>
        <p:txBody>
          <a:bodyPr wrap="square">
            <a:spAutoFit/>
          </a:bodyPr>
          <a:lstStyle/>
          <a:p>
            <a:pPr algn="l"/>
            <a:r>
              <a:rPr sz="1100" b="0" i="0">
                <a:solidFill>
                  <a:schemeClr val="bg1"/>
                </a:solidFill>
              </a:rPr>
              <a:t>Schema Auto-Detection</a:t>
            </a:r>
          </a:p>
        </p:txBody>
      </p:sp>
      <p:sp>
        <p:nvSpPr>
          <p:cNvPr id="43" name="Rectangle 42"/>
          <p:cNvSpPr/>
          <p:nvPr/>
        </p:nvSpPr>
        <p:spPr>
          <a:xfrm>
            <a:off x="3566160" y="2578608"/>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0" y="2624328"/>
            <a:ext cx="3886200" cy="261610"/>
          </a:xfrm>
          <a:prstGeom prst="rect">
            <a:avLst/>
          </a:prstGeom>
          <a:noFill/>
        </p:spPr>
        <p:txBody>
          <a:bodyPr wrap="square">
            <a:spAutoFit/>
          </a:bodyPr>
          <a:lstStyle/>
          <a:p>
            <a:pPr algn="l"/>
            <a:r>
              <a:rPr sz="1100" b="0" i="0">
                <a:solidFill>
                  <a:schemeClr val="bg1"/>
                </a:solidFill>
              </a:rPr>
              <a:t>✅ Rich column metadata</a:t>
            </a:r>
          </a:p>
        </p:txBody>
      </p:sp>
      <p:sp>
        <p:nvSpPr>
          <p:cNvPr id="45" name="Rectangle 44"/>
          <p:cNvSpPr/>
          <p:nvPr/>
        </p:nvSpPr>
        <p:spPr>
          <a:xfrm>
            <a:off x="7699248" y="2578608"/>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90688" y="2624328"/>
            <a:ext cx="3886200" cy="261610"/>
          </a:xfrm>
          <a:prstGeom prst="rect">
            <a:avLst/>
          </a:prstGeom>
          <a:noFill/>
        </p:spPr>
        <p:txBody>
          <a:bodyPr wrap="square">
            <a:spAutoFit/>
          </a:bodyPr>
          <a:lstStyle/>
          <a:p>
            <a:pPr algn="l"/>
            <a:r>
              <a:rPr sz="1100" b="0" i="0" dirty="0">
                <a:solidFill>
                  <a:schemeClr val="bg1"/>
                </a:solidFill>
              </a:rPr>
              <a:t>✅ Unity Catalog</a:t>
            </a:r>
          </a:p>
        </p:txBody>
      </p:sp>
      <p:cxnSp>
        <p:nvCxnSpPr>
          <p:cNvPr id="47" name="Connector 46"/>
          <p:cNvCxnSpPr/>
          <p:nvPr/>
        </p:nvCxnSpPr>
        <p:spPr>
          <a:xfrm>
            <a:off x="256032" y="2578608"/>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256032" y="2880360"/>
            <a:ext cx="320040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47472" y="2926080"/>
            <a:ext cx="3063240" cy="261610"/>
          </a:xfrm>
          <a:prstGeom prst="rect">
            <a:avLst/>
          </a:prstGeom>
          <a:noFill/>
        </p:spPr>
        <p:txBody>
          <a:bodyPr wrap="square">
            <a:spAutoFit/>
          </a:bodyPr>
          <a:lstStyle/>
          <a:p>
            <a:pPr algn="l"/>
            <a:r>
              <a:rPr sz="1100" b="0" i="0">
                <a:solidFill>
                  <a:schemeClr val="bg1"/>
                </a:solidFill>
              </a:rPr>
              <a:t>Multi-Table Auto-Join</a:t>
            </a:r>
          </a:p>
        </p:txBody>
      </p:sp>
      <p:sp>
        <p:nvSpPr>
          <p:cNvPr id="50" name="Rectangle 49"/>
          <p:cNvSpPr/>
          <p:nvPr/>
        </p:nvSpPr>
        <p:spPr>
          <a:xfrm>
            <a:off x="3566160" y="2880360"/>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57600" y="2926080"/>
            <a:ext cx="3886200" cy="261610"/>
          </a:xfrm>
          <a:prstGeom prst="rect">
            <a:avLst/>
          </a:prstGeom>
          <a:noFill/>
        </p:spPr>
        <p:txBody>
          <a:bodyPr wrap="square">
            <a:spAutoFit/>
          </a:bodyPr>
          <a:lstStyle/>
          <a:p>
            <a:pPr algn="l"/>
            <a:r>
              <a:rPr sz="1100" b="0" i="0">
                <a:solidFill>
                  <a:schemeClr val="bg1"/>
                </a:solidFill>
              </a:rPr>
              <a:t>✅ Score-based engine</a:t>
            </a:r>
          </a:p>
        </p:txBody>
      </p:sp>
      <p:sp>
        <p:nvSpPr>
          <p:cNvPr id="52" name="Rectangle 51"/>
          <p:cNvSpPr/>
          <p:nvPr/>
        </p:nvSpPr>
        <p:spPr>
          <a:xfrm>
            <a:off x="7699248" y="2880360"/>
            <a:ext cx="402336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790688" y="2926080"/>
            <a:ext cx="3886200" cy="261610"/>
          </a:xfrm>
          <a:prstGeom prst="rect">
            <a:avLst/>
          </a:prstGeom>
          <a:noFill/>
        </p:spPr>
        <p:txBody>
          <a:bodyPr wrap="square">
            <a:spAutoFit/>
          </a:bodyPr>
          <a:lstStyle/>
          <a:p>
            <a:pPr algn="l"/>
            <a:r>
              <a:rPr sz="1100" b="0" i="0">
                <a:solidFill>
                  <a:schemeClr val="bg1"/>
                </a:solidFill>
              </a:rPr>
              <a:t>⚠️ Manual config required</a:t>
            </a:r>
          </a:p>
        </p:txBody>
      </p:sp>
      <p:cxnSp>
        <p:nvCxnSpPr>
          <p:cNvPr id="54" name="Connector 53"/>
          <p:cNvCxnSpPr/>
          <p:nvPr/>
        </p:nvCxnSpPr>
        <p:spPr>
          <a:xfrm>
            <a:off x="256032" y="2880360"/>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256032" y="3182112"/>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47472" y="3227832"/>
            <a:ext cx="3063240" cy="261610"/>
          </a:xfrm>
          <a:prstGeom prst="rect">
            <a:avLst/>
          </a:prstGeom>
          <a:noFill/>
        </p:spPr>
        <p:txBody>
          <a:bodyPr wrap="square">
            <a:spAutoFit/>
          </a:bodyPr>
          <a:lstStyle/>
          <a:p>
            <a:pPr algn="l"/>
            <a:r>
              <a:rPr sz="1100" b="0" i="0">
                <a:solidFill>
                  <a:schemeClr val="bg1"/>
                </a:solidFill>
              </a:rPr>
              <a:t>SQL Guardrails</a:t>
            </a:r>
          </a:p>
        </p:txBody>
      </p:sp>
      <p:sp>
        <p:nvSpPr>
          <p:cNvPr id="57" name="Rectangle 56"/>
          <p:cNvSpPr/>
          <p:nvPr/>
        </p:nvSpPr>
        <p:spPr>
          <a:xfrm>
            <a:off x="3566160" y="3182112"/>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0" y="3227832"/>
            <a:ext cx="3886200" cy="261610"/>
          </a:xfrm>
          <a:prstGeom prst="rect">
            <a:avLst/>
          </a:prstGeom>
          <a:noFill/>
        </p:spPr>
        <p:txBody>
          <a:bodyPr wrap="square">
            <a:spAutoFit/>
          </a:bodyPr>
          <a:lstStyle/>
          <a:p>
            <a:pPr algn="l"/>
            <a:r>
              <a:rPr sz="1100" b="0" i="0">
                <a:solidFill>
                  <a:schemeClr val="bg1"/>
                </a:solidFill>
              </a:rPr>
              <a:t>✅ Regex + LLM validation</a:t>
            </a:r>
          </a:p>
        </p:txBody>
      </p:sp>
      <p:sp>
        <p:nvSpPr>
          <p:cNvPr id="59" name="Rectangle 58"/>
          <p:cNvSpPr/>
          <p:nvPr/>
        </p:nvSpPr>
        <p:spPr>
          <a:xfrm>
            <a:off x="7699248" y="3182112"/>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790688" y="3227832"/>
            <a:ext cx="3886200" cy="261610"/>
          </a:xfrm>
          <a:prstGeom prst="rect">
            <a:avLst/>
          </a:prstGeom>
          <a:noFill/>
        </p:spPr>
        <p:txBody>
          <a:bodyPr wrap="square">
            <a:spAutoFit/>
          </a:bodyPr>
          <a:lstStyle/>
          <a:p>
            <a:pPr algn="l"/>
            <a:r>
              <a:rPr sz="1100" b="0" i="0">
                <a:solidFill>
                  <a:schemeClr val="bg1"/>
                </a:solidFill>
              </a:rPr>
              <a:t>⚠️ Limited</a:t>
            </a:r>
          </a:p>
        </p:txBody>
      </p:sp>
      <p:cxnSp>
        <p:nvCxnSpPr>
          <p:cNvPr id="61" name="Connector 60"/>
          <p:cNvCxnSpPr/>
          <p:nvPr/>
        </p:nvCxnSpPr>
        <p:spPr>
          <a:xfrm>
            <a:off x="256032" y="3182112"/>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256032" y="3483864"/>
            <a:ext cx="320040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47472" y="3529584"/>
            <a:ext cx="3063240" cy="261610"/>
          </a:xfrm>
          <a:prstGeom prst="rect">
            <a:avLst/>
          </a:prstGeom>
          <a:noFill/>
        </p:spPr>
        <p:txBody>
          <a:bodyPr wrap="square">
            <a:spAutoFit/>
          </a:bodyPr>
          <a:lstStyle/>
          <a:p>
            <a:pPr algn="l"/>
            <a:r>
              <a:rPr sz="1100" b="0" i="0">
                <a:solidFill>
                  <a:schemeClr val="bg1"/>
                </a:solidFill>
              </a:rPr>
              <a:t>Industry Config (JSON)</a:t>
            </a:r>
          </a:p>
        </p:txBody>
      </p:sp>
      <p:sp>
        <p:nvSpPr>
          <p:cNvPr id="64" name="Rectangle 63"/>
          <p:cNvSpPr/>
          <p:nvPr/>
        </p:nvSpPr>
        <p:spPr>
          <a:xfrm>
            <a:off x="3566160" y="3483864"/>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657600" y="3529584"/>
            <a:ext cx="3886200" cy="261610"/>
          </a:xfrm>
          <a:prstGeom prst="rect">
            <a:avLst/>
          </a:prstGeom>
          <a:noFill/>
        </p:spPr>
        <p:txBody>
          <a:bodyPr wrap="square">
            <a:spAutoFit/>
          </a:bodyPr>
          <a:lstStyle/>
          <a:p>
            <a:pPr algn="l"/>
            <a:r>
              <a:rPr sz="1100" b="0" i="0">
                <a:solidFill>
                  <a:schemeClr val="bg1"/>
                </a:solidFill>
              </a:rPr>
              <a:t>✅ Fully configurable</a:t>
            </a:r>
          </a:p>
        </p:txBody>
      </p:sp>
      <p:sp>
        <p:nvSpPr>
          <p:cNvPr id="66" name="Rectangle 65"/>
          <p:cNvSpPr/>
          <p:nvPr/>
        </p:nvSpPr>
        <p:spPr>
          <a:xfrm>
            <a:off x="7699248" y="3483864"/>
            <a:ext cx="402336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790688" y="3529584"/>
            <a:ext cx="3886200" cy="261610"/>
          </a:xfrm>
          <a:prstGeom prst="rect">
            <a:avLst/>
          </a:prstGeom>
          <a:noFill/>
        </p:spPr>
        <p:txBody>
          <a:bodyPr wrap="square">
            <a:spAutoFit/>
          </a:bodyPr>
          <a:lstStyle/>
          <a:p>
            <a:pPr algn="l"/>
            <a:r>
              <a:rPr sz="1100" b="0" i="0">
                <a:solidFill>
                  <a:schemeClr val="bg1"/>
                </a:solidFill>
              </a:rPr>
              <a:t>❌ Not supported</a:t>
            </a:r>
          </a:p>
        </p:txBody>
      </p:sp>
      <p:cxnSp>
        <p:nvCxnSpPr>
          <p:cNvPr id="68" name="Connector 67"/>
          <p:cNvCxnSpPr/>
          <p:nvPr/>
        </p:nvCxnSpPr>
        <p:spPr>
          <a:xfrm>
            <a:off x="256032" y="3483864"/>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256032" y="3785616"/>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47472" y="3831336"/>
            <a:ext cx="3063240" cy="261610"/>
          </a:xfrm>
          <a:prstGeom prst="rect">
            <a:avLst/>
          </a:prstGeom>
          <a:noFill/>
        </p:spPr>
        <p:txBody>
          <a:bodyPr wrap="square">
            <a:spAutoFit/>
          </a:bodyPr>
          <a:lstStyle/>
          <a:p>
            <a:pPr algn="l"/>
            <a:r>
              <a:rPr sz="1100" b="0" i="0" dirty="0">
                <a:solidFill>
                  <a:schemeClr val="bg1"/>
                </a:solidFill>
              </a:rPr>
              <a:t>Data Quality Intelligence</a:t>
            </a:r>
            <a:r>
              <a:rPr lang="en-IN" sz="1100" b="0" i="0" dirty="0">
                <a:solidFill>
                  <a:schemeClr val="bg1"/>
                </a:solidFill>
              </a:rPr>
              <a:t> (Beta)</a:t>
            </a:r>
            <a:endParaRPr sz="1100" b="0" i="0" dirty="0">
              <a:solidFill>
                <a:schemeClr val="bg1"/>
              </a:solidFill>
            </a:endParaRPr>
          </a:p>
        </p:txBody>
      </p:sp>
      <p:sp>
        <p:nvSpPr>
          <p:cNvPr id="71" name="Rectangle 70"/>
          <p:cNvSpPr/>
          <p:nvPr/>
        </p:nvSpPr>
        <p:spPr>
          <a:xfrm>
            <a:off x="3566160" y="3785616"/>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657600" y="3831336"/>
            <a:ext cx="3886200" cy="261610"/>
          </a:xfrm>
          <a:prstGeom prst="rect">
            <a:avLst/>
          </a:prstGeom>
          <a:noFill/>
        </p:spPr>
        <p:txBody>
          <a:bodyPr wrap="square">
            <a:spAutoFit/>
          </a:bodyPr>
          <a:lstStyle/>
          <a:p>
            <a:pPr algn="l"/>
            <a:r>
              <a:rPr sz="1100" b="0" i="0">
                <a:solidFill>
                  <a:schemeClr val="bg1"/>
                </a:solidFill>
              </a:rPr>
              <a:t>✅ Built-in DQ engine</a:t>
            </a:r>
          </a:p>
        </p:txBody>
      </p:sp>
      <p:sp>
        <p:nvSpPr>
          <p:cNvPr id="73" name="Rectangle 72"/>
          <p:cNvSpPr/>
          <p:nvPr/>
        </p:nvSpPr>
        <p:spPr>
          <a:xfrm>
            <a:off x="7699248" y="3785616"/>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790688" y="3831336"/>
            <a:ext cx="3886200" cy="261610"/>
          </a:xfrm>
          <a:prstGeom prst="rect">
            <a:avLst/>
          </a:prstGeom>
          <a:noFill/>
        </p:spPr>
        <p:txBody>
          <a:bodyPr wrap="square">
            <a:spAutoFit/>
          </a:bodyPr>
          <a:lstStyle/>
          <a:p>
            <a:pPr algn="l"/>
            <a:r>
              <a:rPr sz="1100" b="0" i="0">
                <a:solidFill>
                  <a:schemeClr val="bg1"/>
                </a:solidFill>
              </a:rPr>
              <a:t>❌ Separate tool needed</a:t>
            </a:r>
          </a:p>
        </p:txBody>
      </p:sp>
      <p:cxnSp>
        <p:nvCxnSpPr>
          <p:cNvPr id="75" name="Connector 74"/>
          <p:cNvCxnSpPr/>
          <p:nvPr/>
        </p:nvCxnSpPr>
        <p:spPr>
          <a:xfrm>
            <a:off x="256032" y="3785616"/>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256032" y="4087368"/>
            <a:ext cx="320040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347472" y="4133088"/>
            <a:ext cx="3063240" cy="261610"/>
          </a:xfrm>
          <a:prstGeom prst="rect">
            <a:avLst/>
          </a:prstGeom>
          <a:noFill/>
        </p:spPr>
        <p:txBody>
          <a:bodyPr wrap="square">
            <a:spAutoFit/>
          </a:bodyPr>
          <a:lstStyle/>
          <a:p>
            <a:pPr algn="l"/>
            <a:r>
              <a:rPr sz="1100" b="0" i="0">
                <a:solidFill>
                  <a:schemeClr val="bg1"/>
                </a:solidFill>
              </a:rPr>
              <a:t>KPI Auto-Detection</a:t>
            </a:r>
          </a:p>
        </p:txBody>
      </p:sp>
      <p:sp>
        <p:nvSpPr>
          <p:cNvPr id="78" name="Rectangle 77"/>
          <p:cNvSpPr/>
          <p:nvPr/>
        </p:nvSpPr>
        <p:spPr>
          <a:xfrm>
            <a:off x="3566160" y="4087368"/>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657600" y="4133088"/>
            <a:ext cx="3886200" cy="261610"/>
          </a:xfrm>
          <a:prstGeom prst="rect">
            <a:avLst/>
          </a:prstGeom>
          <a:noFill/>
        </p:spPr>
        <p:txBody>
          <a:bodyPr wrap="square">
            <a:spAutoFit/>
          </a:bodyPr>
          <a:lstStyle/>
          <a:p>
            <a:pPr algn="l"/>
            <a:r>
              <a:rPr sz="1100" b="0" i="0">
                <a:solidFill>
                  <a:schemeClr val="bg1"/>
                </a:solidFill>
              </a:rPr>
              <a:t>✅ Column-pattern based</a:t>
            </a:r>
          </a:p>
        </p:txBody>
      </p:sp>
      <p:sp>
        <p:nvSpPr>
          <p:cNvPr id="80" name="Rectangle 79"/>
          <p:cNvSpPr/>
          <p:nvPr/>
        </p:nvSpPr>
        <p:spPr>
          <a:xfrm>
            <a:off x="7699248" y="4087368"/>
            <a:ext cx="402336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790688" y="4133088"/>
            <a:ext cx="3886200" cy="261610"/>
          </a:xfrm>
          <a:prstGeom prst="rect">
            <a:avLst/>
          </a:prstGeom>
          <a:noFill/>
        </p:spPr>
        <p:txBody>
          <a:bodyPr wrap="square">
            <a:spAutoFit/>
          </a:bodyPr>
          <a:lstStyle/>
          <a:p>
            <a:pPr algn="l"/>
            <a:r>
              <a:rPr sz="1100" b="0" i="0">
                <a:solidFill>
                  <a:schemeClr val="bg1"/>
                </a:solidFill>
              </a:rPr>
              <a:t>⚠️ Manual dashboard build</a:t>
            </a:r>
          </a:p>
        </p:txBody>
      </p:sp>
      <p:cxnSp>
        <p:nvCxnSpPr>
          <p:cNvPr id="82" name="Connector 81"/>
          <p:cNvCxnSpPr/>
          <p:nvPr/>
        </p:nvCxnSpPr>
        <p:spPr>
          <a:xfrm>
            <a:off x="256032" y="4087368"/>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256032" y="4389120"/>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47472" y="4434840"/>
            <a:ext cx="3063240" cy="261610"/>
          </a:xfrm>
          <a:prstGeom prst="rect">
            <a:avLst/>
          </a:prstGeom>
          <a:noFill/>
        </p:spPr>
        <p:txBody>
          <a:bodyPr wrap="square">
            <a:spAutoFit/>
          </a:bodyPr>
          <a:lstStyle/>
          <a:p>
            <a:pPr algn="l"/>
            <a:r>
              <a:rPr sz="1100" b="0" i="0">
                <a:solidFill>
                  <a:schemeClr val="bg1"/>
                </a:solidFill>
              </a:rPr>
              <a:t>Self-Healing SQL Retry</a:t>
            </a:r>
          </a:p>
        </p:txBody>
      </p:sp>
      <p:sp>
        <p:nvSpPr>
          <p:cNvPr id="85" name="Rectangle 84"/>
          <p:cNvSpPr/>
          <p:nvPr/>
        </p:nvSpPr>
        <p:spPr>
          <a:xfrm>
            <a:off x="3566160" y="4389120"/>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657600" y="4434840"/>
            <a:ext cx="3886200" cy="261610"/>
          </a:xfrm>
          <a:prstGeom prst="rect">
            <a:avLst/>
          </a:prstGeom>
          <a:noFill/>
        </p:spPr>
        <p:txBody>
          <a:bodyPr wrap="square">
            <a:spAutoFit/>
          </a:bodyPr>
          <a:lstStyle/>
          <a:p>
            <a:pPr algn="l"/>
            <a:r>
              <a:rPr sz="1100" b="0" i="0">
                <a:solidFill>
                  <a:schemeClr val="bg1"/>
                </a:solidFill>
              </a:rPr>
              <a:t>✅ Auto LLM retry</a:t>
            </a:r>
          </a:p>
        </p:txBody>
      </p:sp>
      <p:sp>
        <p:nvSpPr>
          <p:cNvPr id="87" name="Rectangle 86"/>
          <p:cNvSpPr/>
          <p:nvPr/>
        </p:nvSpPr>
        <p:spPr>
          <a:xfrm>
            <a:off x="7699248" y="4389120"/>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7790688" y="4434840"/>
            <a:ext cx="3886200" cy="261610"/>
          </a:xfrm>
          <a:prstGeom prst="rect">
            <a:avLst/>
          </a:prstGeom>
          <a:noFill/>
        </p:spPr>
        <p:txBody>
          <a:bodyPr wrap="square">
            <a:spAutoFit/>
          </a:bodyPr>
          <a:lstStyle/>
          <a:p>
            <a:pPr algn="l"/>
            <a:r>
              <a:rPr sz="1100" b="0" i="0">
                <a:solidFill>
                  <a:schemeClr val="bg1"/>
                </a:solidFill>
              </a:rPr>
              <a:t>❌ Manual re-prompt</a:t>
            </a:r>
          </a:p>
        </p:txBody>
      </p:sp>
      <p:cxnSp>
        <p:nvCxnSpPr>
          <p:cNvPr id="89" name="Connector 88"/>
          <p:cNvCxnSpPr/>
          <p:nvPr/>
        </p:nvCxnSpPr>
        <p:spPr>
          <a:xfrm>
            <a:off x="256032" y="4389120"/>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256032" y="4690872"/>
            <a:ext cx="320040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47472" y="4736592"/>
            <a:ext cx="3063240" cy="261610"/>
          </a:xfrm>
          <a:prstGeom prst="rect">
            <a:avLst/>
          </a:prstGeom>
          <a:noFill/>
        </p:spPr>
        <p:txBody>
          <a:bodyPr wrap="square">
            <a:spAutoFit/>
          </a:bodyPr>
          <a:lstStyle/>
          <a:p>
            <a:pPr algn="l"/>
            <a:r>
              <a:rPr sz="1100" b="0" i="0">
                <a:solidFill>
                  <a:schemeClr val="bg1"/>
                </a:solidFill>
              </a:rPr>
              <a:t>Session Memory</a:t>
            </a:r>
          </a:p>
        </p:txBody>
      </p:sp>
      <p:sp>
        <p:nvSpPr>
          <p:cNvPr id="92" name="Rectangle 91"/>
          <p:cNvSpPr/>
          <p:nvPr/>
        </p:nvSpPr>
        <p:spPr>
          <a:xfrm>
            <a:off x="3566160" y="4690872"/>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3657600" y="4736592"/>
            <a:ext cx="3886200" cy="261610"/>
          </a:xfrm>
          <a:prstGeom prst="rect">
            <a:avLst/>
          </a:prstGeom>
          <a:noFill/>
        </p:spPr>
        <p:txBody>
          <a:bodyPr wrap="square">
            <a:spAutoFit/>
          </a:bodyPr>
          <a:lstStyle/>
          <a:p>
            <a:pPr algn="l"/>
            <a:r>
              <a:rPr sz="1100" b="0" i="0">
                <a:solidFill>
                  <a:schemeClr val="bg1"/>
                </a:solidFill>
              </a:rPr>
              <a:t>✅ Follow-up awareness</a:t>
            </a:r>
          </a:p>
        </p:txBody>
      </p:sp>
      <p:sp>
        <p:nvSpPr>
          <p:cNvPr id="94" name="Rectangle 93"/>
          <p:cNvSpPr/>
          <p:nvPr/>
        </p:nvSpPr>
        <p:spPr>
          <a:xfrm>
            <a:off x="7699248" y="4690872"/>
            <a:ext cx="402336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790688" y="4736592"/>
            <a:ext cx="3886200" cy="261610"/>
          </a:xfrm>
          <a:prstGeom prst="rect">
            <a:avLst/>
          </a:prstGeom>
          <a:noFill/>
        </p:spPr>
        <p:txBody>
          <a:bodyPr wrap="square">
            <a:spAutoFit/>
          </a:bodyPr>
          <a:lstStyle/>
          <a:p>
            <a:r>
              <a:rPr lang="en-IN" sz="1100" b="0" i="0" dirty="0">
                <a:solidFill>
                  <a:schemeClr val="bg1"/>
                </a:solidFill>
              </a:rPr>
              <a:t> </a:t>
            </a:r>
            <a:r>
              <a:rPr lang="en-IN" sz="1100" dirty="0">
                <a:solidFill>
                  <a:schemeClr val="bg1"/>
                </a:solidFill>
              </a:rPr>
              <a:t>✅</a:t>
            </a:r>
            <a:r>
              <a:rPr lang="en-IN" sz="1100" b="0" i="0" dirty="0">
                <a:solidFill>
                  <a:schemeClr val="bg1"/>
                </a:solidFill>
              </a:rPr>
              <a:t> Supported</a:t>
            </a:r>
            <a:endParaRPr sz="1100" b="0" i="0" dirty="0">
              <a:solidFill>
                <a:schemeClr val="bg1"/>
              </a:solidFill>
            </a:endParaRPr>
          </a:p>
        </p:txBody>
      </p:sp>
      <p:cxnSp>
        <p:nvCxnSpPr>
          <p:cNvPr id="96" name="Connector 95"/>
          <p:cNvCxnSpPr/>
          <p:nvPr/>
        </p:nvCxnSpPr>
        <p:spPr>
          <a:xfrm>
            <a:off x="256032" y="4690872"/>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97" name="Rectangle 96"/>
          <p:cNvSpPr/>
          <p:nvPr/>
        </p:nvSpPr>
        <p:spPr>
          <a:xfrm>
            <a:off x="256032" y="4992624"/>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47472" y="5038344"/>
            <a:ext cx="3063240" cy="261610"/>
          </a:xfrm>
          <a:prstGeom prst="rect">
            <a:avLst/>
          </a:prstGeom>
          <a:noFill/>
        </p:spPr>
        <p:txBody>
          <a:bodyPr wrap="square">
            <a:spAutoFit/>
          </a:bodyPr>
          <a:lstStyle/>
          <a:p>
            <a:pPr algn="l"/>
            <a:r>
              <a:rPr sz="1100" b="0" i="0">
                <a:solidFill>
                  <a:schemeClr val="bg1"/>
                </a:solidFill>
              </a:rPr>
              <a:t>Deployment on ADLS/Azure</a:t>
            </a:r>
          </a:p>
        </p:txBody>
      </p:sp>
      <p:sp>
        <p:nvSpPr>
          <p:cNvPr id="99" name="Rectangle 98"/>
          <p:cNvSpPr/>
          <p:nvPr/>
        </p:nvSpPr>
        <p:spPr>
          <a:xfrm>
            <a:off x="3566160" y="4992624"/>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3657600" y="5038344"/>
            <a:ext cx="3886200" cy="261610"/>
          </a:xfrm>
          <a:prstGeom prst="rect">
            <a:avLst/>
          </a:prstGeom>
          <a:noFill/>
        </p:spPr>
        <p:txBody>
          <a:bodyPr wrap="square">
            <a:spAutoFit/>
          </a:bodyPr>
          <a:lstStyle/>
          <a:p>
            <a:pPr algn="l"/>
            <a:r>
              <a:rPr sz="1100" b="0" i="0">
                <a:solidFill>
                  <a:schemeClr val="bg1"/>
                </a:solidFill>
              </a:rPr>
              <a:t>✅ Native support</a:t>
            </a:r>
          </a:p>
        </p:txBody>
      </p:sp>
      <p:sp>
        <p:nvSpPr>
          <p:cNvPr id="101" name="Rectangle 100"/>
          <p:cNvSpPr/>
          <p:nvPr/>
        </p:nvSpPr>
        <p:spPr>
          <a:xfrm>
            <a:off x="7699248" y="4992624"/>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7790688" y="5038344"/>
            <a:ext cx="3886200" cy="261610"/>
          </a:xfrm>
          <a:prstGeom prst="rect">
            <a:avLst/>
          </a:prstGeom>
          <a:noFill/>
        </p:spPr>
        <p:txBody>
          <a:bodyPr wrap="square">
            <a:spAutoFit/>
          </a:bodyPr>
          <a:lstStyle/>
          <a:p>
            <a:pPr algn="l"/>
            <a:r>
              <a:rPr sz="1100" b="0" i="0">
                <a:solidFill>
                  <a:schemeClr val="bg1"/>
                </a:solidFill>
              </a:rPr>
              <a:t>⚠️ Via Databricks only</a:t>
            </a:r>
          </a:p>
        </p:txBody>
      </p:sp>
      <p:cxnSp>
        <p:nvCxnSpPr>
          <p:cNvPr id="103" name="Connector 102"/>
          <p:cNvCxnSpPr/>
          <p:nvPr/>
        </p:nvCxnSpPr>
        <p:spPr>
          <a:xfrm>
            <a:off x="256032" y="4992624"/>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256032" y="5294376"/>
            <a:ext cx="320040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347472" y="5340096"/>
            <a:ext cx="3063240" cy="261610"/>
          </a:xfrm>
          <a:prstGeom prst="rect">
            <a:avLst/>
          </a:prstGeom>
          <a:noFill/>
        </p:spPr>
        <p:txBody>
          <a:bodyPr wrap="square">
            <a:spAutoFit/>
          </a:bodyPr>
          <a:lstStyle/>
          <a:p>
            <a:pPr algn="l"/>
            <a:r>
              <a:rPr sz="1100" b="0" i="0">
                <a:solidFill>
                  <a:schemeClr val="bg1"/>
                </a:solidFill>
              </a:rPr>
              <a:t>Open Source Customisable</a:t>
            </a:r>
          </a:p>
        </p:txBody>
      </p:sp>
      <p:sp>
        <p:nvSpPr>
          <p:cNvPr id="106" name="Rectangle 105"/>
          <p:cNvSpPr/>
          <p:nvPr/>
        </p:nvSpPr>
        <p:spPr>
          <a:xfrm>
            <a:off x="3566160" y="5294376"/>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3657600" y="5340096"/>
            <a:ext cx="3886200" cy="261610"/>
          </a:xfrm>
          <a:prstGeom prst="rect">
            <a:avLst/>
          </a:prstGeom>
          <a:noFill/>
        </p:spPr>
        <p:txBody>
          <a:bodyPr wrap="square">
            <a:spAutoFit/>
          </a:bodyPr>
          <a:lstStyle/>
          <a:p>
            <a:pPr algn="l"/>
            <a:r>
              <a:rPr sz="1100" b="0" i="0">
                <a:solidFill>
                  <a:schemeClr val="bg1"/>
                </a:solidFill>
              </a:rPr>
              <a:t>✅ Fully extensible Python</a:t>
            </a:r>
          </a:p>
        </p:txBody>
      </p:sp>
      <p:sp>
        <p:nvSpPr>
          <p:cNvPr id="108" name="Rectangle 107"/>
          <p:cNvSpPr/>
          <p:nvPr/>
        </p:nvSpPr>
        <p:spPr>
          <a:xfrm>
            <a:off x="7699248" y="5294376"/>
            <a:ext cx="4023360" cy="301752"/>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790688" y="5340096"/>
            <a:ext cx="3886200" cy="261610"/>
          </a:xfrm>
          <a:prstGeom prst="rect">
            <a:avLst/>
          </a:prstGeom>
          <a:noFill/>
        </p:spPr>
        <p:txBody>
          <a:bodyPr wrap="square">
            <a:spAutoFit/>
          </a:bodyPr>
          <a:lstStyle/>
          <a:p>
            <a:pPr algn="l"/>
            <a:r>
              <a:rPr sz="1100" b="0" i="0">
                <a:solidFill>
                  <a:schemeClr val="bg1"/>
                </a:solidFill>
              </a:rPr>
              <a:t>❌ Proprietary platform</a:t>
            </a:r>
          </a:p>
        </p:txBody>
      </p:sp>
      <p:cxnSp>
        <p:nvCxnSpPr>
          <p:cNvPr id="110" name="Connector 109"/>
          <p:cNvCxnSpPr/>
          <p:nvPr/>
        </p:nvCxnSpPr>
        <p:spPr>
          <a:xfrm>
            <a:off x="256032" y="5294376"/>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256032" y="5596128"/>
            <a:ext cx="320040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347472" y="5641848"/>
            <a:ext cx="3063240" cy="261610"/>
          </a:xfrm>
          <a:prstGeom prst="rect">
            <a:avLst/>
          </a:prstGeom>
          <a:noFill/>
        </p:spPr>
        <p:txBody>
          <a:bodyPr wrap="square">
            <a:spAutoFit/>
          </a:bodyPr>
          <a:lstStyle/>
          <a:p>
            <a:pPr algn="l"/>
            <a:r>
              <a:rPr sz="1100" b="0" i="0">
                <a:solidFill>
                  <a:schemeClr val="bg1"/>
                </a:solidFill>
              </a:rPr>
              <a:t>PII Masking (Roadmap)</a:t>
            </a:r>
          </a:p>
        </p:txBody>
      </p:sp>
      <p:sp>
        <p:nvSpPr>
          <p:cNvPr id="113" name="Rectangle 112"/>
          <p:cNvSpPr/>
          <p:nvPr/>
        </p:nvSpPr>
        <p:spPr>
          <a:xfrm>
            <a:off x="3566160" y="5596128"/>
            <a:ext cx="4023360" cy="301752"/>
          </a:xfrm>
          <a:prstGeom prst="rect">
            <a:avLst/>
          </a:prstGeom>
          <a:solidFill>
            <a:srgbClr val="03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657600" y="5641848"/>
            <a:ext cx="3886200" cy="261610"/>
          </a:xfrm>
          <a:prstGeom prst="rect">
            <a:avLst/>
          </a:prstGeom>
          <a:noFill/>
        </p:spPr>
        <p:txBody>
          <a:bodyPr wrap="square">
            <a:spAutoFit/>
          </a:bodyPr>
          <a:lstStyle/>
          <a:p>
            <a:pPr algn="l"/>
            <a:r>
              <a:rPr sz="1100" b="0" i="0">
                <a:solidFill>
                  <a:schemeClr val="bg1"/>
                </a:solidFill>
              </a:rPr>
              <a:t>🔜 Next version</a:t>
            </a:r>
          </a:p>
        </p:txBody>
      </p:sp>
      <p:sp>
        <p:nvSpPr>
          <p:cNvPr id="115" name="Rectangle 114"/>
          <p:cNvSpPr/>
          <p:nvPr/>
        </p:nvSpPr>
        <p:spPr>
          <a:xfrm>
            <a:off x="7699248" y="5596128"/>
            <a:ext cx="4023360" cy="301752"/>
          </a:xfrm>
          <a:prstGeom prst="rect">
            <a:avLst/>
          </a:prstGeom>
          <a:solidFill>
            <a:srgbClr val="0F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7790688" y="5641848"/>
            <a:ext cx="3886200" cy="261610"/>
          </a:xfrm>
          <a:prstGeom prst="rect">
            <a:avLst/>
          </a:prstGeom>
          <a:noFill/>
        </p:spPr>
        <p:txBody>
          <a:bodyPr wrap="square">
            <a:spAutoFit/>
          </a:bodyPr>
          <a:lstStyle/>
          <a:p>
            <a:pPr algn="l"/>
            <a:r>
              <a:rPr sz="1100" b="0" i="0">
                <a:solidFill>
                  <a:schemeClr val="bg1"/>
                </a:solidFill>
              </a:rPr>
              <a:t>⚠️ Enterprise add-on</a:t>
            </a:r>
          </a:p>
        </p:txBody>
      </p:sp>
      <p:cxnSp>
        <p:nvCxnSpPr>
          <p:cNvPr id="117" name="Connector 116"/>
          <p:cNvCxnSpPr/>
          <p:nvPr/>
        </p:nvCxnSpPr>
        <p:spPr>
          <a:xfrm>
            <a:off x="256032" y="5596128"/>
            <a:ext cx="11466576" cy="0"/>
          </a:xfrm>
          <a:prstGeom prst="line">
            <a:avLst/>
          </a:prstGeom>
          <a:ln w="6350">
            <a:solidFill>
              <a:srgbClr val="1E354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256032" y="987552"/>
            <a:ext cx="0" cy="4910328"/>
          </a:xfrm>
          <a:prstGeom prst="line">
            <a:avLst/>
          </a:prstGeom>
          <a:ln w="19050">
            <a:solidFill>
              <a:srgbClr val="296A9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3566160" y="987552"/>
            <a:ext cx="0" cy="4910328"/>
          </a:xfrm>
          <a:prstGeom prst="line">
            <a:avLst/>
          </a:prstGeom>
          <a:ln w="19050">
            <a:solidFill>
              <a:srgbClr val="296A9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699248" y="987552"/>
            <a:ext cx="0" cy="4910328"/>
          </a:xfrm>
          <a:prstGeom prst="line">
            <a:avLst/>
          </a:prstGeom>
          <a:ln w="19050">
            <a:solidFill>
              <a:srgbClr val="296A9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1722608" y="987552"/>
            <a:ext cx="0" cy="4910328"/>
          </a:xfrm>
          <a:prstGeom prst="line">
            <a:avLst/>
          </a:prstGeom>
          <a:ln w="19050">
            <a:solidFill>
              <a:srgbClr val="296A9E"/>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0" y="6729984"/>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74320" y="6675120"/>
            <a:ext cx="7315200" cy="228600"/>
          </a:xfrm>
          <a:prstGeom prst="rect">
            <a:avLst/>
          </a:prstGeom>
          <a:noFill/>
        </p:spPr>
        <p:txBody>
          <a:bodyPr wrap="square">
            <a:spAutoFit/>
          </a:bodyPr>
          <a:lstStyle/>
          <a:p>
            <a:pPr algn="l"/>
            <a:r>
              <a:rPr sz="700" b="0" i="0">
                <a:solidFill>
                  <a:srgbClr val="B0BEC5"/>
                </a:solidFill>
              </a:rPr>
              <a:t>Capgemini AI Data Platform  |  Confidential</a:t>
            </a:r>
          </a:p>
        </p:txBody>
      </p:sp>
      <p:sp>
        <p:nvSpPr>
          <p:cNvPr id="124" name="TextBox 123"/>
          <p:cNvSpPr txBox="1"/>
          <p:nvPr/>
        </p:nvSpPr>
        <p:spPr>
          <a:xfrm>
            <a:off x="11430000" y="6675120"/>
            <a:ext cx="731520" cy="228600"/>
          </a:xfrm>
          <a:prstGeom prst="rect">
            <a:avLst/>
          </a:prstGeom>
          <a:noFill/>
        </p:spPr>
        <p:txBody>
          <a:bodyPr wrap="square">
            <a:spAutoFit/>
          </a:bodyPr>
          <a:lstStyle/>
          <a:p>
            <a:pPr algn="r"/>
            <a:r>
              <a:rPr sz="700" b="0" i="0">
                <a:solidFill>
                  <a:srgbClr val="B0BEC5"/>
                </a:solidFill>
              </a:rPr>
              <a:t>7 / 12</a:t>
            </a:r>
          </a:p>
        </p:txBody>
      </p:sp>
      <p:sp>
        <p:nvSpPr>
          <p:cNvPr id="5" name="Date Placeholder 4">
            <a:extLst>
              <a:ext uri="{FF2B5EF4-FFF2-40B4-BE49-F238E27FC236}">
                <a16:creationId xmlns:a16="http://schemas.microsoft.com/office/drawing/2014/main" id="{10A78630-A094-DB54-0DC5-9127DB865150}"/>
              </a:ext>
            </a:extLst>
          </p:cNvPr>
          <p:cNvSpPr>
            <a:spLocks noGrp="1"/>
          </p:cNvSpPr>
          <p:nvPr>
            <p:ph type="dt" sz="half" idx="10"/>
          </p:nvPr>
        </p:nvSpPr>
        <p:spPr/>
        <p:txBody>
          <a:bodyPr/>
          <a:lstStyle/>
          <a:p>
            <a:r>
              <a:rPr lang="en-IN"/>
              <a:t>Company Confidential © Capgemini 2026. All rights reserved.</a:t>
            </a:r>
            <a:endParaRPr lang="en-US"/>
          </a:p>
        </p:txBody>
      </p:sp>
      <p:sp>
        <p:nvSpPr>
          <p:cNvPr id="9" name="Footer Placeholder 8">
            <a:extLst>
              <a:ext uri="{FF2B5EF4-FFF2-40B4-BE49-F238E27FC236}">
                <a16:creationId xmlns:a16="http://schemas.microsoft.com/office/drawing/2014/main" id="{C840C83E-A284-C753-5A0C-1625C8D12A4B}"/>
              </a:ext>
            </a:extLst>
          </p:cNvPr>
          <p:cNvSpPr>
            <a:spLocks noGrp="1"/>
          </p:cNvSpPr>
          <p:nvPr>
            <p:ph type="ftr" sz="quarter" idx="11"/>
          </p:nvPr>
        </p:nvSpPr>
        <p:spPr/>
        <p:txBody>
          <a:bodyPr/>
          <a:lstStyle/>
          <a:p>
            <a:r>
              <a:rPr lang="en-US"/>
              <a:t>AI Data Copilot - AskData</a:t>
            </a:r>
          </a:p>
        </p:txBody>
      </p:sp>
      <p:sp>
        <p:nvSpPr>
          <p:cNvPr id="125" name="Slide Number Placeholder 124">
            <a:extLst>
              <a:ext uri="{FF2B5EF4-FFF2-40B4-BE49-F238E27FC236}">
                <a16:creationId xmlns:a16="http://schemas.microsoft.com/office/drawing/2014/main" id="{43B679E7-D877-9108-2508-A7F5B24B7FA9}"/>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heme/theme1.xml><?xml version="1.0" encoding="utf-8"?>
<a:theme xmlns:a="http://schemas.openxmlformats.org/drawingml/2006/main" name="Capgemini_Bright_2025">
  <a:themeElements>
    <a:clrScheme name="New Brand October 2025">
      <a:dk1>
        <a:srgbClr val="000000"/>
      </a:dk1>
      <a:lt1>
        <a:srgbClr val="FFFFFF"/>
      </a:lt1>
      <a:dk2>
        <a:srgbClr val="0057AB"/>
      </a:dk2>
      <a:lt2>
        <a:srgbClr val="FFFFFF"/>
      </a:lt2>
      <a:accent1>
        <a:srgbClr val="1DB6F3"/>
      </a:accent1>
      <a:accent2>
        <a:srgbClr val="111937"/>
      </a:accent2>
      <a:accent3>
        <a:srgbClr val="00828E"/>
      </a:accent3>
      <a:accent4>
        <a:srgbClr val="BE4D01"/>
      </a:accent4>
      <a:accent5>
        <a:srgbClr val="903137"/>
      </a:accent5>
      <a:accent6>
        <a:srgbClr val="725F9F"/>
      </a:accent6>
      <a:hlink>
        <a:srgbClr val="0058AB"/>
      </a:hlink>
      <a:folHlink>
        <a:srgbClr val="1DB7F3"/>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Lst>
  <a:extLst>
    <a:ext uri="{05A4C25C-085E-4340-85A3-A5531E510DB2}">
      <thm15:themeFamily xmlns:thm15="http://schemas.microsoft.com/office/thememl/2012/main" name="Capgemini_PPT-template_Master_November-2-2025" id="{96EA64C5-76B7-4D4A-9670-4F7B5ED506A3}" vid="{D5BE8CDC-35EF-B948-AD1F-F46C784ABE69}"/>
    </a:ext>
  </a:extLst>
</a:theme>
</file>

<file path=ppt/theme/theme2.xml><?xml version="1.0" encoding="utf-8"?>
<a:theme xmlns:a="http://schemas.openxmlformats.org/drawingml/2006/main" name="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2024 Invent Template" id="{94B3BD2B-4D4C-4914-8118-7264ADF23EBF}" vid="{BEEB6533-167C-4C81-83A7-AE7414378E7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3582</TotalTime>
  <Words>1143</Words>
  <Application>Microsoft Office PowerPoint</Application>
  <PresentationFormat>Custom</PresentationFormat>
  <Paragraphs>303</Paragraphs>
  <Slides>14</Slides>
  <Notes>2</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14</vt:i4>
      </vt:variant>
    </vt:vector>
  </HeadingPairs>
  <TitlesOfParts>
    <vt:vector size="26" baseType="lpstr">
      <vt:lpstr>Aptos</vt:lpstr>
      <vt:lpstr>Arial</vt:lpstr>
      <vt:lpstr>Segoe UI</vt:lpstr>
      <vt:lpstr>System Font Regular</vt:lpstr>
      <vt:lpstr>Times New Roman</vt:lpstr>
      <vt:lpstr>Ubuntu</vt:lpstr>
      <vt:lpstr>Ubuntu Light</vt:lpstr>
      <vt:lpstr>Ubuntu Medium</vt:lpstr>
      <vt:lpstr>Verdana</vt:lpstr>
      <vt:lpstr>Wingdings</vt:lpstr>
      <vt:lpstr>Capgemini_Bright_2025</vt:lpstr>
      <vt:lpstr>Capgemini_2024</vt:lpstr>
      <vt:lpstr>AI Data Platform - AskDB</vt:lpstr>
      <vt:lpstr>Agenda</vt:lpstr>
      <vt:lpstr>Business Problem</vt:lpstr>
      <vt:lpstr>PowerPoint Presentation</vt:lpstr>
      <vt:lpstr>How User Questions Become Business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KONDHALKAR, RAHUL</cp:lastModifiedBy>
  <cp:revision>12</cp:revision>
  <dcterms:created xsi:type="dcterms:W3CDTF">2013-01-27T09:14:16Z</dcterms:created>
  <dcterms:modified xsi:type="dcterms:W3CDTF">2026-07-10T06:44:31Z</dcterms:modified>
  <cp:category/>
</cp:coreProperties>
</file>