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EA5E9"/>
                </a:solidFill>
                <a:latin typeface="Aptos"/>
              </a:defRPr>
            </a:pPr>
            <a:r>
              <a:t>ASK-DB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tos"/>
              </a:defRPr>
            </a:pPr>
            <a:r>
              <a:t>CFO Quarterly Results · Q1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94A3B8"/>
                </a:solidFill>
                <a:latin typeface="Aptos"/>
              </a:defRPr>
            </a:pPr>
            <a:r>
              <a:t>Financial performance, claims, capital, outlook and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17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Aptos"/>
              </a:defRPr>
            </a:pPr>
            <a:r>
              <a:t>INS-CFO-Q1-2026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86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97706"/>
                </a:solidFill>
                <a:latin typeface="Aptos"/>
              </a:defRPr>
            </a:pPr>
            <a:r>
              <a:t>SYNTHETIC DEMO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4348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Created solely to demonstrate PowerPoint RAG and cited narration.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Q1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Gross written premium reached ₹1.24B, 6.0% above Q4 2025.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Loss ratio closed at 62.0%; Motor remained the largest source of volatility.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Combined ratio was 90.1%, within the CFO operating threshold of below 95%.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Renewal rate improved to 78.2%, supported by digital reminders.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Quarterly 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Governed finance and insurance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GWP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Aptos"/>
              </a:defRPr>
            </a:pPr>
            <a:r>
              <a:t>₹1.24B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Earned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A5E9"/>
                </a:solidFill>
                <a:latin typeface="Aptos"/>
              </a:defRPr>
            </a:pPr>
            <a:r>
              <a:t>₹1.10B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Claims incurred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Aptos"/>
              </a:defRPr>
            </a:pPr>
            <a:r>
              <a:t>₹682M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417320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1" y="16002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Claims 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1" y="198424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Aptos"/>
              </a:defRPr>
            </a:pPr>
            <a:r>
              <a:t>₹510M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Claim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563EB"/>
                </a:solidFill>
                <a:latin typeface="Aptos"/>
              </a:defRPr>
            </a:pPr>
            <a:r>
              <a:t>18,400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Loss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97706"/>
                </a:solidFill>
                <a:latin typeface="Aptos"/>
              </a:defRPr>
            </a:pPr>
            <a:r>
              <a:t>62.0%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Combined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ptos"/>
              </a:defRPr>
            </a:pPr>
            <a:r>
              <a:t>90.1%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39" y="3520439"/>
            <a:ext cx="2514600" cy="16916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1" y="37033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Renewal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1" y="408736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EA5E9"/>
                </a:solidFill>
                <a:latin typeface="Aptos"/>
              </a:defRPr>
            </a:pPr>
            <a:r>
              <a:t>78.2%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Severity ₹37.1K · Approval 83.4% · Settlement 17.8 days · Expense ratio 28.1%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Performance by line of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Q1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11201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Line of business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GWP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Earned premium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Loss ratio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CFO comment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Motor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₹610M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₹540M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Repair inflation remains elevated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₹390M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₹350M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Stable utilization and pricing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₹240M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₹210M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Benign catastrophe experience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Regional claims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Q1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9611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GWP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Loss ratio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Claim cycle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₹360M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18.4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₹335M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19.1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₹315M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15.8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On plan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₹230M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17.2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On plan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Claims and underwriting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Q1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Motor own-damage severity increased due to parts and labour inflation.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Digital first-notice-of-loss reduced simple-claim handling time by 1.6 days.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No material catastrophe event was recorded in the quarter.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Reserve review found no material adverse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ptos"/>
              </a:defRPr>
            </a:pPr>
            <a:r>
              <a:t>Capital, liquidity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Q1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Solvency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A34A"/>
                </a:solidFill>
                <a:latin typeface="Aptos"/>
              </a:defRPr>
            </a:pPr>
            <a:r>
              <a:t>1.82×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Cash and liquid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A5E9"/>
                </a:solidFill>
                <a:latin typeface="Aptos"/>
              </a:defRPr>
            </a:pPr>
            <a:r>
              <a:t>₹2.08B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Aptos"/>
              </a:defRPr>
            </a:pPr>
            <a:r>
              <a:t>Management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241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Renegotiate preferred repair-network rates before the Q2 renewal cycle.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Expand straight-through processing for low-value motor claims.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Maintain pricing discipline in West and North motor portfolios.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Target a Q2 combined ratio below 92% and settlement time below 18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Aptos"/>
              </a:defRPr>
            </a:pPr>
            <a:r>
              <a:t>INS-CFO-Q1-2026 · SYNTHETIC DEMO DATA — NOT A REAL COMPANY DISCLOSURE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