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7772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7DAEF"/>
                </a:solidFill>
                <a:latin typeface="Aptos"/>
              </a:rPr>
              <a:t>CAPGEMINI INVENT  |  AI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126480" cy="9601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EBF2FC"/>
                </a:solidFill>
                <a:latin typeface="Aptos"/>
              </a:rPr>
              <a:t>AskDB</a:t>
            </a:r>
          </a:p>
        </p:txBody>
      </p:sp>
      <p:sp>
        <p:nvSpPr>
          <p:cNvPr id="5" name="Oval 4"/>
          <p:cNvSpPr/>
          <p:nvPr/>
        </p:nvSpPr>
        <p:spPr>
          <a:xfrm>
            <a:off x="7059168" y="1554480"/>
            <a:ext cx="457200" cy="45720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5-Point Star 5"/>
          <p:cNvSpPr/>
          <p:nvPr/>
        </p:nvSpPr>
        <p:spPr>
          <a:xfrm>
            <a:off x="7178040" y="1673352"/>
            <a:ext cx="219456" cy="219456"/>
          </a:xfrm>
          <a:prstGeom prst="star5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640080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D8E1EE"/>
                </a:solidFill>
                <a:latin typeface="Aptos"/>
              </a:rPr>
              <a:t>From natural-language questions
to trusted 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6035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7A4B7"/>
                </a:solidFill>
                <a:latin typeface="Aptos"/>
              </a:rPr>
              <a:t>An AI-powered analytics experience for enterprise data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36592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1B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4754879"/>
            <a:ext cx="200253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C9DFF"/>
                </a:solidFill>
                <a:latin typeface="Aptos"/>
              </a:rPr>
              <a:t>NATURAL LANGUAGE TO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473659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16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5224" y="4754879"/>
            <a:ext cx="154533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DAB2"/>
                </a:solidFill>
                <a:latin typeface="Aptos"/>
              </a:rPr>
              <a:t>SEMANTIC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864" y="4736592"/>
            <a:ext cx="2240280" cy="292608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362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4754879"/>
            <a:ext cx="218541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AB52"/>
                </a:solidFill>
                <a:latin typeface="Aptos"/>
              </a:rPr>
              <a:t>DATA TRUST &amp;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960120"/>
            <a:ext cx="3429000" cy="45262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49640" y="141732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22792" y="149047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Ask a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783080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Plain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56032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2792" y="263347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Understand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26079"/>
            <a:ext cx="1783080" cy="36575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Semantic model +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822191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22792" y="3895344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Deliver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187952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SQL • result • chart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37192" y="2103120"/>
            <a:ext cx="0" cy="429768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37192" y="3337560"/>
            <a:ext cx="0" cy="45720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446520"/>
            <a:ext cx="5029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19088"/>
            <a:ext cx="2194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EBF2FC"/>
                </a:solidFill>
                <a:latin typeface="Aptos"/>
              </a:rPr>
              <a:t>Capgemini  Invent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AskDB makes governed enterprise data easier to explore without requiring every user to write SQL.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554480"/>
            <a:ext cx="64008" cy="187451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80360" y="1682495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5-Point Star 13"/>
          <p:cNvSpPr/>
          <p:nvPr/>
        </p:nvSpPr>
        <p:spPr>
          <a:xfrm>
            <a:off x="2951683" y="1753819"/>
            <a:ext cx="131673" cy="131673"/>
          </a:xfrm>
          <a:prstGeom prst="star5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1691639"/>
            <a:ext cx="2084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Ask in business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084831"/>
            <a:ext cx="248716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Users ask questions in plain English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Follow-up questions can refine analysis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Designed for business and data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55448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1554480"/>
            <a:ext cx="64008" cy="1874519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06440" y="1682495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5877763" y="1753819"/>
            <a:ext cx="131673" cy="131673"/>
          </a:xfrm>
          <a:prstGeom prst="hexagon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9312" y="1691639"/>
            <a:ext cx="2084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Ground answers in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2084831"/>
            <a:ext cx="248716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Semantic model defines measures and joins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Schema and business terms guide SQL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Validation before query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554480"/>
            <a:ext cx="2423160" cy="1874519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64008" cy="1874519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80" y="1682495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Up Arrow 25"/>
          <p:cNvSpPr/>
          <p:nvPr/>
        </p:nvSpPr>
        <p:spPr>
          <a:xfrm>
            <a:off x="8483803" y="1753819"/>
            <a:ext cx="131673" cy="131673"/>
          </a:xfrm>
          <a:prstGeom prst="upArrow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1691639"/>
            <a:ext cx="176479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Explore the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084831"/>
            <a:ext cx="216712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Tables and charts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Executive KPIs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Analytical rankings and trends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554480"/>
            <a:ext cx="2606040" cy="1874519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840" y="1554480"/>
            <a:ext cx="64008" cy="1874519"/>
          </a:xfrm>
          <a:prstGeom prst="rect">
            <a:avLst/>
          </a:prstGeom>
          <a:solidFill>
            <a:srgbClr val="FFAB52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201399" y="1682495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entagon 31"/>
          <p:cNvSpPr/>
          <p:nvPr/>
        </p:nvSpPr>
        <p:spPr>
          <a:xfrm>
            <a:off x="11272723" y="1753819"/>
            <a:ext cx="131673" cy="131673"/>
          </a:xfrm>
          <a:prstGeom prst="homePlate">
            <a:avLst/>
          </a:prstGeom>
          <a:solidFill>
            <a:srgbClr val="FFAB52"/>
          </a:solidFill>
          <a:ln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71432" y="1691639"/>
            <a:ext cx="194767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Operate with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084831"/>
            <a:ext cx="235000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Role-based access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Usage and cost visibility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Data-quality monitoring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886200"/>
            <a:ext cx="11064240" cy="1325880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15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133087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PRODUCT POSITIONING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462272"/>
            <a:ext cx="10241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BF2FC"/>
                </a:solidFill>
                <a:latin typeface="Aptos"/>
              </a:rPr>
              <a:t>A governed natural-language analytics layer over enterprise data — not a replacement for the warehouse, semantic definitions, or data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Business teams need answers quickly, while data teams need accuracy, reuse and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64008" cy="132588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640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entagon 13"/>
          <p:cNvSpPr/>
          <p:nvPr/>
        </p:nvSpPr>
        <p:spPr>
          <a:xfrm>
            <a:off x="5557723" y="1799539"/>
            <a:ext cx="131673" cy="131673"/>
          </a:xfrm>
          <a:prstGeom prst="homePlate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1737360"/>
            <a:ext cx="46451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Access barrier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130552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8E1EE"/>
                </a:solidFill>
                <a:latin typeface="Aptos"/>
              </a:rPr>
              <a:t>Business users depend on SQL skills or ticket queues.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64008" cy="132588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0996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81283" y="1799539"/>
            <a:ext cx="131673" cy="131673"/>
          </a:xfrm>
          <a:prstGeom prst="ellipse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737360"/>
            <a:ext cx="46451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Repeated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130552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8E1EE"/>
                </a:solidFill>
                <a:latin typeface="Aptos"/>
              </a:rPr>
              <a:t>Similar questions are rebuilt by analysts again and again.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9184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291840"/>
            <a:ext cx="64008" cy="1325880"/>
          </a:xfrm>
          <a:prstGeom prst="rect">
            <a:avLst/>
          </a:prstGeom>
          <a:solidFill>
            <a:srgbClr val="FFAB52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86400" y="341985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557723" y="3491179"/>
            <a:ext cx="131673" cy="131673"/>
          </a:xfrm>
          <a:prstGeom prst="ellipse">
            <a:avLst/>
          </a:prstGeom>
          <a:solidFill>
            <a:srgbClr val="FFAB52"/>
          </a:solidFill>
          <a:ln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3429000"/>
            <a:ext cx="46451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Metric ambiguity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3822191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8E1EE"/>
                </a:solidFill>
                <a:latin typeface="Aptos"/>
              </a:rPr>
              <a:t>“Sales”, “top model” and time periods can mean different things.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9184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291840"/>
            <a:ext cx="64008" cy="132588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109960" y="341985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entagon 31"/>
          <p:cNvSpPr/>
          <p:nvPr/>
        </p:nvSpPr>
        <p:spPr>
          <a:xfrm>
            <a:off x="11181283" y="3491179"/>
            <a:ext cx="131673" cy="131673"/>
          </a:xfrm>
          <a:prstGeom prst="homePlate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3429000"/>
            <a:ext cx="46451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Trust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822191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8E1EE"/>
                </a:solidFill>
                <a:latin typeface="Aptos"/>
              </a:rPr>
              <a:t>Answers need clear definitions, safe access and validation.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349240"/>
            <a:ext cx="1554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DESIRED 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285232"/>
            <a:ext cx="88696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BF2FC"/>
                </a:solidFill>
                <a:latin typeface="Aptos"/>
              </a:rPr>
              <a:t>Shorten the path from question → validated query → understandable insight.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AskDB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A guided workflow combines business language, semantic context, query controls and visual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7DAE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Natural-language question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03704" y="2852928"/>
            <a:ext cx="201168" cy="0"/>
          </a:xfrm>
          <a:prstGeom prst="line">
            <a:avLst/>
          </a:prstGeom>
          <a:ln w="1905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41448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51176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C9D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Interpret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1176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Identify intent, measures, dimensions and time range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42232" y="2852928"/>
            <a:ext cx="201168" cy="0"/>
          </a:xfrm>
          <a:prstGeom prst="line">
            <a:avLst/>
          </a:prstGeom>
          <a:ln w="1905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79976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9704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1DAB2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Use semantic definitions and allowed relationships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852928"/>
            <a:ext cx="201168" cy="0"/>
          </a:xfrm>
          <a:prstGeom prst="line">
            <a:avLst/>
          </a:prstGeom>
          <a:ln w="1905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18504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AB52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Generate &amp; 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Create SQL, check safety and query structure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19288" y="2852928"/>
            <a:ext cx="201168" cy="0"/>
          </a:xfrm>
          <a:prstGeom prst="line">
            <a:avLst/>
          </a:prstGeom>
          <a:ln w="1905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57032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C9D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Execute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Run against the connected data platform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57816" y="2852928"/>
            <a:ext cx="201168" cy="0"/>
          </a:xfrm>
          <a:prstGeom prst="line">
            <a:avLst/>
          </a:prstGeom>
          <a:ln w="1905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95560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05288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7DAEF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Explain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05288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Return results with table, chart or narrative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434840"/>
            <a:ext cx="10744200" cy="822960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15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4617720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DESIGN PRINCIPLE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572000"/>
            <a:ext cx="8458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BF2FC"/>
                </a:solidFill>
                <a:latin typeface="Aptos"/>
              </a:rPr>
              <a:t>AI supports flexible interpretation; semantic rules and validation protect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Illustrative current-state architecture — confirm deployment-specific connectors and controls before presenting as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USER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React 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Chat • dashboards •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481328"/>
            <a:ext cx="20116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APPLICATION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Node.js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Auth •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62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AI / SQL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Prompt context •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481328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INTELLIGENCE &amp;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48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Semantic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YAML measures • joins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8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LLM 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Configurable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3977639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48072" y="405079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59" y="434340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RBAC • quotas •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1481328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DATA &amp; OBSERVABILITY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34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Automotive sales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34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Data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DQ rules • quality scores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3977639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34072" y="405079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Entity catalog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34340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Values • refresh metadata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78608" y="2157984"/>
            <a:ext cx="164592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67328" y="2560320"/>
            <a:ext cx="0" cy="27432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73168" y="3246120"/>
            <a:ext cx="256032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53328" y="2560320"/>
            <a:ext cx="0" cy="27432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59168" y="2157984"/>
            <a:ext cx="256032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59168" y="3246120"/>
            <a:ext cx="256032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059168" y="4343400"/>
            <a:ext cx="256032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767328" y="3657600"/>
            <a:ext cx="0" cy="548640"/>
          </a:xfrm>
          <a:prstGeom prst="line">
            <a:avLst/>
          </a:prstGeom>
          <a:ln w="22860">
            <a:solidFill>
              <a:srgbClr val="30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5800" y="525780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Keep the semantic layer and server-side authorization between users, model-generated SQL and protected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Natural language 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Example journey: “Show the top 5 vehicle models by revenue this quarter.”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1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Top 5 models by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Semantic grounding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Revenue • model • quarter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SQL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Group, filter, rank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Safety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Allow-list • limits •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57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Ranked table + chart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87168" y="2286000"/>
            <a:ext cx="384048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73168" y="2286000"/>
            <a:ext cx="384048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59168" y="2286000"/>
            <a:ext cx="384048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45168" y="2286000"/>
            <a:ext cx="384048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3657600"/>
            <a:ext cx="64008" cy="1234440"/>
          </a:xfrm>
          <a:prstGeom prst="rect">
            <a:avLst/>
          </a:prstGeom>
          <a:solidFill>
            <a:srgbClr val="FFAB52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749039" y="3785615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820363" y="3856939"/>
            <a:ext cx="131673" cy="131673"/>
          </a:xfrm>
          <a:prstGeom prst="ellipse">
            <a:avLst/>
          </a:prstGeom>
          <a:solidFill>
            <a:srgbClr val="FFAB52"/>
          </a:solidFill>
          <a:ln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7947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When intent is ambiguous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Ask a focused clarification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Offer likely metric or entity choices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120" y="3657600"/>
            <a:ext cx="64008" cy="123444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406640" y="3785615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477963" y="3856939"/>
            <a:ext cx="131673" cy="131673"/>
          </a:xfrm>
          <a:prstGeom prst="ellipse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53712" y="37947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When SQL is invalid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Validate and repair if safe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Use a controlled fallback or explain failure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46720" y="3657600"/>
            <a:ext cx="64008" cy="123444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064240" y="3785615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Diamond 44"/>
          <p:cNvSpPr/>
          <p:nvPr/>
        </p:nvSpPr>
        <p:spPr>
          <a:xfrm>
            <a:off x="11135563" y="3856939"/>
            <a:ext cx="131673" cy="131673"/>
          </a:xfrm>
          <a:prstGeom prst="diamond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11312" y="37947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When data is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Apply authorization server-side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Do not rely on UI filters alone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AI Chat: the primary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A focused question-and-answer workspace for business users and analysts.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08760"/>
            <a:ext cx="7452360" cy="4434840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1719072"/>
            <a:ext cx="7086600" cy="438912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819656"/>
            <a:ext cx="3840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BF2FC"/>
                </a:solidFill>
                <a:latin typeface="Aptos"/>
              </a:rPr>
              <a:t>AskDB  •  Automotive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50592"/>
            <a:ext cx="5074920" cy="566928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1B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2596896"/>
            <a:ext cx="47091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BF2FC"/>
                </a:solidFill>
                <a:latin typeface="Aptos"/>
              </a:rPr>
              <a:t>Which 5 models generated the most revenue this quarter?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6583680" cy="14630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401568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Top models by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49039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7A4B7"/>
                </a:solidFill>
                <a:latin typeface="Aptos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49039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7A4B7"/>
                </a:solidFill>
                <a:latin typeface="Aptos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68496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E"/>
                </a:solidFill>
                <a:latin typeface="Aptos"/>
              </a:rPr>
              <a:t>Model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968496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E"/>
                </a:solidFill>
                <a:latin typeface="Aptos"/>
              </a:rPr>
              <a:t>₹ 12.4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87952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E"/>
                </a:solidFill>
                <a:latin typeface="Aptos"/>
              </a:rPr>
              <a:t>Model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187952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E"/>
                </a:solidFill>
                <a:latin typeface="Aptos"/>
              </a:rPr>
              <a:t>₹ 10.8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07407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E"/>
                </a:solidFill>
                <a:latin typeface="Aptos"/>
              </a:rPr>
              <a:t>Model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407407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E"/>
                </a:solidFill>
                <a:latin typeface="Aptos"/>
              </a:rPr>
              <a:t>₹ 9.6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83480"/>
            <a:ext cx="3017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AEF"/>
                </a:solidFill>
                <a:latin typeface="Aptos"/>
              </a:rPr>
              <a:t>Table  |  Chart  | 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96128"/>
            <a:ext cx="6766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97A4B7"/>
                </a:solidFill>
                <a:latin typeface="Aptos"/>
              </a:rPr>
              <a:t>Illustrative UI mock-up — values are placeholders, not live results.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160020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1600200"/>
            <a:ext cx="64008" cy="105156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06424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5-Point Star 30"/>
          <p:cNvSpPr/>
          <p:nvPr/>
        </p:nvSpPr>
        <p:spPr>
          <a:xfrm>
            <a:off x="11135563" y="1799539"/>
            <a:ext cx="131673" cy="131673"/>
          </a:xfrm>
          <a:prstGeom prst="star5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85632" y="1737360"/>
            <a:ext cx="249631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Conversation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13055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8E1EE"/>
                </a:solidFill>
                <a:latin typeface="Aptos"/>
              </a:defRPr>
            </a:pPr>
            <a:r>
              <a:t>•  Ask follow-ups in context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283464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2834640"/>
            <a:ext cx="64008" cy="105156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064240" y="296265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135563" y="3033979"/>
            <a:ext cx="131673" cy="131673"/>
          </a:xfrm>
          <a:prstGeom prst="ellipse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85632" y="2971800"/>
            <a:ext cx="249631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Answer formats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36499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8E1EE"/>
                </a:solidFill>
                <a:latin typeface="Aptos"/>
              </a:defRPr>
            </a:pPr>
            <a:r>
              <a:t>•  Table, chart and SQL visibility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406908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321040" y="4069080"/>
            <a:ext cx="64008" cy="105156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064240" y="419709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135563" y="4268419"/>
            <a:ext cx="131673" cy="131673"/>
          </a:xfrm>
          <a:prstGeom prst="ellipse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85632" y="4206240"/>
            <a:ext cx="249631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Reliability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59943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8E1EE"/>
                </a:solidFill>
                <a:latin typeface="Aptos"/>
              </a:defRPr>
            </a:pPr>
            <a:r>
              <a:t>•  Clarify ambiguity; validate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Executive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A high-level view of performance with filters and drill-down into business dimensions.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7A4B7"/>
                </a:solidFill>
                <a:latin typeface="Aptos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BF2FC"/>
                </a:solidFill>
                <a:latin typeface="Aptos"/>
              </a:rPr>
              <a:t>₹ 128.6 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7A4B7"/>
                </a:solidFill>
                <a:latin typeface="Aptos"/>
              </a:rPr>
              <a:t>Units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BF2FC"/>
                </a:solidFill>
                <a:latin typeface="Aptos"/>
              </a:rPr>
              <a:t>42,810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792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7A4B7"/>
                </a:solidFill>
                <a:latin typeface="Aptos"/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BF2FC"/>
                </a:solidFill>
                <a:latin typeface="Aptos"/>
              </a:rPr>
              <a:t>38,240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61503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7A4B7"/>
                </a:solidFill>
                <a:latin typeface="Aptos"/>
              </a:rPr>
              <a:t>Top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3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BF2FC"/>
                </a:solidFill>
                <a:latin typeface="Aptos"/>
              </a:rPr>
              <a:t>Model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9488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9215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7A4B7"/>
                </a:solidFill>
                <a:latin typeface="Aptos"/>
              </a:rPr>
              <a:t>Top Make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5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BF2FC"/>
                </a:solidFill>
                <a:latin typeface="Aptos"/>
              </a:rPr>
              <a:t>Make 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743200"/>
            <a:ext cx="6629400" cy="251460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2907792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Revenue by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3749039"/>
            <a:ext cx="3383280" cy="347472"/>
          </a:xfrm>
          <a:prstGeom prst="roundRect">
            <a:avLst>
              <a:gd name="adj" fmla="val 12000"/>
            </a:avLst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5840" y="4279392"/>
            <a:ext cx="2743200" cy="347472"/>
          </a:xfrm>
          <a:prstGeom prst="roundRect">
            <a:avLst>
              <a:gd name="adj" fmla="val 12000"/>
            </a:avLst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5840" y="4809744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3776472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Model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306824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Model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837176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Model 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2743200"/>
            <a:ext cx="4069080" cy="2514600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0" y="2926080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Filters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364992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09560" y="3401568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Date range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3758184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09560" y="3794760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Region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151376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09560" y="4187952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Make / brand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544568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09560" y="4581144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Vehicle 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77840"/>
            <a:ext cx="105156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97A4B7"/>
                </a:solidFill>
                <a:latin typeface="Aptos"/>
              </a:rPr>
              <a:t>Illustrative layout and sample values only. Replace with verified live metrics before external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Analytics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Move beyond simple totals to reusable analytical patterns with explicit metric and filter semantics.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64008" cy="128016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5760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Up Arrow 13"/>
          <p:cNvSpPr/>
          <p:nvPr/>
        </p:nvSpPr>
        <p:spPr>
          <a:xfrm>
            <a:off x="3728923" y="1799539"/>
            <a:ext cx="131673" cy="131673"/>
          </a:xfrm>
          <a:prstGeom prst="upArrow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1EE"/>
                </a:solidFill>
                <a:latin typeface="Aptos"/>
              </a:rPr>
              <a:t>Revenue, units, order 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1600200"/>
            <a:ext cx="64008" cy="128016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5236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Up Arrow 19"/>
          <p:cNvSpPr/>
          <p:nvPr/>
        </p:nvSpPr>
        <p:spPr>
          <a:xfrm>
            <a:off x="7523683" y="1799539"/>
            <a:ext cx="131673" cy="131673"/>
          </a:xfrm>
          <a:prstGeom prst="upArrow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5371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Trend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1EE"/>
                </a:solidFill>
                <a:latin typeface="Aptos"/>
              </a:rPr>
              <a:t>Month-on-month and year-on-year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3880" y="1600200"/>
            <a:ext cx="64008" cy="128016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24711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Up Arrow 25"/>
          <p:cNvSpPr/>
          <p:nvPr/>
        </p:nvSpPr>
        <p:spPr>
          <a:xfrm>
            <a:off x="11318443" y="1799539"/>
            <a:ext cx="131673" cy="131673"/>
          </a:xfrm>
          <a:prstGeom prst="upArrow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1EE"/>
                </a:solidFill>
                <a:latin typeface="Aptos"/>
              </a:rPr>
              <a:t>Top N, dense rank, rank within make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3246120"/>
            <a:ext cx="64008" cy="1280160"/>
          </a:xfrm>
          <a:prstGeom prst="rect">
            <a:avLst/>
          </a:prstGeom>
          <a:solidFill>
            <a:srgbClr val="FFAB52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57600" y="337413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Up Arrow 31"/>
          <p:cNvSpPr/>
          <p:nvPr/>
        </p:nvSpPr>
        <p:spPr>
          <a:xfrm>
            <a:off x="3728923" y="3445459"/>
            <a:ext cx="131673" cy="131673"/>
          </a:xfrm>
          <a:prstGeom prst="upArrow">
            <a:avLst/>
          </a:prstGeom>
          <a:solidFill>
            <a:srgbClr val="FFAB52"/>
          </a:solidFill>
          <a:ln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3383279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Running calculations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1EE"/>
                </a:solidFill>
                <a:latin typeface="Aptos"/>
              </a:rPr>
              <a:t>Running totals and moving averages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3246120"/>
            <a:ext cx="64008" cy="128016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452360" y="337413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Up Arrow 37"/>
          <p:cNvSpPr/>
          <p:nvPr/>
        </p:nvSpPr>
        <p:spPr>
          <a:xfrm>
            <a:off x="7523683" y="3445459"/>
            <a:ext cx="131673" cy="131673"/>
          </a:xfrm>
          <a:prstGeom prst="upArrow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53712" y="3383279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Variance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1EE"/>
                </a:solidFill>
                <a:latin typeface="Aptos"/>
              </a:rPr>
              <a:t>Actual vs target and percentage variance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8388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83880" y="3246120"/>
            <a:ext cx="64008" cy="128016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47119" y="337413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Up Arrow 43"/>
          <p:cNvSpPr/>
          <p:nvPr/>
        </p:nvSpPr>
        <p:spPr>
          <a:xfrm>
            <a:off x="11318443" y="3445459"/>
            <a:ext cx="131673" cy="131673"/>
          </a:xfrm>
          <a:prstGeom prst="upArrow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48472" y="3383279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Segmentation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1EE"/>
                </a:solidFill>
                <a:latin typeface="Aptos"/>
              </a:rPr>
              <a:t>By region, dealer, model, colour and time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166360"/>
            <a:ext cx="10789920" cy="59436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1B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321808"/>
            <a:ext cx="10241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Quality gate: validate grouping, partitioning, date grain, metric definition and row-level access before showing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Data Trust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Make quality visible with rule-based checks, scores, exceptions and operational freshness.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64008" cy="100584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5760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iamond 13"/>
          <p:cNvSpPr/>
          <p:nvPr/>
        </p:nvSpPr>
        <p:spPr>
          <a:xfrm>
            <a:off x="3728923" y="1799539"/>
            <a:ext cx="131673" cy="131673"/>
          </a:xfrm>
          <a:prstGeom prst="diamond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Values align to trusted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1600200"/>
            <a:ext cx="64008" cy="100584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5236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7523683" y="1799539"/>
            <a:ext cx="131673" cy="131673"/>
          </a:xfrm>
          <a:prstGeom prst="diamond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5371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Completeness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Required values are present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3880" y="1600200"/>
            <a:ext cx="64008" cy="100584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24711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mond 25"/>
          <p:cNvSpPr/>
          <p:nvPr/>
        </p:nvSpPr>
        <p:spPr>
          <a:xfrm>
            <a:off x="11318443" y="1799539"/>
            <a:ext cx="131673" cy="131673"/>
          </a:xfrm>
          <a:prstGeom prst="diamond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Consistency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Definitions and formats agree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2926080"/>
            <a:ext cx="64008" cy="1005840"/>
          </a:xfrm>
          <a:prstGeom prst="rect">
            <a:avLst/>
          </a:prstGeom>
          <a:solidFill>
            <a:srgbClr val="FFAB52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57600" y="305409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iamond 31"/>
          <p:cNvSpPr/>
          <p:nvPr/>
        </p:nvSpPr>
        <p:spPr>
          <a:xfrm>
            <a:off x="3728923" y="3125419"/>
            <a:ext cx="131673" cy="131673"/>
          </a:xfrm>
          <a:prstGeom prst="diamond">
            <a:avLst/>
          </a:prstGeom>
          <a:solidFill>
            <a:srgbClr val="FFAB52"/>
          </a:solidFill>
          <a:ln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306324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Timeliness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Data is refreshed on schedule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2926080"/>
            <a:ext cx="64008" cy="100584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452360" y="305409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iamond 37"/>
          <p:cNvSpPr/>
          <p:nvPr/>
        </p:nvSpPr>
        <p:spPr>
          <a:xfrm>
            <a:off x="7523683" y="3125419"/>
            <a:ext cx="131673" cy="131673"/>
          </a:xfrm>
          <a:prstGeom prst="diamond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53712" y="306324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Validity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Values meet business rules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8388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83880" y="2926080"/>
            <a:ext cx="64008" cy="100584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47119" y="305409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11318443" y="3125419"/>
            <a:ext cx="131673" cy="131673"/>
          </a:xfrm>
          <a:prstGeom prst="diamond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48472" y="306324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Uniqueness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E"/>
                </a:solidFill>
                <a:latin typeface="Aptos"/>
              </a:rPr>
              <a:t>Unexpected duplicates are detected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4572000"/>
            <a:ext cx="10789920" cy="914400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15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4754880"/>
            <a:ext cx="1828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Operational signals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360" y="477316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162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07791" y="4791455"/>
            <a:ext cx="136245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DAB2"/>
                </a:solidFill>
                <a:latin typeface="Aptos"/>
              </a:rPr>
              <a:t>QUALITY SCORE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60" y="477316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362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07992" y="4791455"/>
            <a:ext cx="127101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AB52"/>
                </a:solidFill>
                <a:latin typeface="Aptos"/>
              </a:rPr>
              <a:t>FAILED RULES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477316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1B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16752" y="4791455"/>
            <a:ext cx="136245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C9DFF"/>
                </a:solidFill>
                <a:latin typeface="Aptos"/>
              </a:rPr>
              <a:t>LAST REFRESH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89520" y="4773168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16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16952" y="4791455"/>
            <a:ext cx="95097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DAB2"/>
                </a:solidFill>
                <a:latin typeface="Aptos"/>
              </a:rPr>
              <a:t>LOAD 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166360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97A4B7"/>
                </a:solidFill>
                <a:latin typeface="Aptos"/>
              </a:rPr>
              <a:t>Use verified execution data to populate scores and timestamps; avoid presenting mock values as production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Semantic Atlas &amp; Knowledge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Keep business meaning, observed values and relationships understandable to both users and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64008" cy="182880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1188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xagon 13"/>
          <p:cNvSpPr/>
          <p:nvPr/>
        </p:nvSpPr>
        <p:spPr>
          <a:xfrm>
            <a:off x="3683203" y="1799539"/>
            <a:ext cx="131673" cy="131673"/>
          </a:xfrm>
          <a:prstGeom prst="hexagon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17373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Semantic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YAML-defined measures and dimensions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Approved relationships and join paths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Business-friendly names and definitions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6091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7432243" y="1799539"/>
            <a:ext cx="131673" cy="131673"/>
          </a:xfrm>
          <a:prstGeom prst="hexagon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17373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Entity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Distinct values for business entities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Flag newly observed values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Refresh time, row count and load 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0995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Hexagon 25"/>
          <p:cNvSpPr/>
          <p:nvPr/>
        </p:nvSpPr>
        <p:spPr>
          <a:xfrm>
            <a:off x="11181283" y="1799539"/>
            <a:ext cx="131673" cy="131673"/>
          </a:xfrm>
          <a:prstGeom prst="hexagon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1" y="17373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Knowledge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Entities, attributes, events and actors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Relationships shown visually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Useful for exploration and discovery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Vehicle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Model / make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307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Order / 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Dealer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Region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171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Customer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97A4B7"/>
                </a:solidFill>
                <a:latin typeface="Aptos"/>
              </a:rPr>
              <a:t>Segment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50592" y="4389120"/>
            <a:ext cx="1179576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93792" y="4389120"/>
            <a:ext cx="1179576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36992" y="4389120"/>
            <a:ext cx="1179576" cy="0"/>
          </a:xfrm>
          <a:prstGeom prst="line">
            <a:avLst/>
          </a:prstGeom>
          <a:ln w="22860">
            <a:solidFill>
              <a:srgbClr val="37DAE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400" y="5074920"/>
            <a:ext cx="9875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97A4B7"/>
                </a:solidFill>
                <a:latin typeface="Aptos"/>
              </a:rPr>
              <a:t>Illustrative business relationship graph — confirm which links are currently used by query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Admin Center &amp;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Operational controls for model configuration, usage visibility, quotas and auditability.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64008" cy="141732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1188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83203" y="1799539"/>
            <a:ext cx="131673" cy="131673"/>
          </a:xfrm>
          <a:prstGeom prst="ellipse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17373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LLM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Provider and model catalog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Token and cost estimates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600200"/>
            <a:ext cx="64008" cy="141732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6091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entagon 19"/>
          <p:cNvSpPr/>
          <p:nvPr/>
        </p:nvSpPr>
        <p:spPr>
          <a:xfrm>
            <a:off x="7432243" y="1799539"/>
            <a:ext cx="131673" cy="131673"/>
          </a:xfrm>
          <a:prstGeom prst="homePlate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17373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Usage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Weekly token and call quotas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Usage by user and time period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1600200"/>
            <a:ext cx="64008" cy="141732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0995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entagon 25"/>
          <p:cNvSpPr/>
          <p:nvPr/>
        </p:nvSpPr>
        <p:spPr>
          <a:xfrm>
            <a:off x="11181283" y="1799539"/>
            <a:ext cx="131673" cy="131673"/>
          </a:xfrm>
          <a:prstGeom prst="homePlate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1" y="1737360"/>
            <a:ext cx="27706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Audit &amp;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Question and execution metadata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Data-quality and catalog refresh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520440"/>
            <a:ext cx="10789920" cy="1417320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15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730752"/>
            <a:ext cx="2057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BF2FC"/>
                </a:solidFill>
                <a:latin typeface="Aptos"/>
              </a:rPr>
              <a:t>Governance principles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675887"/>
            <a:ext cx="8046720" cy="1051560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Keep provider credentials on the server; never expose secrets in the browser.</a:t>
            </a:r>
          </a:p>
          <a:p>
            <a:pPr>
              <a:spcAft>
                <a:spcPts val="5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Log enough metadata to audit outcomes without unnecessarily storing sensitive prompts.</a:t>
            </a:r>
          </a:p>
          <a:p>
            <a:pPr>
              <a:spcAft>
                <a:spcPts val="5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Apply quotas consistently and return clear, actionable messages when limits are reached.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03520"/>
            <a:ext cx="10241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97A4B7"/>
                </a:solidFill>
                <a:latin typeface="Aptos"/>
              </a:rPr>
              <a:t>Only describe controls as implemented after verifying the current application and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Role-based regional data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All users can access the same experience, while results are restricted to their authorized region.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2194560" cy="502920"/>
          </a:xfrm>
          <a:prstGeom prst="rect">
            <a:avLst/>
          </a:prstGeom>
          <a:solidFill>
            <a:srgbClr val="1B2737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810512"/>
            <a:ext cx="204825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691640"/>
            <a:ext cx="1920240" cy="502920"/>
          </a:xfrm>
          <a:prstGeom prst="rect">
            <a:avLst/>
          </a:prstGeom>
          <a:solidFill>
            <a:srgbClr val="1B2737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North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1920240" cy="502920"/>
          </a:xfrm>
          <a:prstGeom prst="rect">
            <a:avLst/>
          </a:prstGeom>
          <a:solidFill>
            <a:srgbClr val="1B2737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947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South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59" y="1691640"/>
            <a:ext cx="1920240" cy="502920"/>
          </a:xfrm>
          <a:prstGeom prst="rect">
            <a:avLst/>
          </a:prstGeom>
          <a:solidFill>
            <a:srgbClr val="1B2737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971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West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691640"/>
            <a:ext cx="1920240" cy="502920"/>
          </a:xfrm>
          <a:prstGeom prst="rect">
            <a:avLst/>
          </a:prstGeom>
          <a:solidFill>
            <a:srgbClr val="1B2737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5995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221992"/>
            <a:ext cx="219456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2368296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7A4B7"/>
                </a:solidFill>
                <a:latin typeface="Aptos"/>
              </a:rPr>
              <a:t>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221992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80944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31DAB2"/>
                </a:solidFill>
                <a:latin typeface="Aptos"/>
              </a:rPr>
              <a:t>All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221992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01183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31DAB2"/>
                </a:solidFill>
                <a:latin typeface="Aptos"/>
              </a:rPr>
              <a:t>All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59" y="2221992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21423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31DAB2"/>
                </a:solidFill>
                <a:latin typeface="Aptos"/>
              </a:rPr>
              <a:t>All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221992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41664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31DAB2"/>
                </a:solidFill>
                <a:latin typeface="Aptos"/>
              </a:rPr>
              <a:t>All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788920"/>
            <a:ext cx="219456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2935224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7A4B7"/>
                </a:solidFill>
                <a:latin typeface="Aptos"/>
              </a:rPr>
              <a:t>user_north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2788920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80944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1DAB2"/>
                </a:solidFill>
                <a:latin typeface="Aptos"/>
              </a:rPr>
              <a:t>Allowed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788920"/>
            <a:ext cx="192024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01183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59" y="2788920"/>
            <a:ext cx="192024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21423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788920"/>
            <a:ext cx="192024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41664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355848"/>
            <a:ext cx="219456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" y="3502152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7A4B7"/>
                </a:solidFill>
                <a:latin typeface="Aptos"/>
              </a:rPr>
              <a:t>user_south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3355848"/>
            <a:ext cx="192024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80944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3355848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01183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1DAB2"/>
                </a:solidFill>
                <a:latin typeface="Aptos"/>
              </a:rPr>
              <a:t>Allowed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59" y="3355848"/>
            <a:ext cx="192024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21423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3355848"/>
            <a:ext cx="192024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41664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3922776"/>
            <a:ext cx="219456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6384" y="4069080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7A4B7"/>
                </a:solidFill>
                <a:latin typeface="Aptos"/>
              </a:rPr>
              <a:t>user_west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3922776"/>
            <a:ext cx="192024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80944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0" y="3922776"/>
            <a:ext cx="192024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01183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59" y="3922776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21423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1DAB2"/>
                </a:solidFill>
                <a:latin typeface="Aptos"/>
              </a:rPr>
              <a:t>Allowed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3922776"/>
            <a:ext cx="1920240" cy="530352"/>
          </a:xfrm>
          <a:prstGeom prst="rect">
            <a:avLst/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41664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4489704"/>
            <a:ext cx="219456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6384" y="4636008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7A4B7"/>
                </a:solidFill>
                <a:latin typeface="Aptos"/>
              </a:rPr>
              <a:t>user_east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4489704"/>
            <a:ext cx="192024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80944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6320" y="4489704"/>
            <a:ext cx="192024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3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59" y="4489704"/>
            <a:ext cx="1920240" cy="530352"/>
          </a:xfrm>
          <a:prstGeom prst="rect">
            <a:avLst/>
          </a:prstGeom>
          <a:solidFill>
            <a:srgbClr val="161B24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21423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7A4B7"/>
                </a:solidFill>
                <a:latin typeface="Aptos"/>
              </a:rPr>
              <a:t>Blocked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4489704"/>
            <a:ext cx="1920240" cy="530352"/>
          </a:xfrm>
          <a:prstGeom prst="rect">
            <a:avLst/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41664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1DAB2"/>
                </a:solidFill>
                <a:latin typeface="Aptos"/>
              </a:rPr>
              <a:t>Allowed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5257800"/>
            <a:ext cx="10058400" cy="566928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362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14400" y="5413248"/>
            <a:ext cx="9692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BF2FC"/>
                </a:solidFill>
                <a:latin typeface="Aptos"/>
              </a:rPr>
              <a:t>Security requirement: enforce region scope in server-side authorization and SQL/data-access paths, not only by hiding UI rows.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Technology landscape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A modular design can evolve as data sources, model providers and operational needs expand.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600200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746504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600200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16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1746504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React web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350008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API /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350008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1B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1568" y="2496312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Node.js • authentication •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099815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20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AI and semantics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099815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162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01568" y="3246120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LLM provider adapter • semantic YAML • SQL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849624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FFAB52"/>
          </a:solidFill>
          <a:ln w="10160">
            <a:solidFill>
              <a:srgbClr val="FFA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995928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3849624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36271C"/>
          </a:solidFill>
          <a:ln w="10160">
            <a:solidFill>
              <a:srgbClr val="362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01568" y="3995928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PostgreSQL • automotive sales schema • quality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599431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1B2737"/>
          </a:solidFill>
          <a:ln w="10160"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745736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4680" y="4599431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15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01568" y="4745736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F2FC"/>
                </a:solidFill>
                <a:latin typeface="Aptos"/>
              </a:rPr>
              <a:t>Secrets management • logs • quotas •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69280"/>
            <a:ext cx="101498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97A4B7"/>
                </a:solidFill>
                <a:latin typeface="Aptos"/>
              </a:rPr>
              <a:t>Scale claims, supported connectors and cloud deployment options should be aligned to tested environments.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Why AskDB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The value comes from combining natural-language access with governed definitions and operational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64008" cy="150876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5760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Up Arrow 13"/>
          <p:cNvSpPr/>
          <p:nvPr/>
        </p:nvSpPr>
        <p:spPr>
          <a:xfrm>
            <a:off x="3728923" y="1799539"/>
            <a:ext cx="131673" cy="131673"/>
          </a:xfrm>
          <a:prstGeom prst="upArrow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Faster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Reduce friction for routine questions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Enable analysts to focus on deeper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600200"/>
            <a:ext cx="64008" cy="150876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0664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77963" y="1799539"/>
            <a:ext cx="131673" cy="131673"/>
          </a:xfrm>
          <a:prstGeom prst="ellipse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More consistent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Reuse approved semantic definitions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Reduce duplicate metric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1600200"/>
            <a:ext cx="64008" cy="150876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5567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entagon 25"/>
          <p:cNvSpPr/>
          <p:nvPr/>
        </p:nvSpPr>
        <p:spPr>
          <a:xfrm>
            <a:off x="11227003" y="1799539"/>
            <a:ext cx="131673" cy="131673"/>
          </a:xfrm>
          <a:prstGeom prst="homePlate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1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Visible trust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Show quality and refresh signals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Apply roles, quotas and audit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03320"/>
            <a:ext cx="10789920" cy="96012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1B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913632"/>
            <a:ext cx="1828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7DAEF"/>
                </a:solidFill>
                <a:latin typeface="Aptos"/>
              </a:rPr>
              <a:t>Positioning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40480"/>
            <a:ext cx="8138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BF2FC"/>
                </a:solidFill>
                <a:latin typeface="Aptos"/>
              </a:rPr>
              <a:t>AskDB connects business questions to data through a semantic, validated and governed analytics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74920"/>
            <a:ext cx="10241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97A4B7"/>
                </a:solidFill>
                <a:latin typeface="Aptos"/>
              </a:rPr>
              <a:t>Avoid unverified claims about competitor coverage, cost savings, accuracy percentages or production readiness.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BF2FC"/>
                </a:solidFill>
                <a:latin typeface="Aptos"/>
              </a:rPr>
              <a:t>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7A4B7"/>
                </a:solidFill>
                <a:latin typeface="Aptos"/>
              </a:rPr>
              <a:t>A short, repeatable demo can show the full experience without relying on unverified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1018520" cy="16459"/>
          </a:xfrm>
          <a:prstGeom prst="rect">
            <a:avLst/>
          </a:prstGeom>
          <a:solidFill>
            <a:srgbClr val="303C4C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58368" cy="16459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BF2FC"/>
                </a:solidFill>
                <a:latin typeface="Aptos"/>
              </a:rPr>
              <a:t>Capgemini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7DAEF"/>
                </a:solidFill>
                <a:latin typeface="Aptos"/>
              </a:rPr>
              <a:t>Invent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97A4B7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97A4B7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97A4B7"/>
                </a:solidFill>
                <a:latin typeface="Aptos"/>
              </a:rPr>
              <a:t> AI Data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97A4B7"/>
                </a:solidFill>
                <a:latin typeface="Aptos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163038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64008" cy="1828800"/>
          </a:xfrm>
          <a:prstGeom prst="rect">
            <a:avLst/>
          </a:prstGeom>
          <a:solidFill>
            <a:srgbClr val="37DAEF"/>
          </a:solidFill>
          <a:ln w="10160"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5760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5-Point Star 13"/>
          <p:cNvSpPr/>
          <p:nvPr/>
        </p:nvSpPr>
        <p:spPr>
          <a:xfrm>
            <a:off x="3728923" y="1799539"/>
            <a:ext cx="131673" cy="131673"/>
          </a:xfrm>
          <a:prstGeom prst="star5">
            <a:avLst/>
          </a:prstGeom>
          <a:solidFill>
            <a:srgbClr val="37DAEF"/>
          </a:solidFill>
          <a:ln>
            <a:solidFill>
              <a:srgbClr val="37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Demo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Ask a revenue question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Refine with a follow-up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Inspect result and SQL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Open dashboard and filters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1B2E45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4C9DFF"/>
          </a:solidFill>
          <a:ln w="10160"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06640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77963" y="1799539"/>
            <a:ext cx="131673" cy="131673"/>
          </a:xfrm>
          <a:prstGeom prst="ellipse">
            <a:avLst/>
          </a:prstGeom>
          <a:solidFill>
            <a:srgbClr val="4C9DFF"/>
          </a:solidFill>
          <a:ln>
            <a:solidFill>
              <a:srgbClr val="4C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Near-term priorities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Validate query accuracy benchmark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Verify regional access enforcement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Harden observability and error handling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162F2A"/>
          </a:solidFill>
          <a:ln w="10160"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31DAB2"/>
          </a:solidFill>
          <a:ln w="10160"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55679" y="1728216"/>
            <a:ext cx="274320" cy="274320"/>
          </a:xfrm>
          <a:prstGeom prst="ellipse">
            <a:avLst/>
          </a:prstGeom>
          <a:solidFill>
            <a:srgbClr val="161B24"/>
          </a:solidFill>
          <a:ln>
            <a:solidFill>
              <a:srgbClr val="30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227003" y="1799539"/>
            <a:ext cx="131673" cy="131673"/>
          </a:xfrm>
          <a:prstGeom prst="ellipse">
            <a:avLst/>
          </a:prstGeom>
          <a:solidFill>
            <a:srgbClr val="31DAB2"/>
          </a:solidFill>
          <a:ln>
            <a:solidFill>
              <a:srgbClr val="31D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1" y="1737360"/>
            <a:ext cx="281635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BF2FC"/>
                </a:solidFill>
                <a:latin typeface="Aptos"/>
              </a:rPr>
              <a:t>Roadmap candidates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Additional SQL data sources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Automated quality rule suggestions</a:t>
            </a:r>
          </a:p>
          <a:p>
            <a:pPr>
              <a:spcAft>
                <a:spcPts val="400"/>
              </a:spcAft>
              <a:defRPr sz="1100">
                <a:solidFill>
                  <a:srgbClr val="D8E1EE"/>
                </a:solidFill>
                <a:latin typeface="Aptos"/>
              </a:defRPr>
            </a:pPr>
            <a:r>
              <a:t>•  More industry semantic packs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69080"/>
            <a:ext cx="10698480" cy="1051560"/>
          </a:xfrm>
          <a:prstGeom prst="roundRect">
            <a:avLst>
              <a:gd name="adj" fmla="val 12000"/>
            </a:avLst>
          </a:prstGeom>
          <a:solidFill>
            <a:srgbClr val="161B24"/>
          </a:solidFill>
          <a:ln w="10160">
            <a:solidFill>
              <a:srgbClr val="15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4315968"/>
            <a:ext cx="2743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EBF2FC"/>
                </a:solidFill>
                <a:latin typeface="Aptos"/>
              </a:rPr>
              <a:t>Questions?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07408"/>
            <a:ext cx="4206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37DAEF"/>
                </a:solidFill>
                <a:latin typeface="Aptos"/>
              </a:rPr>
              <a:t>AskDB  •  AI Data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23560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97A4B7"/>
                </a:solidFill>
                <a:latin typeface="Aptos"/>
              </a:rPr>
              <a:t>This presentation uses illustrative UI examples and sample metrics. Confirm implementation status, architecture, and data before presenting externally.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1665</Words>
  <Application>Microsoft Office PowerPoint</Application>
  <PresentationFormat>Widescreen</PresentationFormat>
  <Paragraphs>385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Nidhi Shinde</cp:lastModifiedBy>
  <cp:revision>3</cp:revision>
  <dcterms:created xsi:type="dcterms:W3CDTF">2013-01-27T09:14:16Z</dcterms:created>
  <dcterms:modified xsi:type="dcterms:W3CDTF">2026-10-13T13:32:30Z</dcterms:modified>
  <cp:category/>
</cp:coreProperties>
</file>