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68" y="2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NDHALKAR, RAHUL" userId="abd60e2f-6f69-4b10-9153-eb83f92a138a" providerId="ADAL" clId="{5E59A1F2-6D70-49F8-9189-ACECFB721298}"/>
    <pc:docChg chg="custSel modSld">
      <pc:chgData name="KONDHALKAR, RAHUL" userId="abd60e2f-6f69-4b10-9153-eb83f92a138a" providerId="ADAL" clId="{5E59A1F2-6D70-49F8-9189-ACECFB721298}" dt="2026-10-13T14:08:37.766" v="2" actId="1036"/>
      <pc:docMkLst>
        <pc:docMk/>
      </pc:docMkLst>
      <pc:sldChg chg="delSp mod">
        <pc:chgData name="KONDHALKAR, RAHUL" userId="abd60e2f-6f69-4b10-9153-eb83f92a138a" providerId="ADAL" clId="{5E59A1F2-6D70-49F8-9189-ACECFB721298}" dt="2026-10-13T14:01:37.762" v="0" actId="478"/>
        <pc:sldMkLst>
          <pc:docMk/>
          <pc:sldMk cId="0" sldId="260"/>
        </pc:sldMkLst>
        <pc:cxnChg chg="del">
          <ac:chgData name="KONDHALKAR, RAHUL" userId="abd60e2f-6f69-4b10-9153-eb83f92a138a" providerId="ADAL" clId="{5E59A1F2-6D70-49F8-9189-ACECFB721298}" dt="2026-10-13T14:01:37.762" v="0" actId="478"/>
          <ac:cxnSpMkLst>
            <pc:docMk/>
            <pc:sldMk cId="0" sldId="260"/>
            <ac:cxnSpMk id="49" creationId="{00000000-0000-0000-0000-000000000000}"/>
          </ac:cxnSpMkLst>
        </pc:cxnChg>
      </pc:sldChg>
      <pc:sldChg chg="delSp mod">
        <pc:chgData name="KONDHALKAR, RAHUL" userId="abd60e2f-6f69-4b10-9153-eb83f92a138a" providerId="ADAL" clId="{5E59A1F2-6D70-49F8-9189-ACECFB721298}" dt="2026-10-13T14:06:03.615" v="1" actId="478"/>
        <pc:sldMkLst>
          <pc:docMk/>
          <pc:sldMk cId="0" sldId="266"/>
        </pc:sldMkLst>
        <pc:spChg chg="del">
          <ac:chgData name="KONDHALKAR, RAHUL" userId="abd60e2f-6f69-4b10-9153-eb83f92a138a" providerId="ADAL" clId="{5E59A1F2-6D70-49F8-9189-ACECFB721298}" dt="2026-10-13T14:06:03.615" v="1" actId="478"/>
          <ac:spMkLst>
            <pc:docMk/>
            <pc:sldMk cId="0" sldId="266"/>
            <ac:spMk id="44" creationId="{00000000-0000-0000-0000-000000000000}"/>
          </ac:spMkLst>
        </pc:spChg>
      </pc:sldChg>
      <pc:sldChg chg="modSp mod">
        <pc:chgData name="KONDHALKAR, RAHUL" userId="abd60e2f-6f69-4b10-9153-eb83f92a138a" providerId="ADAL" clId="{5E59A1F2-6D70-49F8-9189-ACECFB721298}" dt="2026-10-13T14:08:37.766" v="2" actId="1036"/>
        <pc:sldMkLst>
          <pc:docMk/>
          <pc:sldMk cId="0" sldId="267"/>
        </pc:sldMkLst>
        <pc:spChg chg="mod">
          <ac:chgData name="KONDHALKAR, RAHUL" userId="abd60e2f-6f69-4b10-9153-eb83f92a138a" providerId="ADAL" clId="{5E59A1F2-6D70-49F8-9189-ACECFB721298}" dt="2026-10-13T14:08:37.766" v="2" actId="1036"/>
          <ac:spMkLst>
            <pc:docMk/>
            <pc:sldMk cId="0" sldId="267"/>
            <ac:spMk id="2" creationId="{00000000-0000-0000-0000-000000000000}"/>
          </ac:spMkLst>
        </pc:spChg>
        <pc:spChg chg="mod">
          <ac:chgData name="KONDHALKAR, RAHUL" userId="abd60e2f-6f69-4b10-9153-eb83f92a138a" providerId="ADAL" clId="{5E59A1F2-6D70-49F8-9189-ACECFB721298}" dt="2026-10-13T14:08:37.766" v="2" actId="1036"/>
          <ac:spMkLst>
            <pc:docMk/>
            <pc:sldMk cId="0" sldId="267"/>
            <ac:spMk id="3" creationId="{00000000-0000-0000-0000-000000000000}"/>
          </ac:spMkLst>
        </pc:spChg>
        <pc:spChg chg="mod">
          <ac:chgData name="KONDHALKAR, RAHUL" userId="abd60e2f-6f69-4b10-9153-eb83f92a138a" providerId="ADAL" clId="{5E59A1F2-6D70-49F8-9189-ACECFB721298}" dt="2026-10-13T14:08:37.766" v="2" actId="1036"/>
          <ac:spMkLst>
            <pc:docMk/>
            <pc:sldMk cId="0" sldId="267"/>
            <ac:spMk id="4" creationId="{00000000-0000-0000-0000-000000000000}"/>
          </ac:spMkLst>
        </pc:spChg>
        <pc:spChg chg="mod">
          <ac:chgData name="KONDHALKAR, RAHUL" userId="abd60e2f-6f69-4b10-9153-eb83f92a138a" providerId="ADAL" clId="{5E59A1F2-6D70-49F8-9189-ACECFB721298}" dt="2026-10-13T14:08:37.766" v="2" actId="1036"/>
          <ac:spMkLst>
            <pc:docMk/>
            <pc:sldMk cId="0" sldId="267"/>
            <ac:spMk id="8" creationId="{00000000-0000-0000-0000-000000000000}"/>
          </ac:spMkLst>
        </pc:spChg>
        <pc:spChg chg="mod">
          <ac:chgData name="KONDHALKAR, RAHUL" userId="abd60e2f-6f69-4b10-9153-eb83f92a138a" providerId="ADAL" clId="{5E59A1F2-6D70-49F8-9189-ACECFB721298}" dt="2026-10-13T14:08:37.766" v="2" actId="1036"/>
          <ac:spMkLst>
            <pc:docMk/>
            <pc:sldMk cId="0" sldId="267"/>
            <ac:spMk id="11" creationId="{00000000-0000-0000-0000-000000000000}"/>
          </ac:spMkLst>
        </pc:spChg>
        <pc:spChg chg="mod">
          <ac:chgData name="KONDHALKAR, RAHUL" userId="abd60e2f-6f69-4b10-9153-eb83f92a138a" providerId="ADAL" clId="{5E59A1F2-6D70-49F8-9189-ACECFB721298}" dt="2026-10-13T14:08:37.766" v="2" actId="1036"/>
          <ac:spMkLst>
            <pc:docMk/>
            <pc:sldMk cId="0" sldId="267"/>
            <ac:spMk id="14" creationId="{00000000-0000-0000-0000-000000000000}"/>
          </ac:spMkLst>
        </pc:spChg>
        <pc:spChg chg="mod">
          <ac:chgData name="KONDHALKAR, RAHUL" userId="abd60e2f-6f69-4b10-9153-eb83f92a138a" providerId="ADAL" clId="{5E59A1F2-6D70-49F8-9189-ACECFB721298}" dt="2026-10-13T14:08:37.766" v="2" actId="1036"/>
          <ac:spMkLst>
            <pc:docMk/>
            <pc:sldMk cId="0" sldId="267"/>
            <ac:spMk id="15" creationId="{00000000-0000-0000-0000-000000000000}"/>
          </ac:spMkLst>
        </pc:spChg>
        <pc:spChg chg="mod">
          <ac:chgData name="KONDHALKAR, RAHUL" userId="abd60e2f-6f69-4b10-9153-eb83f92a138a" providerId="ADAL" clId="{5E59A1F2-6D70-49F8-9189-ACECFB721298}" dt="2026-10-13T14:08:37.766" v="2" actId="1036"/>
          <ac:spMkLst>
            <pc:docMk/>
            <pc:sldMk cId="0" sldId="267"/>
            <ac:spMk id="18" creationId="{00000000-0000-0000-0000-000000000000}"/>
          </ac:spMkLst>
        </pc:spChg>
        <pc:spChg chg="mod">
          <ac:chgData name="KONDHALKAR, RAHUL" userId="abd60e2f-6f69-4b10-9153-eb83f92a138a" providerId="ADAL" clId="{5E59A1F2-6D70-49F8-9189-ACECFB721298}" dt="2026-10-13T14:08:37.766" v="2" actId="1036"/>
          <ac:spMkLst>
            <pc:docMk/>
            <pc:sldMk cId="0" sldId="267"/>
            <ac:spMk id="25" creationId="{00000000-0000-0000-0000-000000000000}"/>
          </ac:spMkLst>
        </pc:spChg>
        <pc:spChg chg="mod">
          <ac:chgData name="KONDHALKAR, RAHUL" userId="abd60e2f-6f69-4b10-9153-eb83f92a138a" providerId="ADAL" clId="{5E59A1F2-6D70-49F8-9189-ACECFB721298}" dt="2026-10-13T14:08:37.766" v="2" actId="1036"/>
          <ac:spMkLst>
            <pc:docMk/>
            <pc:sldMk cId="0" sldId="267"/>
            <ac:spMk id="29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21792"/>
            <a:ext cx="77724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7DAEF"/>
                </a:solidFill>
                <a:latin typeface="Aptos"/>
              </a:rPr>
              <a:t>CAPGEMINI INVENT  |  AI DATA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6126480" cy="9601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 i="0">
                <a:solidFill>
                  <a:srgbClr val="EBF2FC"/>
                </a:solidFill>
                <a:latin typeface="Aptos"/>
              </a:rPr>
              <a:t>AskDB</a:t>
            </a:r>
          </a:p>
        </p:txBody>
      </p:sp>
      <p:sp>
        <p:nvSpPr>
          <p:cNvPr id="5" name="Oval 4"/>
          <p:cNvSpPr/>
          <p:nvPr/>
        </p:nvSpPr>
        <p:spPr>
          <a:xfrm>
            <a:off x="7059168" y="1554480"/>
            <a:ext cx="457200" cy="45720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5-Point Star 5"/>
          <p:cNvSpPr/>
          <p:nvPr/>
        </p:nvSpPr>
        <p:spPr>
          <a:xfrm>
            <a:off x="7178040" y="1673352"/>
            <a:ext cx="219456" cy="219456"/>
          </a:xfrm>
          <a:prstGeom prst="star5">
            <a:avLst/>
          </a:prstGeom>
          <a:solidFill>
            <a:srgbClr val="37DAEF"/>
          </a:solidFill>
          <a:ln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2331720"/>
            <a:ext cx="6400800" cy="11430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0" i="0">
                <a:solidFill>
                  <a:srgbClr val="D8E1EE"/>
                </a:solidFill>
                <a:latin typeface="Aptos"/>
              </a:rPr>
              <a:t>From natural-language questions
to trusted business insights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603504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7A4B7"/>
                </a:solidFill>
                <a:latin typeface="Aptos"/>
              </a:rPr>
              <a:t>An AI-powered analytics experience for enterprise data teams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736592"/>
            <a:ext cx="2057400" cy="292608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1B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8952" y="4754879"/>
            <a:ext cx="2002536" cy="219456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4C9DFF"/>
                </a:solidFill>
                <a:latin typeface="Aptos"/>
              </a:rPr>
              <a:t>NATURAL LANGUAGE TO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07792" y="4736592"/>
            <a:ext cx="1600200" cy="292608"/>
          </a:xfrm>
          <a:prstGeom prst="roundRect">
            <a:avLst>
              <a:gd name="adj" fmla="val 12000"/>
            </a:avLst>
          </a:prstGeom>
          <a:solidFill>
            <a:srgbClr val="163038"/>
          </a:solidFill>
          <a:ln w="10160">
            <a:solidFill>
              <a:srgbClr val="163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35224" y="4754879"/>
            <a:ext cx="1545336" cy="219456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31DAB2"/>
                </a:solidFill>
                <a:latin typeface="Aptos"/>
              </a:rPr>
              <a:t>SEMANTIC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26864" y="4736592"/>
            <a:ext cx="2240280" cy="292608"/>
          </a:xfrm>
          <a:prstGeom prst="roundRect">
            <a:avLst>
              <a:gd name="adj" fmla="val 12000"/>
            </a:avLst>
          </a:prstGeom>
          <a:solidFill>
            <a:srgbClr val="36271C"/>
          </a:solidFill>
          <a:ln w="10160">
            <a:solidFill>
              <a:srgbClr val="3627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54296" y="4754879"/>
            <a:ext cx="2185416" cy="219456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FAB52"/>
                </a:solidFill>
                <a:latin typeface="Aptos"/>
              </a:rPr>
              <a:t>DATA TRUST &amp; GOVERNANCE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960120"/>
            <a:ext cx="3429000" cy="452628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549640" y="1417320"/>
            <a:ext cx="1965960" cy="685800"/>
          </a:xfrm>
          <a:prstGeom prst="roundRect">
            <a:avLst>
              <a:gd name="adj" fmla="val 12000"/>
            </a:avLst>
          </a:prstGeom>
          <a:solidFill>
            <a:srgbClr val="163038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22792" y="1490472"/>
            <a:ext cx="181965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Ask a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1783080"/>
            <a:ext cx="1783080" cy="274320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Plain language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2560320"/>
            <a:ext cx="1965960" cy="777240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22792" y="2633472"/>
            <a:ext cx="181965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Understand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926079"/>
            <a:ext cx="1783080" cy="365759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Semantic model + AI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3822191"/>
            <a:ext cx="1965960" cy="685800"/>
          </a:xfrm>
          <a:prstGeom prst="roundRect">
            <a:avLst>
              <a:gd name="adj" fmla="val 12000"/>
            </a:avLst>
          </a:prstGeom>
          <a:solidFill>
            <a:srgbClr val="162F2A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22792" y="3895344"/>
            <a:ext cx="181965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Deliver insight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4187952"/>
            <a:ext cx="1783080" cy="274320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SQL • result • chart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537192" y="2103120"/>
            <a:ext cx="0" cy="429768"/>
          </a:xfrm>
          <a:prstGeom prst="line">
            <a:avLst/>
          </a:prstGeom>
          <a:ln w="2286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537192" y="3337560"/>
            <a:ext cx="0" cy="457200"/>
          </a:xfrm>
          <a:prstGeom prst="line">
            <a:avLst/>
          </a:prstGeom>
          <a:ln w="2286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6446520"/>
            <a:ext cx="5029200" cy="2339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 dirty="0">
                <a:solidFill>
                  <a:srgbClr val="97A4B7"/>
                </a:solidFill>
                <a:latin typeface="Aptos"/>
              </a:rPr>
              <a:t>Company • 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6419088"/>
            <a:ext cx="219456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EBF2FC"/>
                </a:solidFill>
                <a:latin typeface="Aptos"/>
              </a:rPr>
              <a:t>Capgemini  Invent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19456"/>
            <a:ext cx="6400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ASKDB  /  AI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EBF2FC"/>
                </a:solidFill>
                <a:latin typeface="Aptos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33271"/>
            <a:ext cx="10972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7A4B7"/>
                </a:solidFill>
                <a:latin typeface="Aptos"/>
              </a:rPr>
              <a:t>AskDB makes governed enterprise data easier to explore without requiring every user to write SQL.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417320"/>
            <a:ext cx="11018520" cy="16459"/>
          </a:xfrm>
          <a:prstGeom prst="rect">
            <a:avLst/>
          </a:prstGeom>
          <a:solidFill>
            <a:srgbClr val="303C4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" y="1417320"/>
            <a:ext cx="658368" cy="16459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8360" y="228600"/>
            <a:ext cx="105156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EBF2FC"/>
                </a:solidFill>
                <a:latin typeface="Aptos"/>
              </a:rPr>
              <a:t>Capgemini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228600"/>
            <a:ext cx="71323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Invent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339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 dirty="0">
                <a:solidFill>
                  <a:srgbClr val="97A4B7"/>
                </a:solidFill>
                <a:latin typeface="Aptos"/>
              </a:rPr>
              <a:t>Company •  </a:t>
            </a:r>
            <a:r>
              <a:rPr sz="800" b="0" i="0" dirty="0" err="1">
                <a:solidFill>
                  <a:srgbClr val="97A4B7"/>
                </a:solidFill>
                <a:latin typeface="Aptos"/>
              </a:rPr>
              <a:t>AskDB</a:t>
            </a:r>
            <a:r>
              <a:rPr sz="800" b="0" i="0" dirty="0">
                <a:solidFill>
                  <a:srgbClr val="97A4B7"/>
                </a:solidFill>
                <a:latin typeface="Aptos"/>
              </a:rPr>
              <a:t> AI Data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528816"/>
            <a:ext cx="3657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97A4B7"/>
                </a:solidFill>
                <a:latin typeface="Aptos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54480"/>
            <a:ext cx="2743200" cy="1874519"/>
          </a:xfrm>
          <a:prstGeom prst="roundRect">
            <a:avLst>
              <a:gd name="adj" fmla="val 12000"/>
            </a:avLst>
          </a:prstGeom>
          <a:solidFill>
            <a:srgbClr val="163038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1554480"/>
            <a:ext cx="64008" cy="1874519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880360" y="1682495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5-Point Star 13"/>
          <p:cNvSpPr/>
          <p:nvPr/>
        </p:nvSpPr>
        <p:spPr>
          <a:xfrm>
            <a:off x="2951683" y="1753819"/>
            <a:ext cx="131673" cy="131673"/>
          </a:xfrm>
          <a:prstGeom prst="star5">
            <a:avLst/>
          </a:prstGeom>
          <a:solidFill>
            <a:srgbClr val="37DAEF"/>
          </a:solidFill>
          <a:ln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1691639"/>
            <a:ext cx="2084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Ask in business language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084831"/>
            <a:ext cx="2487168" cy="1252727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Users ask questions in plain English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Follow-up questions can refine analysis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Designed for business and data teams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1554480"/>
            <a:ext cx="2743200" cy="1874519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474720" y="1554480"/>
            <a:ext cx="64008" cy="1874519"/>
          </a:xfrm>
          <a:prstGeom prst="rect">
            <a:avLst/>
          </a:prstGeom>
          <a:solidFill>
            <a:srgbClr val="4C9DFF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806440" y="1682495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xagon 19"/>
          <p:cNvSpPr/>
          <p:nvPr/>
        </p:nvSpPr>
        <p:spPr>
          <a:xfrm>
            <a:off x="5877763" y="1753819"/>
            <a:ext cx="131673" cy="131673"/>
          </a:xfrm>
          <a:prstGeom prst="hexagon">
            <a:avLst/>
          </a:prstGeom>
          <a:solidFill>
            <a:srgbClr val="4C9DFF"/>
          </a:solidFill>
          <a:ln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39312" y="1691639"/>
            <a:ext cx="20848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Ground answers in 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79" y="2084831"/>
            <a:ext cx="2487168" cy="1252727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Semantic model defines measures and joins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Schema and business terms guide SQL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Validation before query execution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1554480"/>
            <a:ext cx="2423160" cy="1874519"/>
          </a:xfrm>
          <a:prstGeom prst="roundRect">
            <a:avLst>
              <a:gd name="adj" fmla="val 12000"/>
            </a:avLst>
          </a:prstGeom>
          <a:solidFill>
            <a:srgbClr val="162F2A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0" y="1554480"/>
            <a:ext cx="64008" cy="1874519"/>
          </a:xfrm>
          <a:prstGeom prst="rect">
            <a:avLst/>
          </a:prstGeom>
          <a:solidFill>
            <a:srgbClr val="31DAB2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412480" y="1682495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Up Arrow 25"/>
          <p:cNvSpPr/>
          <p:nvPr/>
        </p:nvSpPr>
        <p:spPr>
          <a:xfrm>
            <a:off x="8483803" y="1753819"/>
            <a:ext cx="131673" cy="131673"/>
          </a:xfrm>
          <a:prstGeom prst="upArrow">
            <a:avLst/>
          </a:prstGeom>
          <a:solidFill>
            <a:srgbClr val="31DAB2"/>
          </a:solidFill>
          <a:ln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65392" y="1691639"/>
            <a:ext cx="176479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Explore the answer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2084831"/>
            <a:ext cx="2167128" cy="1252727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Tables and charts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Executive KPIs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Analytical rankings and trends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06840" y="1554480"/>
            <a:ext cx="2606040" cy="1874519"/>
          </a:xfrm>
          <a:prstGeom prst="roundRect">
            <a:avLst>
              <a:gd name="adj" fmla="val 12000"/>
            </a:avLst>
          </a:prstGeom>
          <a:solidFill>
            <a:srgbClr val="3627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006840" y="1554480"/>
            <a:ext cx="64008" cy="1874519"/>
          </a:xfrm>
          <a:prstGeom prst="rect">
            <a:avLst/>
          </a:prstGeom>
          <a:solidFill>
            <a:srgbClr val="FFAB52"/>
          </a:solidFill>
          <a:ln w="10160">
            <a:solidFill>
              <a:srgbClr val="FFA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1201399" y="1682495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Pentagon 31"/>
          <p:cNvSpPr/>
          <p:nvPr/>
        </p:nvSpPr>
        <p:spPr>
          <a:xfrm>
            <a:off x="11272723" y="1753819"/>
            <a:ext cx="131673" cy="131673"/>
          </a:xfrm>
          <a:prstGeom prst="homePlate">
            <a:avLst/>
          </a:prstGeom>
          <a:solidFill>
            <a:srgbClr val="FFAB52"/>
          </a:solidFill>
          <a:ln>
            <a:solidFill>
              <a:srgbClr val="FFA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71432" y="1691639"/>
            <a:ext cx="194767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Operate with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084831"/>
            <a:ext cx="2350008" cy="1252727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Role-based access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Usage and cost visibility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Data-quality monitoring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886200"/>
            <a:ext cx="11064240" cy="1325880"/>
          </a:xfrm>
          <a:prstGeom prst="roundRect">
            <a:avLst>
              <a:gd name="adj" fmla="val 12000"/>
            </a:avLst>
          </a:prstGeom>
          <a:solidFill>
            <a:srgbClr val="161B24"/>
          </a:solidFill>
          <a:ln w="10160">
            <a:solidFill>
              <a:srgbClr val="151A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4133087"/>
            <a:ext cx="192024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7DAEF"/>
                </a:solidFill>
                <a:latin typeface="Aptos"/>
              </a:rPr>
              <a:t>PRODUCT POSITIONING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462272"/>
            <a:ext cx="10241280" cy="4572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EBF2FC"/>
                </a:solidFill>
                <a:latin typeface="Aptos"/>
              </a:rPr>
              <a:t>A governed natural-language analytics layer over enterprise data — not a replacement for the warehouse, semantic definitions, or data ownership.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19456"/>
            <a:ext cx="6400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ASKDB  /  AI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EBF2FC"/>
                </a:solidFill>
                <a:latin typeface="Aptos"/>
              </a:rPr>
              <a:t>The 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33271"/>
            <a:ext cx="10972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7A4B7"/>
                </a:solidFill>
                <a:latin typeface="Aptos"/>
              </a:rPr>
              <a:t>Business teams need answers quickly, while data teams need accuracy, reuse and control.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417320"/>
            <a:ext cx="11018520" cy="16459"/>
          </a:xfrm>
          <a:prstGeom prst="rect">
            <a:avLst/>
          </a:prstGeom>
          <a:solidFill>
            <a:srgbClr val="303C4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" y="1417320"/>
            <a:ext cx="658368" cy="16459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8360" y="228600"/>
            <a:ext cx="105156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EBF2FC"/>
                </a:solidFill>
                <a:latin typeface="Aptos"/>
              </a:rPr>
              <a:t>Capgemini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228600"/>
            <a:ext cx="71323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Invent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339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 dirty="0">
                <a:solidFill>
                  <a:srgbClr val="97A4B7"/>
                </a:solidFill>
                <a:latin typeface="Aptos"/>
              </a:rPr>
              <a:t>Company •  </a:t>
            </a:r>
            <a:r>
              <a:rPr sz="800" b="0" i="0" dirty="0" err="1">
                <a:solidFill>
                  <a:srgbClr val="97A4B7"/>
                </a:solidFill>
                <a:latin typeface="Aptos"/>
              </a:rPr>
              <a:t>AskDB</a:t>
            </a:r>
            <a:r>
              <a:rPr sz="800" b="0" i="0" dirty="0">
                <a:solidFill>
                  <a:srgbClr val="97A4B7"/>
                </a:solidFill>
                <a:latin typeface="Aptos"/>
              </a:rPr>
              <a:t> AI Data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528816"/>
            <a:ext cx="3657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97A4B7"/>
                </a:solidFill>
                <a:latin typeface="Aptos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600200"/>
            <a:ext cx="5303520" cy="132588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1600200"/>
            <a:ext cx="64008" cy="1325880"/>
          </a:xfrm>
          <a:prstGeom prst="rect">
            <a:avLst/>
          </a:prstGeom>
          <a:solidFill>
            <a:srgbClr val="4C9DFF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486400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entagon 13"/>
          <p:cNvSpPr/>
          <p:nvPr/>
        </p:nvSpPr>
        <p:spPr>
          <a:xfrm>
            <a:off x="5557723" y="1799539"/>
            <a:ext cx="131673" cy="131673"/>
          </a:xfrm>
          <a:prstGeom prst="homePlate">
            <a:avLst/>
          </a:prstGeom>
          <a:solidFill>
            <a:srgbClr val="4C9DFF"/>
          </a:solidFill>
          <a:ln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1737360"/>
            <a:ext cx="46451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Access barrier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130552"/>
            <a:ext cx="5001768" cy="70408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8E1EE"/>
                </a:solidFill>
                <a:latin typeface="Aptos"/>
              </a:rPr>
              <a:t>Business users depend on SQL skills or ticket queues.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00200"/>
            <a:ext cx="5303520" cy="132588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0" y="1600200"/>
            <a:ext cx="64008" cy="1325880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1109960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181283" y="1799539"/>
            <a:ext cx="131673" cy="131673"/>
          </a:xfrm>
          <a:prstGeom prst="ellipse">
            <a:avLst/>
          </a:prstGeom>
          <a:solidFill>
            <a:srgbClr val="37DAEF"/>
          </a:solidFill>
          <a:ln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82512" y="1737360"/>
            <a:ext cx="46451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Repeated requests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130552"/>
            <a:ext cx="5001768" cy="70408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8E1EE"/>
                </a:solidFill>
                <a:latin typeface="Aptos"/>
              </a:rPr>
              <a:t>Similar questions are rebuilt by analysts again and again.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291840"/>
            <a:ext cx="5303520" cy="132588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94360" y="3291840"/>
            <a:ext cx="64008" cy="1325880"/>
          </a:xfrm>
          <a:prstGeom prst="rect">
            <a:avLst/>
          </a:prstGeom>
          <a:solidFill>
            <a:srgbClr val="FFAB52"/>
          </a:solidFill>
          <a:ln w="10160">
            <a:solidFill>
              <a:srgbClr val="FFA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486400" y="341985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557723" y="3491179"/>
            <a:ext cx="131673" cy="131673"/>
          </a:xfrm>
          <a:prstGeom prst="ellipse">
            <a:avLst/>
          </a:prstGeom>
          <a:solidFill>
            <a:srgbClr val="FFAB52"/>
          </a:solidFill>
          <a:ln>
            <a:solidFill>
              <a:srgbClr val="FFA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8952" y="3429000"/>
            <a:ext cx="46451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Metric ambiguity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3822191"/>
            <a:ext cx="5001768" cy="70408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8E1EE"/>
                </a:solidFill>
                <a:latin typeface="Aptos"/>
              </a:rPr>
              <a:t>“Sales”, “top model” and time periods can mean different things.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91840"/>
            <a:ext cx="5303520" cy="132588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3291840"/>
            <a:ext cx="64008" cy="1325880"/>
          </a:xfrm>
          <a:prstGeom prst="rect">
            <a:avLst/>
          </a:prstGeom>
          <a:solidFill>
            <a:srgbClr val="31DAB2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1109960" y="341985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Pentagon 31"/>
          <p:cNvSpPr/>
          <p:nvPr/>
        </p:nvSpPr>
        <p:spPr>
          <a:xfrm>
            <a:off x="11181283" y="3491179"/>
            <a:ext cx="131673" cy="131673"/>
          </a:xfrm>
          <a:prstGeom prst="homePlate">
            <a:avLst/>
          </a:prstGeom>
          <a:solidFill>
            <a:srgbClr val="31DAB2"/>
          </a:solidFill>
          <a:ln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82512" y="3429000"/>
            <a:ext cx="46451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Trust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2512" y="3822191"/>
            <a:ext cx="5001768" cy="70408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8E1EE"/>
                </a:solidFill>
                <a:latin typeface="Aptos"/>
              </a:rPr>
              <a:t>Answers need clear definitions, safe access and validation.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349240"/>
            <a:ext cx="155448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7DAEF"/>
                </a:solidFill>
                <a:latin typeface="Aptos"/>
              </a:rPr>
              <a:t>DESIRED 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5285232"/>
            <a:ext cx="8869680" cy="4114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EBF2FC"/>
                </a:solidFill>
                <a:latin typeface="Aptos"/>
              </a:rPr>
              <a:t>Shorten the path from question → validated query → understandable insight.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19456"/>
            <a:ext cx="6400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ASKDB  /  AI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EBF2FC"/>
                </a:solidFill>
                <a:latin typeface="Aptos"/>
              </a:rPr>
              <a:t>AskDB 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33271"/>
            <a:ext cx="10972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7A4B7"/>
                </a:solidFill>
                <a:latin typeface="Aptos"/>
              </a:rPr>
              <a:t>A guided workflow combines business language, semantic context, query controls and visual answers.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417320"/>
            <a:ext cx="11018520" cy="16459"/>
          </a:xfrm>
          <a:prstGeom prst="rect">
            <a:avLst/>
          </a:prstGeom>
          <a:solidFill>
            <a:srgbClr val="303C4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" y="1417320"/>
            <a:ext cx="658368" cy="16459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8360" y="228600"/>
            <a:ext cx="105156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EBF2FC"/>
                </a:solidFill>
                <a:latin typeface="Aptos"/>
              </a:rPr>
              <a:t>Capgemini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228600"/>
            <a:ext cx="71323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Invent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339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 dirty="0">
                <a:solidFill>
                  <a:srgbClr val="97A4B7"/>
                </a:solidFill>
                <a:latin typeface="Aptos"/>
              </a:rPr>
              <a:t>Company •  </a:t>
            </a:r>
            <a:r>
              <a:rPr sz="800" b="0" i="0" dirty="0" err="1">
                <a:solidFill>
                  <a:srgbClr val="97A4B7"/>
                </a:solidFill>
                <a:latin typeface="Aptos"/>
              </a:rPr>
              <a:t>AskDB</a:t>
            </a:r>
            <a:r>
              <a:rPr sz="800" b="0" i="0" dirty="0">
                <a:solidFill>
                  <a:srgbClr val="97A4B7"/>
                </a:solidFill>
                <a:latin typeface="Aptos"/>
              </a:rPr>
              <a:t> AI Data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528816"/>
            <a:ext cx="3657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97A4B7"/>
                </a:solidFill>
                <a:latin typeface="Aptos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65960"/>
            <a:ext cx="1691640" cy="1828800"/>
          </a:xfrm>
          <a:prstGeom prst="roundRect">
            <a:avLst>
              <a:gd name="adj" fmla="val 12000"/>
            </a:avLst>
          </a:prstGeom>
          <a:solidFill>
            <a:srgbClr val="163038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2121408"/>
            <a:ext cx="457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7DAEF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2514600"/>
            <a:ext cx="14630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BF2FC"/>
                </a:solidFill>
                <a:latin typeface="Aptos"/>
              </a:rPr>
              <a:t>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926080"/>
            <a:ext cx="1444752" cy="6858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D8E1EE"/>
                </a:solidFill>
                <a:latin typeface="Aptos"/>
              </a:rPr>
              <a:t>Natural-language question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03704" y="2852928"/>
            <a:ext cx="201168" cy="0"/>
          </a:xfrm>
          <a:prstGeom prst="line">
            <a:avLst/>
          </a:prstGeom>
          <a:ln w="1905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441448" y="1965960"/>
            <a:ext cx="1691640" cy="1828800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551176" y="2121408"/>
            <a:ext cx="457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4C9DFF"/>
                </a:solidFill>
                <a:latin typeface="Apto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1176" y="2514600"/>
            <a:ext cx="14630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BF2FC"/>
                </a:solidFill>
                <a:latin typeface="Aptos"/>
              </a:rPr>
              <a:t>Interpret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1176" y="2926080"/>
            <a:ext cx="1444752" cy="6858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D8E1EE"/>
                </a:solidFill>
                <a:latin typeface="Aptos"/>
              </a:rPr>
              <a:t>Identify intent, measures, dimensions and time range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42232" y="2852928"/>
            <a:ext cx="201168" cy="0"/>
          </a:xfrm>
          <a:prstGeom prst="line">
            <a:avLst/>
          </a:prstGeom>
          <a:ln w="1905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79976" y="1965960"/>
            <a:ext cx="1691640" cy="1828800"/>
          </a:xfrm>
          <a:prstGeom prst="roundRect">
            <a:avLst>
              <a:gd name="adj" fmla="val 12000"/>
            </a:avLst>
          </a:prstGeom>
          <a:solidFill>
            <a:srgbClr val="162F2A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89704" y="2121408"/>
            <a:ext cx="457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1DAB2"/>
                </a:solidFill>
                <a:latin typeface="Apto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2514600"/>
            <a:ext cx="14630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BF2FC"/>
                </a:solidFill>
                <a:latin typeface="Aptos"/>
              </a:rPr>
              <a:t>Ground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9704" y="2926080"/>
            <a:ext cx="1444752" cy="6858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D8E1EE"/>
                </a:solidFill>
                <a:latin typeface="Aptos"/>
              </a:rPr>
              <a:t>Use semantic definitions and allowed relationships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80760" y="2852928"/>
            <a:ext cx="201168" cy="0"/>
          </a:xfrm>
          <a:prstGeom prst="line">
            <a:avLst/>
          </a:prstGeom>
          <a:ln w="1905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318504" y="1965960"/>
            <a:ext cx="1691640" cy="1828800"/>
          </a:xfrm>
          <a:prstGeom prst="roundRect">
            <a:avLst>
              <a:gd name="adj" fmla="val 12000"/>
            </a:avLst>
          </a:prstGeom>
          <a:solidFill>
            <a:srgbClr val="36271C"/>
          </a:solidFill>
          <a:ln w="10160">
            <a:solidFill>
              <a:srgbClr val="FFA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28232" y="2121408"/>
            <a:ext cx="457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AB52"/>
                </a:solidFill>
                <a:latin typeface="Apto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2" y="2514600"/>
            <a:ext cx="14630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BF2FC"/>
                </a:solidFill>
                <a:latin typeface="Aptos"/>
              </a:rPr>
              <a:t>Generate &amp; validate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2926080"/>
            <a:ext cx="1444752" cy="6858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D8E1EE"/>
                </a:solidFill>
                <a:latin typeface="Aptos"/>
              </a:rPr>
              <a:t>Create SQL, check safety and query structure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19288" y="2852928"/>
            <a:ext cx="201168" cy="0"/>
          </a:xfrm>
          <a:prstGeom prst="line">
            <a:avLst/>
          </a:prstGeom>
          <a:ln w="1905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257032" y="1965960"/>
            <a:ext cx="1691640" cy="1828800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66760" y="2121408"/>
            <a:ext cx="457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4C9DFF"/>
                </a:solidFill>
                <a:latin typeface="Apto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2514600"/>
            <a:ext cx="14630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BF2FC"/>
                </a:solidFill>
                <a:latin typeface="Aptos"/>
              </a:rPr>
              <a:t>Execute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2926080"/>
            <a:ext cx="1444752" cy="6858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D8E1EE"/>
                </a:solidFill>
                <a:latin typeface="Aptos"/>
              </a:rPr>
              <a:t>Run against the connected data platform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957816" y="2852928"/>
            <a:ext cx="201168" cy="0"/>
          </a:xfrm>
          <a:prstGeom prst="line">
            <a:avLst/>
          </a:prstGeom>
          <a:ln w="1905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195560" y="1965960"/>
            <a:ext cx="1691640" cy="1828800"/>
          </a:xfrm>
          <a:prstGeom prst="roundRect">
            <a:avLst>
              <a:gd name="adj" fmla="val 12000"/>
            </a:avLst>
          </a:prstGeom>
          <a:solidFill>
            <a:srgbClr val="163038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305288" y="2121408"/>
            <a:ext cx="457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7DAEF"/>
                </a:solidFill>
                <a:latin typeface="Aptos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5288" y="2514600"/>
            <a:ext cx="14630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BF2FC"/>
                </a:solidFill>
                <a:latin typeface="Aptos"/>
              </a:rPr>
              <a:t>Explain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05288" y="2926080"/>
            <a:ext cx="1444752" cy="6858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D8E1EE"/>
                </a:solidFill>
                <a:latin typeface="Aptos"/>
              </a:rPr>
              <a:t>Return results with table, chart or narrative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4434840"/>
            <a:ext cx="10744200" cy="822960"/>
          </a:xfrm>
          <a:prstGeom prst="roundRect">
            <a:avLst>
              <a:gd name="adj" fmla="val 12000"/>
            </a:avLst>
          </a:prstGeom>
          <a:solidFill>
            <a:srgbClr val="161B24"/>
          </a:solidFill>
          <a:ln w="10160">
            <a:solidFill>
              <a:srgbClr val="151A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0120" y="4617720"/>
            <a:ext cx="14173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7DAEF"/>
                </a:solidFill>
                <a:latin typeface="Aptos"/>
              </a:rPr>
              <a:t>DESIGN PRINCIPLE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14600" y="4572000"/>
            <a:ext cx="84582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BF2FC"/>
                </a:solidFill>
                <a:latin typeface="Aptos"/>
              </a:rPr>
              <a:t>AI supports flexible interpretation; semantic rules and validation protect correctness.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19456"/>
            <a:ext cx="6400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ASKDB  /  AI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EBF2FC"/>
                </a:solidFill>
                <a:latin typeface="Aptos"/>
              </a:rPr>
              <a:t>Reference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33271"/>
            <a:ext cx="10972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7A4B7"/>
                </a:solidFill>
                <a:latin typeface="Aptos"/>
              </a:rPr>
              <a:t>Illustrative current-state architecture — confirm deployment-specific connectors and controls before presenting as production.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417320"/>
            <a:ext cx="11018520" cy="16459"/>
          </a:xfrm>
          <a:prstGeom prst="rect">
            <a:avLst/>
          </a:prstGeom>
          <a:solidFill>
            <a:srgbClr val="303C4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" y="1417320"/>
            <a:ext cx="658368" cy="16459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8360" y="228600"/>
            <a:ext cx="105156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EBF2FC"/>
                </a:solidFill>
                <a:latin typeface="Aptos"/>
              </a:rPr>
              <a:t>Capgemini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228600"/>
            <a:ext cx="71323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Invent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339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 dirty="0">
                <a:solidFill>
                  <a:srgbClr val="97A4B7"/>
                </a:solidFill>
                <a:latin typeface="Aptos"/>
              </a:rPr>
              <a:t>Company •  </a:t>
            </a:r>
            <a:r>
              <a:rPr sz="800" b="0" i="0" dirty="0" err="1">
                <a:solidFill>
                  <a:srgbClr val="97A4B7"/>
                </a:solidFill>
                <a:latin typeface="Aptos"/>
              </a:rPr>
              <a:t>AskDB</a:t>
            </a:r>
            <a:r>
              <a:rPr sz="800" b="0" i="0" dirty="0">
                <a:solidFill>
                  <a:srgbClr val="97A4B7"/>
                </a:solidFill>
                <a:latin typeface="Aptos"/>
              </a:rPr>
              <a:t> AI Data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528816"/>
            <a:ext cx="3657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97A4B7"/>
                </a:solidFill>
                <a:latin typeface="Aptos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481328"/>
            <a:ext cx="192024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7DAEF"/>
                </a:solidFill>
                <a:latin typeface="Aptos"/>
              </a:rPr>
              <a:t>USER EXPERIENCE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783080"/>
            <a:ext cx="1965960" cy="749808"/>
          </a:xfrm>
          <a:prstGeom prst="roundRect">
            <a:avLst>
              <a:gd name="adj" fmla="val 12000"/>
            </a:avLst>
          </a:prstGeom>
          <a:solidFill>
            <a:srgbClr val="163038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1856231"/>
            <a:ext cx="181965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React web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148840"/>
            <a:ext cx="1783080" cy="338327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Chat • dashboards • admin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1481328"/>
            <a:ext cx="201168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7DAEF"/>
                </a:solidFill>
                <a:latin typeface="Aptos"/>
              </a:rPr>
              <a:t>APPLICATION SERVICES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88920" y="1783080"/>
            <a:ext cx="1965960" cy="749808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62072" y="1856231"/>
            <a:ext cx="181965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Node.js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148840"/>
            <a:ext cx="1783080" cy="338327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Auth • orchestration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88920" y="2880360"/>
            <a:ext cx="1965960" cy="749808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62072" y="2953512"/>
            <a:ext cx="181965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AI / SQL 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246120"/>
            <a:ext cx="1783080" cy="338327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Prompt context •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1481328"/>
            <a:ext cx="22860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7DAEF"/>
                </a:solidFill>
                <a:latin typeface="Aptos"/>
              </a:rPr>
              <a:t>INTELLIGENCE &amp; CONTROL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1783080"/>
            <a:ext cx="1965960" cy="749808"/>
          </a:xfrm>
          <a:prstGeom prst="roundRect">
            <a:avLst>
              <a:gd name="adj" fmla="val 12000"/>
            </a:avLst>
          </a:prstGeom>
          <a:solidFill>
            <a:srgbClr val="162F2A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148072" y="1856231"/>
            <a:ext cx="181965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Semantic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59" y="2148840"/>
            <a:ext cx="1783080" cy="338327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YAML measures • joins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74920" y="2880360"/>
            <a:ext cx="1965960" cy="749808"/>
          </a:xfrm>
          <a:prstGeom prst="roundRect">
            <a:avLst>
              <a:gd name="adj" fmla="val 12000"/>
            </a:avLst>
          </a:prstGeom>
          <a:solidFill>
            <a:srgbClr val="36271C"/>
          </a:solidFill>
          <a:ln w="10160">
            <a:solidFill>
              <a:srgbClr val="FFA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48072" y="2953512"/>
            <a:ext cx="181965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LLM provider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59" y="3246120"/>
            <a:ext cx="1783080" cy="338327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Configurable model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4920" y="3977639"/>
            <a:ext cx="1965960" cy="749808"/>
          </a:xfrm>
          <a:prstGeom prst="roundRect">
            <a:avLst>
              <a:gd name="adj" fmla="val 12000"/>
            </a:avLst>
          </a:prstGeom>
          <a:solidFill>
            <a:srgbClr val="161B24"/>
          </a:solidFill>
          <a:ln w="10160">
            <a:solidFill>
              <a:srgbClr val="EBF2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48072" y="4050791"/>
            <a:ext cx="181965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Governance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59" y="4343400"/>
            <a:ext cx="1783080" cy="338327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RBAC • quotas • audit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1481328"/>
            <a:ext cx="22860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7DAEF"/>
                </a:solidFill>
                <a:latin typeface="Aptos"/>
              </a:rPr>
              <a:t>DATA &amp; OBSERVABILITY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1783080"/>
            <a:ext cx="1965960" cy="749808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34072" y="1856231"/>
            <a:ext cx="181965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PostgreSQL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2148840"/>
            <a:ext cx="1783080" cy="338327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Automotive sales data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60920" y="2880360"/>
            <a:ext cx="1965960" cy="749808"/>
          </a:xfrm>
          <a:prstGeom prst="roundRect">
            <a:avLst>
              <a:gd name="adj" fmla="val 12000"/>
            </a:avLst>
          </a:prstGeom>
          <a:solidFill>
            <a:srgbClr val="162F2A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434072" y="2953512"/>
            <a:ext cx="181965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Data Trust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3246120"/>
            <a:ext cx="1783080" cy="338327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DQ rules • quality scores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60920" y="3977639"/>
            <a:ext cx="1965960" cy="749808"/>
          </a:xfrm>
          <a:prstGeom prst="roundRect">
            <a:avLst>
              <a:gd name="adj" fmla="val 12000"/>
            </a:avLst>
          </a:prstGeom>
          <a:solidFill>
            <a:srgbClr val="163038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434072" y="4050791"/>
            <a:ext cx="181965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Entity catalog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52360" y="4343400"/>
            <a:ext cx="1783080" cy="338327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Values • refresh metadata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578608" y="2157984"/>
            <a:ext cx="164592" cy="0"/>
          </a:xfrm>
          <a:prstGeom prst="line">
            <a:avLst/>
          </a:prstGeom>
          <a:ln w="2286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767328" y="2560320"/>
            <a:ext cx="0" cy="274320"/>
          </a:xfrm>
          <a:prstGeom prst="line">
            <a:avLst/>
          </a:prstGeom>
          <a:ln w="2286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773168" y="3246120"/>
            <a:ext cx="256032" cy="0"/>
          </a:xfrm>
          <a:prstGeom prst="line">
            <a:avLst/>
          </a:prstGeom>
          <a:ln w="2286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053328" y="2560320"/>
            <a:ext cx="0" cy="274320"/>
          </a:xfrm>
          <a:prstGeom prst="line">
            <a:avLst/>
          </a:prstGeom>
          <a:ln w="2286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059168" y="2157984"/>
            <a:ext cx="256032" cy="0"/>
          </a:xfrm>
          <a:prstGeom prst="line">
            <a:avLst/>
          </a:prstGeom>
          <a:ln w="2286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059168" y="3246120"/>
            <a:ext cx="256032" cy="0"/>
          </a:xfrm>
          <a:prstGeom prst="line">
            <a:avLst/>
          </a:prstGeom>
          <a:ln w="2286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059168" y="4343400"/>
            <a:ext cx="256032" cy="0"/>
          </a:xfrm>
          <a:prstGeom prst="line">
            <a:avLst/>
          </a:prstGeom>
          <a:ln w="2286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85800" y="5257800"/>
            <a:ext cx="10515600" cy="4114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BF2FC"/>
                </a:solidFill>
                <a:latin typeface="Aptos"/>
              </a:rPr>
              <a:t>Keep the semantic layer and server-side authorization between users, model-generated SQL and protected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19456"/>
            <a:ext cx="6400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ASKDB  /  AI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EBF2FC"/>
                </a:solidFill>
                <a:latin typeface="Aptos"/>
              </a:rPr>
              <a:t>Natural language to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33271"/>
            <a:ext cx="10972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7A4B7"/>
                </a:solidFill>
                <a:latin typeface="Aptos"/>
              </a:rPr>
              <a:t>Example journey: “Show the top 5 vehicle models by revenue this quarter.”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417320"/>
            <a:ext cx="11018520" cy="16459"/>
          </a:xfrm>
          <a:prstGeom prst="rect">
            <a:avLst/>
          </a:prstGeom>
          <a:solidFill>
            <a:srgbClr val="303C4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" y="1417320"/>
            <a:ext cx="658368" cy="16459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8360" y="228600"/>
            <a:ext cx="105156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EBF2FC"/>
                </a:solidFill>
                <a:latin typeface="Aptos"/>
              </a:rPr>
              <a:t>Capgemini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228600"/>
            <a:ext cx="71323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Invent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339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 dirty="0">
                <a:solidFill>
                  <a:srgbClr val="97A4B7"/>
                </a:solidFill>
                <a:latin typeface="Aptos"/>
              </a:rPr>
              <a:t>Company •  </a:t>
            </a:r>
            <a:r>
              <a:rPr sz="800" b="0" i="0" dirty="0" err="1">
                <a:solidFill>
                  <a:srgbClr val="97A4B7"/>
                </a:solidFill>
                <a:latin typeface="Aptos"/>
              </a:rPr>
              <a:t>AskDB</a:t>
            </a:r>
            <a:r>
              <a:rPr sz="800" b="0" i="0" dirty="0">
                <a:solidFill>
                  <a:srgbClr val="97A4B7"/>
                </a:solidFill>
                <a:latin typeface="Aptos"/>
              </a:rPr>
              <a:t> AI Data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528816"/>
            <a:ext cx="3657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97A4B7"/>
                </a:solidFill>
                <a:latin typeface="Aptos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82880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163038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1" y="1901952"/>
            <a:ext cx="168249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194560"/>
            <a:ext cx="1645920" cy="502920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Top 5 models by revenue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6080" y="182880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99232" y="1901952"/>
            <a:ext cx="168249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Semantic grounding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2194560"/>
            <a:ext cx="1645920" cy="502920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Revenue • model • quarter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182880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162F2A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85232" y="1901952"/>
            <a:ext cx="168249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SQL generation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194560"/>
            <a:ext cx="1645920" cy="502920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Group, filter, rank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182880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36271C"/>
          </a:solidFill>
          <a:ln w="10160">
            <a:solidFill>
              <a:srgbClr val="FFA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71231" y="1901952"/>
            <a:ext cx="168249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Safety checks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2194560"/>
            <a:ext cx="1645920" cy="502920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Allow-list • limits • access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84080" y="182880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857232" y="1901952"/>
            <a:ext cx="168249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Answer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19" y="2194560"/>
            <a:ext cx="1645920" cy="502920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Ranked table + chart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487168" y="2286000"/>
            <a:ext cx="384048" cy="0"/>
          </a:xfrm>
          <a:prstGeom prst="line">
            <a:avLst/>
          </a:prstGeom>
          <a:ln w="2286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773168" y="2286000"/>
            <a:ext cx="384048" cy="0"/>
          </a:xfrm>
          <a:prstGeom prst="line">
            <a:avLst/>
          </a:prstGeom>
          <a:ln w="2286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59168" y="2286000"/>
            <a:ext cx="384048" cy="0"/>
          </a:xfrm>
          <a:prstGeom prst="line">
            <a:avLst/>
          </a:prstGeom>
          <a:ln w="2286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345168" y="2286000"/>
            <a:ext cx="384048" cy="0"/>
          </a:xfrm>
          <a:prstGeom prst="line">
            <a:avLst/>
          </a:prstGeom>
          <a:ln w="2286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31520" y="3657600"/>
            <a:ext cx="3429000" cy="123444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31520" y="3657600"/>
            <a:ext cx="64008" cy="1234440"/>
          </a:xfrm>
          <a:prstGeom prst="rect">
            <a:avLst/>
          </a:prstGeom>
          <a:solidFill>
            <a:srgbClr val="FFAB52"/>
          </a:solidFill>
          <a:ln w="10160">
            <a:solidFill>
              <a:srgbClr val="FFA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749039" y="3785615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820363" y="3856939"/>
            <a:ext cx="131673" cy="131673"/>
          </a:xfrm>
          <a:prstGeom prst="ellipse">
            <a:avLst/>
          </a:prstGeom>
          <a:solidFill>
            <a:srgbClr val="FFAB52"/>
          </a:solidFill>
          <a:ln>
            <a:solidFill>
              <a:srgbClr val="FFA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3794760"/>
            <a:ext cx="27706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When intent is ambiguous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4187952"/>
            <a:ext cx="3172968" cy="612648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Ask a focused clarification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Offer likely metric or entity choices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89120" y="3657600"/>
            <a:ext cx="3429000" cy="123444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120" y="3657600"/>
            <a:ext cx="64008" cy="1234440"/>
          </a:xfrm>
          <a:prstGeom prst="rect">
            <a:avLst/>
          </a:prstGeom>
          <a:solidFill>
            <a:srgbClr val="4C9DFF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7406640" y="3785615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477963" y="3856939"/>
            <a:ext cx="131673" cy="131673"/>
          </a:xfrm>
          <a:prstGeom prst="ellipse">
            <a:avLst/>
          </a:prstGeom>
          <a:solidFill>
            <a:srgbClr val="4C9DFF"/>
          </a:solidFill>
          <a:ln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53712" y="3794760"/>
            <a:ext cx="27706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When SQL is invalid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4187952"/>
            <a:ext cx="3172968" cy="612648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Validate and repair if safe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Use a controlled fallback or explain failure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46720" y="3657600"/>
            <a:ext cx="3429000" cy="123444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046720" y="3657600"/>
            <a:ext cx="64008" cy="1234440"/>
          </a:xfrm>
          <a:prstGeom prst="rect">
            <a:avLst/>
          </a:prstGeom>
          <a:solidFill>
            <a:srgbClr val="31DAB2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11064240" y="3785615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Diamond 44"/>
          <p:cNvSpPr/>
          <p:nvPr/>
        </p:nvSpPr>
        <p:spPr>
          <a:xfrm>
            <a:off x="11135563" y="3856939"/>
            <a:ext cx="131673" cy="131673"/>
          </a:xfrm>
          <a:prstGeom prst="diamond">
            <a:avLst/>
          </a:prstGeom>
          <a:solidFill>
            <a:srgbClr val="31DAB2"/>
          </a:solidFill>
          <a:ln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11312" y="3794760"/>
            <a:ext cx="27706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When data is restricted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83880" y="4187952"/>
            <a:ext cx="3172968" cy="612648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Apply authorization server-side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Do not rely on UI filters alone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19456"/>
            <a:ext cx="6400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ASKDB  /  AI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EBF2FC"/>
                </a:solidFill>
                <a:latin typeface="Aptos"/>
              </a:rPr>
              <a:t>AI Chat: the primary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33271"/>
            <a:ext cx="10972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7A4B7"/>
                </a:solidFill>
                <a:latin typeface="Aptos"/>
              </a:rPr>
              <a:t>A focused question-and-answer workspace for business users and analysts.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417320"/>
            <a:ext cx="11018520" cy="16459"/>
          </a:xfrm>
          <a:prstGeom prst="rect">
            <a:avLst/>
          </a:prstGeom>
          <a:solidFill>
            <a:srgbClr val="303C4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" y="1417320"/>
            <a:ext cx="658368" cy="16459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8360" y="228600"/>
            <a:ext cx="105156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EBF2FC"/>
                </a:solidFill>
                <a:latin typeface="Aptos"/>
              </a:rPr>
              <a:t>Capgemini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228600"/>
            <a:ext cx="71323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Invent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339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 dirty="0">
                <a:solidFill>
                  <a:srgbClr val="97A4B7"/>
                </a:solidFill>
                <a:latin typeface="Aptos"/>
              </a:rPr>
              <a:t>Company •  </a:t>
            </a:r>
            <a:r>
              <a:rPr sz="800" b="0" i="0" dirty="0" err="1">
                <a:solidFill>
                  <a:srgbClr val="97A4B7"/>
                </a:solidFill>
                <a:latin typeface="Aptos"/>
              </a:rPr>
              <a:t>AskDB</a:t>
            </a:r>
            <a:r>
              <a:rPr sz="800" b="0" i="0" dirty="0">
                <a:solidFill>
                  <a:srgbClr val="97A4B7"/>
                </a:solidFill>
                <a:latin typeface="Aptos"/>
              </a:rPr>
              <a:t> AI Data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528816"/>
            <a:ext cx="3657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97A4B7"/>
                </a:solidFill>
                <a:latin typeface="Aptos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508760"/>
            <a:ext cx="7452360" cy="4434840"/>
          </a:xfrm>
          <a:prstGeom prst="roundRect">
            <a:avLst>
              <a:gd name="adj" fmla="val 12000"/>
            </a:avLst>
          </a:prstGeom>
          <a:solidFill>
            <a:srgbClr val="161B24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77240" y="1719072"/>
            <a:ext cx="7086600" cy="438912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1819656"/>
            <a:ext cx="384048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EBF2FC"/>
                </a:solidFill>
                <a:latin typeface="Aptos"/>
              </a:rPr>
              <a:t>AskDB  •  Automotive Sales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450592"/>
            <a:ext cx="5074920" cy="566928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1B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2596896"/>
            <a:ext cx="4709160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BF2FC"/>
                </a:solidFill>
                <a:latin typeface="Aptos"/>
              </a:rPr>
              <a:t>Which 5 models generated the most revenue this quarter?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246120"/>
            <a:ext cx="6583680" cy="146304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3401568"/>
            <a:ext cx="3108960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Top models by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749039"/>
            <a:ext cx="21945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7A4B7"/>
                </a:solidFill>
                <a:latin typeface="Aptos"/>
              </a:rP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749039"/>
            <a:ext cx="210312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7A4B7"/>
                </a:solidFill>
                <a:latin typeface="Aptos"/>
              </a:rPr>
              <a:t>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968496"/>
            <a:ext cx="21945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D8E1EE"/>
                </a:solidFill>
                <a:latin typeface="Aptos"/>
              </a:rPr>
              <a:t>Model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968496"/>
            <a:ext cx="210312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D8E1EE"/>
                </a:solidFill>
                <a:latin typeface="Aptos"/>
              </a:rPr>
              <a:t>₹ 12.4 Cr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87952"/>
            <a:ext cx="21945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D8E1EE"/>
                </a:solidFill>
                <a:latin typeface="Aptos"/>
              </a:rPr>
              <a:t>Model 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187952"/>
            <a:ext cx="210312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D8E1EE"/>
                </a:solidFill>
                <a:latin typeface="Aptos"/>
              </a:rPr>
              <a:t>₹ 10.8 Cr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407407"/>
            <a:ext cx="21945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D8E1EE"/>
                </a:solidFill>
                <a:latin typeface="Aptos"/>
              </a:rPr>
              <a:t>Model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407407"/>
            <a:ext cx="210312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D8E1EE"/>
                </a:solidFill>
                <a:latin typeface="Aptos"/>
              </a:rPr>
              <a:t>₹ 9.6 Cr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983480"/>
            <a:ext cx="30175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7DAEF"/>
                </a:solidFill>
                <a:latin typeface="Aptos"/>
              </a:rPr>
              <a:t>Table  |  Chart  |  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596128"/>
            <a:ext cx="67665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1">
                <a:solidFill>
                  <a:srgbClr val="97A4B7"/>
                </a:solidFill>
                <a:latin typeface="Aptos"/>
              </a:rPr>
              <a:t>Illustrative UI mock-up — values are placeholders, not live results.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21040" y="1600200"/>
            <a:ext cx="3154680" cy="1051560"/>
          </a:xfrm>
          <a:prstGeom prst="roundRect">
            <a:avLst>
              <a:gd name="adj" fmla="val 12000"/>
            </a:avLst>
          </a:prstGeom>
          <a:solidFill>
            <a:srgbClr val="163038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321040" y="1600200"/>
            <a:ext cx="64008" cy="1051560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1064240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5-Point Star 30"/>
          <p:cNvSpPr/>
          <p:nvPr/>
        </p:nvSpPr>
        <p:spPr>
          <a:xfrm>
            <a:off x="11135563" y="1799539"/>
            <a:ext cx="131673" cy="131673"/>
          </a:xfrm>
          <a:prstGeom prst="star5">
            <a:avLst/>
          </a:prstGeom>
          <a:solidFill>
            <a:srgbClr val="37DAEF"/>
          </a:solidFill>
          <a:ln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85632" y="1737360"/>
            <a:ext cx="249631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Conversation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2130552"/>
            <a:ext cx="2898648" cy="429767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D8E1EE"/>
                </a:solidFill>
                <a:latin typeface="Aptos"/>
              </a:defRPr>
            </a:pPr>
            <a:r>
              <a:t>•  Ask follow-ups in context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1040" y="2834640"/>
            <a:ext cx="3154680" cy="1051560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321040" y="2834640"/>
            <a:ext cx="64008" cy="1051560"/>
          </a:xfrm>
          <a:prstGeom prst="rect">
            <a:avLst/>
          </a:prstGeom>
          <a:solidFill>
            <a:srgbClr val="4C9DFF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1064240" y="296265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135563" y="3033979"/>
            <a:ext cx="131673" cy="131673"/>
          </a:xfrm>
          <a:prstGeom prst="ellipse">
            <a:avLst/>
          </a:prstGeom>
          <a:solidFill>
            <a:srgbClr val="4C9DFF"/>
          </a:solidFill>
          <a:ln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85632" y="2971800"/>
            <a:ext cx="249631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Answer formats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3364992"/>
            <a:ext cx="2898648" cy="429767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D8E1EE"/>
                </a:solidFill>
                <a:latin typeface="Aptos"/>
              </a:defRPr>
            </a:pPr>
            <a:r>
              <a:t>•  Table, chart and SQL visibility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321040" y="4069080"/>
            <a:ext cx="3154680" cy="1051560"/>
          </a:xfrm>
          <a:prstGeom prst="roundRect">
            <a:avLst>
              <a:gd name="adj" fmla="val 12000"/>
            </a:avLst>
          </a:prstGeom>
          <a:solidFill>
            <a:srgbClr val="162F2A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321040" y="4069080"/>
            <a:ext cx="64008" cy="1051560"/>
          </a:xfrm>
          <a:prstGeom prst="rect">
            <a:avLst/>
          </a:prstGeom>
          <a:solidFill>
            <a:srgbClr val="31DAB2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11064240" y="419709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1135563" y="4268419"/>
            <a:ext cx="131673" cy="131673"/>
          </a:xfrm>
          <a:prstGeom prst="ellipse">
            <a:avLst/>
          </a:prstGeom>
          <a:solidFill>
            <a:srgbClr val="31DAB2"/>
          </a:solidFill>
          <a:ln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485632" y="4206240"/>
            <a:ext cx="249631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Reliability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599432"/>
            <a:ext cx="2898648" cy="429767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D8E1EE"/>
                </a:solidFill>
                <a:latin typeface="Aptos"/>
              </a:defRPr>
            </a:pPr>
            <a:r>
              <a:t>•  Clarify ambiguity; validate queries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19456"/>
            <a:ext cx="6400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ASKDB  /  AI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EBF2FC"/>
                </a:solidFill>
                <a:latin typeface="Aptos"/>
              </a:rPr>
              <a:t>Executive Intelligence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33271"/>
            <a:ext cx="10972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7A4B7"/>
                </a:solidFill>
                <a:latin typeface="Aptos"/>
              </a:rPr>
              <a:t>A high-level view of performance with filters and drill-down into business dimensions.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417320"/>
            <a:ext cx="11018520" cy="16459"/>
          </a:xfrm>
          <a:prstGeom prst="rect">
            <a:avLst/>
          </a:prstGeom>
          <a:solidFill>
            <a:srgbClr val="303C4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" y="1417320"/>
            <a:ext cx="658368" cy="16459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8360" y="228600"/>
            <a:ext cx="105156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EBF2FC"/>
                </a:solidFill>
                <a:latin typeface="Aptos"/>
              </a:rPr>
              <a:t>Capgemini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228600"/>
            <a:ext cx="71323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Invent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339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 dirty="0">
                <a:solidFill>
                  <a:srgbClr val="97A4B7"/>
                </a:solidFill>
                <a:latin typeface="Aptos"/>
              </a:rPr>
              <a:t>Company •  </a:t>
            </a:r>
            <a:r>
              <a:rPr sz="800" b="0" i="0" dirty="0" err="1">
                <a:solidFill>
                  <a:srgbClr val="97A4B7"/>
                </a:solidFill>
                <a:latin typeface="Aptos"/>
              </a:rPr>
              <a:t>AskDB</a:t>
            </a:r>
            <a:r>
              <a:rPr sz="800" b="0" i="0" dirty="0">
                <a:solidFill>
                  <a:srgbClr val="97A4B7"/>
                </a:solidFill>
                <a:latin typeface="Aptos"/>
              </a:rPr>
              <a:t> AI Data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528816"/>
            <a:ext cx="3657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97A4B7"/>
                </a:solidFill>
                <a:latin typeface="Aptos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600200"/>
            <a:ext cx="2029968" cy="86868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78308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7A4B7"/>
                </a:solidFill>
                <a:latin typeface="Aptos"/>
              </a:rPr>
              <a:t>Total Revenue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029968"/>
            <a:ext cx="17830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BF2FC"/>
                </a:solidFill>
                <a:latin typeface="Aptos"/>
              </a:rPr>
              <a:t>₹ 128.6 Cr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1600200"/>
            <a:ext cx="2029968" cy="86868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26080" y="1737360"/>
            <a:ext cx="178308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7A4B7"/>
                </a:solidFill>
                <a:latin typeface="Aptos"/>
              </a:rPr>
              <a:t>Units Sold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029968"/>
            <a:ext cx="17830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BF2FC"/>
                </a:solidFill>
                <a:latin typeface="Aptos"/>
              </a:rPr>
              <a:t>42,810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84064" y="1600200"/>
            <a:ext cx="2029968" cy="86868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792" y="1737360"/>
            <a:ext cx="178308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7A4B7"/>
                </a:solidFill>
                <a:latin typeface="Aptos"/>
              </a:rPr>
              <a:t>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2" y="2029968"/>
            <a:ext cx="17830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BF2FC"/>
                </a:solidFill>
                <a:latin typeface="Aptos"/>
              </a:rPr>
              <a:t>38,240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51775" y="1600200"/>
            <a:ext cx="2029968" cy="86868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61503" y="1737360"/>
            <a:ext cx="178308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7A4B7"/>
                </a:solidFill>
                <a:latin typeface="Aptos"/>
              </a:rPr>
              <a:t>Top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1503" y="2029968"/>
            <a:ext cx="17830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BF2FC"/>
                </a:solidFill>
                <a:latin typeface="Aptos"/>
              </a:rPr>
              <a:t>Model 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19488" y="1600200"/>
            <a:ext cx="2029968" cy="86868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29215" y="1737360"/>
            <a:ext cx="178308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7A4B7"/>
                </a:solidFill>
                <a:latin typeface="Aptos"/>
              </a:rPr>
              <a:t>Top Make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9215" y="2029968"/>
            <a:ext cx="17830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BF2FC"/>
                </a:solidFill>
                <a:latin typeface="Aptos"/>
              </a:rPr>
              <a:t>Make 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2743200"/>
            <a:ext cx="6629400" cy="251460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2907792"/>
            <a:ext cx="29260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Revenue by model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" y="3749039"/>
            <a:ext cx="3383280" cy="347472"/>
          </a:xfrm>
          <a:prstGeom prst="roundRect">
            <a:avLst>
              <a:gd name="adj" fmla="val 12000"/>
            </a:avLst>
          </a:prstGeom>
          <a:solidFill>
            <a:srgbClr val="4C9DFF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005840" y="4279392"/>
            <a:ext cx="2743200" cy="347472"/>
          </a:xfrm>
          <a:prstGeom prst="roundRect">
            <a:avLst>
              <a:gd name="adj" fmla="val 12000"/>
            </a:avLst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005840" y="4809744"/>
            <a:ext cx="2194560" cy="347472"/>
          </a:xfrm>
          <a:prstGeom prst="roundRect">
            <a:avLst>
              <a:gd name="adj" fmla="val 12000"/>
            </a:avLst>
          </a:prstGeom>
          <a:solidFill>
            <a:srgbClr val="31DAB2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26280" y="3776472"/>
            <a:ext cx="137160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D8E1EE"/>
                </a:solidFill>
                <a:latin typeface="Aptos"/>
              </a:rPr>
              <a:t>Model 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306824"/>
            <a:ext cx="137160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D8E1EE"/>
                </a:solidFill>
                <a:latin typeface="Aptos"/>
              </a:rPr>
              <a:t>Model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4837176"/>
            <a:ext cx="137160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D8E1EE"/>
                </a:solidFill>
                <a:latin typeface="Aptos"/>
              </a:rPr>
              <a:t>Model 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79" y="2743200"/>
            <a:ext cx="4069080" cy="2514600"/>
          </a:xfrm>
          <a:prstGeom prst="roundRect">
            <a:avLst>
              <a:gd name="adj" fmla="val 12000"/>
            </a:avLst>
          </a:prstGeom>
          <a:solidFill>
            <a:srgbClr val="161B24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0" y="2926080"/>
            <a:ext cx="18288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Filters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0" y="3364992"/>
            <a:ext cx="3383280" cy="283464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909560" y="3401568"/>
            <a:ext cx="292608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Date range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0" y="3758184"/>
            <a:ext cx="3383280" cy="283464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909560" y="3794760"/>
            <a:ext cx="292608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Region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0" y="4151376"/>
            <a:ext cx="3383280" cy="283464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909560" y="4187952"/>
            <a:ext cx="292608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Make / brand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0" y="4544568"/>
            <a:ext cx="3383280" cy="283464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909560" y="4581144"/>
            <a:ext cx="292608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Vehicle type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577840"/>
            <a:ext cx="1051560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1">
                <a:solidFill>
                  <a:srgbClr val="97A4B7"/>
                </a:solidFill>
                <a:latin typeface="Aptos"/>
              </a:rPr>
              <a:t>Illustrative layout and sample values only. Replace with verified live metrics before external use.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19456"/>
            <a:ext cx="6400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ASKDB  /  AI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EBF2FC"/>
                </a:solidFill>
                <a:latin typeface="Aptos"/>
              </a:rPr>
              <a:t>Analytics Builder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33271"/>
            <a:ext cx="10972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7A4B7"/>
                </a:solidFill>
                <a:latin typeface="Aptos"/>
              </a:rPr>
              <a:t>Move beyond simple totals to reusable analytical patterns with explicit metric and filter semantics.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417320"/>
            <a:ext cx="11018520" cy="16459"/>
          </a:xfrm>
          <a:prstGeom prst="rect">
            <a:avLst/>
          </a:prstGeom>
          <a:solidFill>
            <a:srgbClr val="303C4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" y="1417320"/>
            <a:ext cx="658368" cy="16459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8360" y="228600"/>
            <a:ext cx="105156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EBF2FC"/>
                </a:solidFill>
                <a:latin typeface="Aptos"/>
              </a:rPr>
              <a:t>Capgemini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228600"/>
            <a:ext cx="71323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Invent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339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 dirty="0">
                <a:solidFill>
                  <a:srgbClr val="97A4B7"/>
                </a:solidFill>
                <a:latin typeface="Aptos"/>
              </a:rPr>
              <a:t>Company •  </a:t>
            </a:r>
            <a:r>
              <a:rPr sz="800" b="0" i="0" dirty="0" err="1">
                <a:solidFill>
                  <a:srgbClr val="97A4B7"/>
                </a:solidFill>
                <a:latin typeface="Aptos"/>
              </a:rPr>
              <a:t>AskDB</a:t>
            </a:r>
            <a:r>
              <a:rPr sz="800" b="0" i="0" dirty="0">
                <a:solidFill>
                  <a:srgbClr val="97A4B7"/>
                </a:solidFill>
                <a:latin typeface="Aptos"/>
              </a:rPr>
              <a:t> AI Data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528816"/>
            <a:ext cx="3657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97A4B7"/>
                </a:solidFill>
                <a:latin typeface="Aptos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600200"/>
            <a:ext cx="3474720" cy="128016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1600200"/>
            <a:ext cx="64008" cy="1280160"/>
          </a:xfrm>
          <a:prstGeom prst="rect">
            <a:avLst/>
          </a:prstGeom>
          <a:solidFill>
            <a:srgbClr val="4C9DFF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657600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Up Arrow 13"/>
          <p:cNvSpPr/>
          <p:nvPr/>
        </p:nvSpPr>
        <p:spPr>
          <a:xfrm>
            <a:off x="3728923" y="1799539"/>
            <a:ext cx="131673" cy="131673"/>
          </a:xfrm>
          <a:prstGeom prst="upArrow">
            <a:avLst/>
          </a:prstGeom>
          <a:solidFill>
            <a:srgbClr val="4C9DFF"/>
          </a:solidFill>
          <a:ln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1737360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Aggregation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130552"/>
            <a:ext cx="3172968" cy="65836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D8E1EE"/>
                </a:solidFill>
                <a:latin typeface="Aptos"/>
              </a:rPr>
              <a:t>Revenue, units, order counts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1600200"/>
            <a:ext cx="3474720" cy="128016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120" y="1600200"/>
            <a:ext cx="64008" cy="1280160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452360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Up Arrow 19"/>
          <p:cNvSpPr/>
          <p:nvPr/>
        </p:nvSpPr>
        <p:spPr>
          <a:xfrm>
            <a:off x="7523683" y="1799539"/>
            <a:ext cx="131673" cy="131673"/>
          </a:xfrm>
          <a:prstGeom prst="upArrow">
            <a:avLst/>
          </a:prstGeom>
          <a:solidFill>
            <a:srgbClr val="37DAEF"/>
          </a:solidFill>
          <a:ln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53712" y="1737360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Trend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130552"/>
            <a:ext cx="3172968" cy="65836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D8E1EE"/>
                </a:solidFill>
                <a:latin typeface="Aptos"/>
              </a:rPr>
              <a:t>Month-on-month and year-on-year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80" y="1600200"/>
            <a:ext cx="3474720" cy="128016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3880" y="1600200"/>
            <a:ext cx="64008" cy="1280160"/>
          </a:xfrm>
          <a:prstGeom prst="rect">
            <a:avLst/>
          </a:prstGeom>
          <a:solidFill>
            <a:srgbClr val="31DAB2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1247119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Up Arrow 25"/>
          <p:cNvSpPr/>
          <p:nvPr/>
        </p:nvSpPr>
        <p:spPr>
          <a:xfrm>
            <a:off x="11318443" y="1799539"/>
            <a:ext cx="131673" cy="131673"/>
          </a:xfrm>
          <a:prstGeom prst="upArrow">
            <a:avLst/>
          </a:prstGeom>
          <a:solidFill>
            <a:srgbClr val="31DAB2"/>
          </a:solidFill>
          <a:ln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48472" y="1737360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Ranking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8472" y="2130552"/>
            <a:ext cx="3172968" cy="65836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D8E1EE"/>
                </a:solidFill>
                <a:latin typeface="Aptos"/>
              </a:rPr>
              <a:t>Top N, dense rank, rank within make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3246120"/>
            <a:ext cx="3474720" cy="128016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4360" y="3246120"/>
            <a:ext cx="64008" cy="1280160"/>
          </a:xfrm>
          <a:prstGeom prst="rect">
            <a:avLst/>
          </a:prstGeom>
          <a:solidFill>
            <a:srgbClr val="FFAB52"/>
          </a:solidFill>
          <a:ln w="10160">
            <a:solidFill>
              <a:srgbClr val="FFA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657600" y="337413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Up Arrow 31"/>
          <p:cNvSpPr/>
          <p:nvPr/>
        </p:nvSpPr>
        <p:spPr>
          <a:xfrm>
            <a:off x="3728923" y="3445459"/>
            <a:ext cx="131673" cy="131673"/>
          </a:xfrm>
          <a:prstGeom prst="upArrow">
            <a:avLst/>
          </a:prstGeom>
          <a:solidFill>
            <a:srgbClr val="FFAB52"/>
          </a:solidFill>
          <a:ln>
            <a:solidFill>
              <a:srgbClr val="FFA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58952" y="3383279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Running calculations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" y="3776472"/>
            <a:ext cx="3172968" cy="65836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D8E1EE"/>
                </a:solidFill>
                <a:latin typeface="Aptos"/>
              </a:rPr>
              <a:t>Running totals and moving averages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89120" y="3246120"/>
            <a:ext cx="3474720" cy="128016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389120" y="3246120"/>
            <a:ext cx="64008" cy="1280160"/>
          </a:xfrm>
          <a:prstGeom prst="rect">
            <a:avLst/>
          </a:prstGeom>
          <a:solidFill>
            <a:srgbClr val="4C9DFF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7452360" y="337413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Up Arrow 37"/>
          <p:cNvSpPr/>
          <p:nvPr/>
        </p:nvSpPr>
        <p:spPr>
          <a:xfrm>
            <a:off x="7523683" y="3445459"/>
            <a:ext cx="131673" cy="131673"/>
          </a:xfrm>
          <a:prstGeom prst="upArrow">
            <a:avLst/>
          </a:prstGeom>
          <a:solidFill>
            <a:srgbClr val="4C9DFF"/>
          </a:solidFill>
          <a:ln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53712" y="3383279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Variance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776472"/>
            <a:ext cx="3172968" cy="65836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D8E1EE"/>
                </a:solidFill>
                <a:latin typeface="Aptos"/>
              </a:rPr>
              <a:t>Actual vs target and percentage variance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83880" y="3246120"/>
            <a:ext cx="3474720" cy="128016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83880" y="3246120"/>
            <a:ext cx="64008" cy="1280160"/>
          </a:xfrm>
          <a:prstGeom prst="rect">
            <a:avLst/>
          </a:prstGeom>
          <a:solidFill>
            <a:srgbClr val="31DAB2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1247119" y="337413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Up Arrow 43"/>
          <p:cNvSpPr/>
          <p:nvPr/>
        </p:nvSpPr>
        <p:spPr>
          <a:xfrm>
            <a:off x="11318443" y="3445459"/>
            <a:ext cx="131673" cy="131673"/>
          </a:xfrm>
          <a:prstGeom prst="upArrow">
            <a:avLst/>
          </a:prstGeom>
          <a:solidFill>
            <a:srgbClr val="31DAB2"/>
          </a:solidFill>
          <a:ln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48472" y="3383279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Segmentation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3776472"/>
            <a:ext cx="3172968" cy="65836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D8E1EE"/>
                </a:solidFill>
                <a:latin typeface="Aptos"/>
              </a:rPr>
              <a:t>By region, dealer, model, colour and time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5166360"/>
            <a:ext cx="10789920" cy="594360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1B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14400" y="5321808"/>
            <a:ext cx="102412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Quality gate: validate grouping, partitioning, date grain, metric definition and row-level access before showing results.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19456"/>
            <a:ext cx="6400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ASKDB  /  AI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EBF2FC"/>
                </a:solidFill>
                <a:latin typeface="Aptos"/>
              </a:rPr>
              <a:t>Data Trust &amp;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33271"/>
            <a:ext cx="10972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7A4B7"/>
                </a:solidFill>
                <a:latin typeface="Aptos"/>
              </a:rPr>
              <a:t>Make quality visible with rule-based checks, scores, exceptions and operational freshness.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417320"/>
            <a:ext cx="11018520" cy="16459"/>
          </a:xfrm>
          <a:prstGeom prst="rect">
            <a:avLst/>
          </a:prstGeom>
          <a:solidFill>
            <a:srgbClr val="303C4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" y="1417320"/>
            <a:ext cx="658368" cy="16459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8360" y="228600"/>
            <a:ext cx="105156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EBF2FC"/>
                </a:solidFill>
                <a:latin typeface="Aptos"/>
              </a:rPr>
              <a:t>Capgemini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228600"/>
            <a:ext cx="71323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Invent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339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 dirty="0">
                <a:solidFill>
                  <a:srgbClr val="97A4B7"/>
                </a:solidFill>
                <a:latin typeface="Aptos"/>
              </a:rPr>
              <a:t>Company •  </a:t>
            </a:r>
            <a:r>
              <a:rPr sz="800" b="0" i="0" dirty="0" err="1">
                <a:solidFill>
                  <a:srgbClr val="97A4B7"/>
                </a:solidFill>
                <a:latin typeface="Aptos"/>
              </a:rPr>
              <a:t>AskDB</a:t>
            </a:r>
            <a:r>
              <a:rPr sz="800" b="0" i="0" dirty="0">
                <a:solidFill>
                  <a:srgbClr val="97A4B7"/>
                </a:solidFill>
                <a:latin typeface="Aptos"/>
              </a:rPr>
              <a:t> AI Data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528816"/>
            <a:ext cx="3657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97A4B7"/>
                </a:solidFill>
                <a:latin typeface="Aptos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600200"/>
            <a:ext cx="3474720" cy="100584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1600200"/>
            <a:ext cx="64008" cy="1005840"/>
          </a:xfrm>
          <a:prstGeom prst="rect">
            <a:avLst/>
          </a:prstGeom>
          <a:solidFill>
            <a:srgbClr val="4C9DFF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657600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iamond 13"/>
          <p:cNvSpPr/>
          <p:nvPr/>
        </p:nvSpPr>
        <p:spPr>
          <a:xfrm>
            <a:off x="3728923" y="1799539"/>
            <a:ext cx="131673" cy="131673"/>
          </a:xfrm>
          <a:prstGeom prst="diamond">
            <a:avLst/>
          </a:prstGeom>
          <a:solidFill>
            <a:srgbClr val="4C9DFF"/>
          </a:solidFill>
          <a:ln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1737360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130552"/>
            <a:ext cx="3172968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D8E1EE"/>
                </a:solidFill>
                <a:latin typeface="Aptos"/>
              </a:rPr>
              <a:t>Values align to trusted sources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1600200"/>
            <a:ext cx="3474720" cy="100584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120" y="1600200"/>
            <a:ext cx="64008" cy="1005840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452360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Diamond 19"/>
          <p:cNvSpPr/>
          <p:nvPr/>
        </p:nvSpPr>
        <p:spPr>
          <a:xfrm>
            <a:off x="7523683" y="1799539"/>
            <a:ext cx="131673" cy="131673"/>
          </a:xfrm>
          <a:prstGeom prst="diamond">
            <a:avLst/>
          </a:prstGeom>
          <a:solidFill>
            <a:srgbClr val="37DAEF"/>
          </a:solidFill>
          <a:ln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53712" y="1737360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Completeness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130552"/>
            <a:ext cx="3172968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D8E1EE"/>
                </a:solidFill>
                <a:latin typeface="Aptos"/>
              </a:rPr>
              <a:t>Required values are present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80" y="1600200"/>
            <a:ext cx="3474720" cy="100584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3880" y="1600200"/>
            <a:ext cx="64008" cy="1005840"/>
          </a:xfrm>
          <a:prstGeom prst="rect">
            <a:avLst/>
          </a:prstGeom>
          <a:solidFill>
            <a:srgbClr val="31DAB2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1247119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iamond 25"/>
          <p:cNvSpPr/>
          <p:nvPr/>
        </p:nvSpPr>
        <p:spPr>
          <a:xfrm>
            <a:off x="11318443" y="1799539"/>
            <a:ext cx="131673" cy="131673"/>
          </a:xfrm>
          <a:prstGeom prst="diamond">
            <a:avLst/>
          </a:prstGeom>
          <a:solidFill>
            <a:srgbClr val="31DAB2"/>
          </a:solidFill>
          <a:ln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48472" y="1737360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Consistency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8472" y="2130552"/>
            <a:ext cx="3172968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D8E1EE"/>
                </a:solidFill>
                <a:latin typeface="Aptos"/>
              </a:rPr>
              <a:t>Definitions and formats agree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2926080"/>
            <a:ext cx="3474720" cy="100584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4360" y="2926080"/>
            <a:ext cx="64008" cy="1005840"/>
          </a:xfrm>
          <a:prstGeom prst="rect">
            <a:avLst/>
          </a:prstGeom>
          <a:solidFill>
            <a:srgbClr val="FFAB52"/>
          </a:solidFill>
          <a:ln w="10160">
            <a:solidFill>
              <a:srgbClr val="FFA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657600" y="305409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Diamond 31"/>
          <p:cNvSpPr/>
          <p:nvPr/>
        </p:nvSpPr>
        <p:spPr>
          <a:xfrm>
            <a:off x="3728923" y="3125419"/>
            <a:ext cx="131673" cy="131673"/>
          </a:xfrm>
          <a:prstGeom prst="diamond">
            <a:avLst/>
          </a:prstGeom>
          <a:solidFill>
            <a:srgbClr val="FFAB52"/>
          </a:solidFill>
          <a:ln>
            <a:solidFill>
              <a:srgbClr val="FFA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58952" y="3063240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Timeliness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" y="3456432"/>
            <a:ext cx="3172968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D8E1EE"/>
                </a:solidFill>
                <a:latin typeface="Aptos"/>
              </a:rPr>
              <a:t>Data is refreshed on schedule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89120" y="2926080"/>
            <a:ext cx="3474720" cy="100584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389120" y="2926080"/>
            <a:ext cx="64008" cy="1005840"/>
          </a:xfrm>
          <a:prstGeom prst="rect">
            <a:avLst/>
          </a:prstGeom>
          <a:solidFill>
            <a:srgbClr val="4C9DFF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7452360" y="305409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Diamond 37"/>
          <p:cNvSpPr/>
          <p:nvPr/>
        </p:nvSpPr>
        <p:spPr>
          <a:xfrm>
            <a:off x="7523683" y="3125419"/>
            <a:ext cx="131673" cy="131673"/>
          </a:xfrm>
          <a:prstGeom prst="diamond">
            <a:avLst/>
          </a:prstGeom>
          <a:solidFill>
            <a:srgbClr val="4C9DFF"/>
          </a:solidFill>
          <a:ln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53712" y="3063240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Validity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456432"/>
            <a:ext cx="3172968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D8E1EE"/>
                </a:solidFill>
                <a:latin typeface="Aptos"/>
              </a:rPr>
              <a:t>Values meet business rules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83880" y="2926080"/>
            <a:ext cx="3474720" cy="100584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83880" y="2926080"/>
            <a:ext cx="64008" cy="1005840"/>
          </a:xfrm>
          <a:prstGeom prst="rect">
            <a:avLst/>
          </a:prstGeom>
          <a:solidFill>
            <a:srgbClr val="31DAB2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1247119" y="305409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Diamond 43"/>
          <p:cNvSpPr/>
          <p:nvPr/>
        </p:nvSpPr>
        <p:spPr>
          <a:xfrm>
            <a:off x="11318443" y="3125419"/>
            <a:ext cx="131673" cy="131673"/>
          </a:xfrm>
          <a:prstGeom prst="diamond">
            <a:avLst/>
          </a:prstGeom>
          <a:solidFill>
            <a:srgbClr val="31DAB2"/>
          </a:solidFill>
          <a:ln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48472" y="3063240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Uniqueness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3456432"/>
            <a:ext cx="3172968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D8E1EE"/>
                </a:solidFill>
                <a:latin typeface="Aptos"/>
              </a:rPr>
              <a:t>Unexpected duplicates are detected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4572000"/>
            <a:ext cx="10789920" cy="914400"/>
          </a:xfrm>
          <a:prstGeom prst="roundRect">
            <a:avLst>
              <a:gd name="adj" fmla="val 12000"/>
            </a:avLst>
          </a:prstGeom>
          <a:solidFill>
            <a:srgbClr val="161B24"/>
          </a:solidFill>
          <a:ln w="10160">
            <a:solidFill>
              <a:srgbClr val="151A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14400" y="4754880"/>
            <a:ext cx="1828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Operational signals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880360" y="4773168"/>
            <a:ext cx="1417320" cy="292608"/>
          </a:xfrm>
          <a:prstGeom prst="roundRect">
            <a:avLst>
              <a:gd name="adj" fmla="val 12000"/>
            </a:avLst>
          </a:prstGeom>
          <a:solidFill>
            <a:srgbClr val="162F2A"/>
          </a:solidFill>
          <a:ln w="10160">
            <a:solidFill>
              <a:srgbClr val="162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907791" y="4791455"/>
            <a:ext cx="1362456" cy="219456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31DAB2"/>
                </a:solidFill>
                <a:latin typeface="Aptos"/>
              </a:rPr>
              <a:t>QUALITY SCORE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80560" y="4773168"/>
            <a:ext cx="1325880" cy="292608"/>
          </a:xfrm>
          <a:prstGeom prst="roundRect">
            <a:avLst>
              <a:gd name="adj" fmla="val 12000"/>
            </a:avLst>
          </a:prstGeom>
          <a:solidFill>
            <a:srgbClr val="36271C"/>
          </a:solidFill>
          <a:ln w="10160">
            <a:solidFill>
              <a:srgbClr val="3627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507992" y="4791455"/>
            <a:ext cx="1271016" cy="219456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FAB52"/>
                </a:solidFill>
                <a:latin typeface="Aptos"/>
              </a:rPr>
              <a:t>FAILED RULES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89320" y="4773168"/>
            <a:ext cx="1417320" cy="292608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1B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016752" y="4791455"/>
            <a:ext cx="1362456" cy="219456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4C9DFF"/>
                </a:solidFill>
                <a:latin typeface="Aptos"/>
              </a:rPr>
              <a:t>LAST REFRESH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589520" y="4773168"/>
            <a:ext cx="1005840" cy="292608"/>
          </a:xfrm>
          <a:prstGeom prst="roundRect">
            <a:avLst>
              <a:gd name="adj" fmla="val 12000"/>
            </a:avLst>
          </a:prstGeom>
          <a:solidFill>
            <a:srgbClr val="163038"/>
          </a:solidFill>
          <a:ln w="10160">
            <a:solidFill>
              <a:srgbClr val="163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616952" y="4791455"/>
            <a:ext cx="950976" cy="219456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31DAB2"/>
                </a:solidFill>
                <a:latin typeface="Aptos"/>
              </a:rPr>
              <a:t>LOAD ID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" y="5166360"/>
            <a:ext cx="987552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97A4B7"/>
                </a:solidFill>
                <a:latin typeface="Aptos"/>
              </a:rPr>
              <a:t>Use verified execution data to populate scores and timestamps; avoid presenting mock values as production metrics.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19456"/>
            <a:ext cx="6400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ASKDB  /  AI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EBF2FC"/>
                </a:solidFill>
                <a:latin typeface="Aptos"/>
              </a:rPr>
              <a:t>Semantic Atlas &amp; Knowledge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33271"/>
            <a:ext cx="10972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7A4B7"/>
                </a:solidFill>
                <a:latin typeface="Aptos"/>
              </a:rPr>
              <a:t>Keep business meaning, observed values and relationships understandable to both users and AI.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417320"/>
            <a:ext cx="11018520" cy="16459"/>
          </a:xfrm>
          <a:prstGeom prst="rect">
            <a:avLst/>
          </a:prstGeom>
          <a:solidFill>
            <a:srgbClr val="303C4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" y="1417320"/>
            <a:ext cx="658368" cy="16459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8360" y="228600"/>
            <a:ext cx="105156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EBF2FC"/>
                </a:solidFill>
                <a:latin typeface="Aptos"/>
              </a:rPr>
              <a:t>Capgemini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228600"/>
            <a:ext cx="71323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Invent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339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 dirty="0">
                <a:solidFill>
                  <a:srgbClr val="97A4B7"/>
                </a:solidFill>
                <a:latin typeface="Aptos"/>
              </a:rPr>
              <a:t>Company •  </a:t>
            </a:r>
            <a:r>
              <a:rPr sz="800" b="0" i="0" dirty="0" err="1">
                <a:solidFill>
                  <a:srgbClr val="97A4B7"/>
                </a:solidFill>
                <a:latin typeface="Aptos"/>
              </a:rPr>
              <a:t>AskDB</a:t>
            </a:r>
            <a:r>
              <a:rPr sz="800" b="0" i="0" dirty="0">
                <a:solidFill>
                  <a:srgbClr val="97A4B7"/>
                </a:solidFill>
                <a:latin typeface="Aptos"/>
              </a:rPr>
              <a:t> AI Data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528816"/>
            <a:ext cx="3657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97A4B7"/>
                </a:solidFill>
                <a:latin typeface="Aptos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600200"/>
            <a:ext cx="3429000" cy="1828800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1600200"/>
            <a:ext cx="64008" cy="1828800"/>
          </a:xfrm>
          <a:prstGeom prst="rect">
            <a:avLst/>
          </a:prstGeom>
          <a:solidFill>
            <a:srgbClr val="4C9DFF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611880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xagon 13"/>
          <p:cNvSpPr/>
          <p:nvPr/>
        </p:nvSpPr>
        <p:spPr>
          <a:xfrm>
            <a:off x="3683203" y="1799539"/>
            <a:ext cx="131673" cy="131673"/>
          </a:xfrm>
          <a:prstGeom prst="hexagon">
            <a:avLst/>
          </a:prstGeom>
          <a:solidFill>
            <a:srgbClr val="4C9DFF"/>
          </a:solidFill>
          <a:ln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1737360"/>
            <a:ext cx="27706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Semantic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130552"/>
            <a:ext cx="3172968" cy="1207007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YAML-defined measures and dimensions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Approved relationships and join paths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Business-friendly names and definitions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600200"/>
            <a:ext cx="3429000" cy="1828800"/>
          </a:xfrm>
          <a:prstGeom prst="roundRect">
            <a:avLst>
              <a:gd name="adj" fmla="val 12000"/>
            </a:avLst>
          </a:prstGeom>
          <a:solidFill>
            <a:srgbClr val="163038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43400" y="1600200"/>
            <a:ext cx="64008" cy="1828800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360919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xagon 19"/>
          <p:cNvSpPr/>
          <p:nvPr/>
        </p:nvSpPr>
        <p:spPr>
          <a:xfrm>
            <a:off x="7432243" y="1799539"/>
            <a:ext cx="131673" cy="131673"/>
          </a:xfrm>
          <a:prstGeom prst="hexagon">
            <a:avLst/>
          </a:prstGeom>
          <a:solidFill>
            <a:srgbClr val="37DAEF"/>
          </a:solidFill>
          <a:ln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1737360"/>
            <a:ext cx="27706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Entity Catalog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130552"/>
            <a:ext cx="3172968" cy="1207007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Distinct values for business entities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Flag newly observed values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Refresh time, row count and load ID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600200"/>
            <a:ext cx="3429000" cy="1828800"/>
          </a:xfrm>
          <a:prstGeom prst="roundRect">
            <a:avLst>
              <a:gd name="adj" fmla="val 12000"/>
            </a:avLst>
          </a:prstGeom>
          <a:solidFill>
            <a:srgbClr val="162F2A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92440" y="1600200"/>
            <a:ext cx="64008" cy="1828800"/>
          </a:xfrm>
          <a:prstGeom prst="rect">
            <a:avLst/>
          </a:prstGeom>
          <a:solidFill>
            <a:srgbClr val="31DAB2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1109959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Hexagon 25"/>
          <p:cNvSpPr/>
          <p:nvPr/>
        </p:nvSpPr>
        <p:spPr>
          <a:xfrm>
            <a:off x="11181283" y="1799539"/>
            <a:ext cx="131673" cy="131673"/>
          </a:xfrm>
          <a:prstGeom prst="hexagon">
            <a:avLst/>
          </a:prstGeom>
          <a:solidFill>
            <a:srgbClr val="31DAB2"/>
          </a:solidFill>
          <a:ln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57031" y="1737360"/>
            <a:ext cx="27706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Knowledge Graph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130552"/>
            <a:ext cx="3172968" cy="1207007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Entities, attributes, events and actors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Relationships shown visually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Useful for exploration and discovery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4069080"/>
            <a:ext cx="1508760" cy="640080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7552" y="4142232"/>
            <a:ext cx="136245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Vehicle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434840"/>
            <a:ext cx="1325880" cy="228599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Model / make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0" y="4069080"/>
            <a:ext cx="1508760" cy="640080"/>
          </a:xfrm>
          <a:prstGeom prst="roundRect">
            <a:avLst>
              <a:gd name="adj" fmla="val 12000"/>
            </a:avLst>
          </a:prstGeom>
          <a:solidFill>
            <a:srgbClr val="163038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730752" y="4142232"/>
            <a:ext cx="136245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Sales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434840"/>
            <a:ext cx="1325880" cy="228599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Order / date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069080"/>
            <a:ext cx="1508760" cy="640080"/>
          </a:xfrm>
          <a:prstGeom prst="roundRect">
            <a:avLst>
              <a:gd name="adj" fmla="val 12000"/>
            </a:avLst>
          </a:prstGeom>
          <a:solidFill>
            <a:srgbClr val="162F2A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73952" y="4142232"/>
            <a:ext cx="136245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Dealer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4434840"/>
            <a:ext cx="1325880" cy="228599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Region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0" y="4069080"/>
            <a:ext cx="1508760" cy="640080"/>
          </a:xfrm>
          <a:prstGeom prst="roundRect">
            <a:avLst>
              <a:gd name="adj" fmla="val 12000"/>
            </a:avLst>
          </a:prstGeom>
          <a:solidFill>
            <a:srgbClr val="36271C"/>
          </a:solidFill>
          <a:ln w="10160">
            <a:solidFill>
              <a:srgbClr val="FFA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217152" y="4142232"/>
            <a:ext cx="1362456" cy="256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Customer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4434840"/>
            <a:ext cx="1325880" cy="228599"/>
          </a:xfrm>
          <a:prstGeom prst="rect">
            <a:avLst/>
          </a:prstGeom>
          <a:noFill/>
        </p:spPr>
        <p:txBody>
          <a:bodyPr wrap="square" lIns="54864" tIns="54864" r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97A4B7"/>
                </a:solidFill>
                <a:latin typeface="Aptos"/>
              </a:rPr>
              <a:t>Segment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450592" y="4389120"/>
            <a:ext cx="1179576" cy="0"/>
          </a:xfrm>
          <a:prstGeom prst="line">
            <a:avLst/>
          </a:prstGeom>
          <a:ln w="2286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193792" y="4389120"/>
            <a:ext cx="1179576" cy="0"/>
          </a:xfrm>
          <a:prstGeom prst="line">
            <a:avLst/>
          </a:prstGeom>
          <a:ln w="2286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36992" y="4389120"/>
            <a:ext cx="1179576" cy="0"/>
          </a:xfrm>
          <a:prstGeom prst="line">
            <a:avLst/>
          </a:prstGeom>
          <a:ln w="22860">
            <a:solidFill>
              <a:srgbClr val="37DAE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6400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ASKDB  /  AI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21208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EBF2FC"/>
                </a:solidFill>
                <a:latin typeface="Aptos"/>
              </a:rPr>
              <a:t>Admin Center &amp; AI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42415"/>
            <a:ext cx="10972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7A4B7"/>
                </a:solidFill>
                <a:latin typeface="Aptos"/>
              </a:rPr>
              <a:t>Operational controls for model configuration, usage visibility, quotas and auditability.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426464"/>
            <a:ext cx="11018520" cy="16459"/>
          </a:xfrm>
          <a:prstGeom prst="rect">
            <a:avLst/>
          </a:prstGeom>
          <a:solidFill>
            <a:srgbClr val="303C4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" y="1426464"/>
            <a:ext cx="658368" cy="16459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8360" y="237744"/>
            <a:ext cx="105156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EBF2FC"/>
                </a:solidFill>
                <a:latin typeface="Aptos"/>
              </a:rPr>
              <a:t>Capgemini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237744"/>
            <a:ext cx="71323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Invent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339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 dirty="0">
                <a:solidFill>
                  <a:srgbClr val="97A4B7"/>
                </a:solidFill>
                <a:latin typeface="Aptos"/>
              </a:rPr>
              <a:t>Company •  </a:t>
            </a:r>
            <a:r>
              <a:rPr sz="800" b="0" i="0" dirty="0" err="1">
                <a:solidFill>
                  <a:srgbClr val="97A4B7"/>
                </a:solidFill>
                <a:latin typeface="Aptos"/>
              </a:rPr>
              <a:t>AskDB</a:t>
            </a:r>
            <a:r>
              <a:rPr sz="800" b="0" i="0" dirty="0">
                <a:solidFill>
                  <a:srgbClr val="97A4B7"/>
                </a:solidFill>
                <a:latin typeface="Aptos"/>
              </a:rPr>
              <a:t> AI Data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528816"/>
            <a:ext cx="3657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97A4B7"/>
                </a:solidFill>
                <a:latin typeface="Aptos"/>
              </a:rP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609344"/>
            <a:ext cx="3429000" cy="141732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1609344"/>
            <a:ext cx="64008" cy="1417320"/>
          </a:xfrm>
          <a:prstGeom prst="rect">
            <a:avLst/>
          </a:prstGeom>
          <a:solidFill>
            <a:srgbClr val="4C9DFF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611880" y="1737360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683203" y="1808683"/>
            <a:ext cx="131673" cy="131673"/>
          </a:xfrm>
          <a:prstGeom prst="ellipse">
            <a:avLst/>
          </a:prstGeom>
          <a:solidFill>
            <a:srgbClr val="4C9DFF"/>
          </a:solidFill>
          <a:ln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1746504"/>
            <a:ext cx="27706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LLM configuration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139696"/>
            <a:ext cx="3172968" cy="795528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Provider and model catalog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Token and cost estimates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609344"/>
            <a:ext cx="3429000" cy="141732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43400" y="1609344"/>
            <a:ext cx="64008" cy="1417320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360919" y="1737360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Pentagon 19"/>
          <p:cNvSpPr/>
          <p:nvPr/>
        </p:nvSpPr>
        <p:spPr>
          <a:xfrm>
            <a:off x="7432243" y="1808683"/>
            <a:ext cx="131673" cy="131673"/>
          </a:xfrm>
          <a:prstGeom prst="homePlate">
            <a:avLst/>
          </a:prstGeom>
          <a:solidFill>
            <a:srgbClr val="37DAEF"/>
          </a:solidFill>
          <a:ln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1746504"/>
            <a:ext cx="27706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Usage controls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139696"/>
            <a:ext cx="3172968" cy="795528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Weekly token and call quotas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Usage by user and time period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609344"/>
            <a:ext cx="3429000" cy="141732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92440" y="1609344"/>
            <a:ext cx="64008" cy="1417320"/>
          </a:xfrm>
          <a:prstGeom prst="rect">
            <a:avLst/>
          </a:prstGeom>
          <a:solidFill>
            <a:srgbClr val="31DAB2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1109959" y="1737360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Pentagon 25"/>
          <p:cNvSpPr/>
          <p:nvPr/>
        </p:nvSpPr>
        <p:spPr>
          <a:xfrm>
            <a:off x="11181283" y="1808683"/>
            <a:ext cx="131673" cy="131673"/>
          </a:xfrm>
          <a:prstGeom prst="homePlate">
            <a:avLst/>
          </a:prstGeom>
          <a:solidFill>
            <a:srgbClr val="31DAB2"/>
          </a:solidFill>
          <a:ln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57031" y="1746504"/>
            <a:ext cx="277063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Audit &amp; operations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139696"/>
            <a:ext cx="3172968" cy="795528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Question and execution metadata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Data-quality and catalog refresh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3529584"/>
            <a:ext cx="10789920" cy="1417320"/>
          </a:xfrm>
          <a:prstGeom prst="roundRect">
            <a:avLst>
              <a:gd name="adj" fmla="val 12000"/>
            </a:avLst>
          </a:prstGeom>
          <a:solidFill>
            <a:srgbClr val="161B24"/>
          </a:solidFill>
          <a:ln w="10160">
            <a:solidFill>
              <a:srgbClr val="151A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3739896"/>
            <a:ext cx="20574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BF2FC"/>
                </a:solidFill>
                <a:latin typeface="Aptos"/>
              </a:rPr>
              <a:t>Governance principles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3685031"/>
            <a:ext cx="8046720" cy="1051560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Keep provider credentials on the server; never expose secrets in the browser.</a:t>
            </a:r>
          </a:p>
          <a:p>
            <a:pPr>
              <a:spcAft>
                <a:spcPts val="5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Log enough metadata to audit outcomes without unnecessarily storing sensitive prompts.</a:t>
            </a:r>
          </a:p>
          <a:p>
            <a:pPr>
              <a:spcAft>
                <a:spcPts val="5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Apply quotas consistently and return clear, actionable messages when limits are reached.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312664"/>
            <a:ext cx="1024128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97A4B7"/>
                </a:solidFill>
                <a:latin typeface="Aptos"/>
              </a:rPr>
              <a:t>Only describe controls as implemented after verifying the current application and configuration.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19456"/>
            <a:ext cx="6400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ASKDB  /  AI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EBF2FC"/>
                </a:solidFill>
                <a:latin typeface="Aptos"/>
              </a:rPr>
              <a:t>Role-based regional data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33271"/>
            <a:ext cx="10972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7A4B7"/>
                </a:solidFill>
                <a:latin typeface="Aptos"/>
              </a:rPr>
              <a:t>All users can access the same experience, while results are restricted to their authorized region.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417320"/>
            <a:ext cx="11018520" cy="16459"/>
          </a:xfrm>
          <a:prstGeom prst="rect">
            <a:avLst/>
          </a:prstGeom>
          <a:solidFill>
            <a:srgbClr val="303C4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" y="1417320"/>
            <a:ext cx="658368" cy="16459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8360" y="228600"/>
            <a:ext cx="105156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EBF2FC"/>
                </a:solidFill>
                <a:latin typeface="Aptos"/>
              </a:rPr>
              <a:t>Capgemini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228600"/>
            <a:ext cx="71323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Invent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339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 dirty="0">
                <a:solidFill>
                  <a:srgbClr val="97A4B7"/>
                </a:solidFill>
                <a:latin typeface="Aptos"/>
              </a:rPr>
              <a:t>Company •  </a:t>
            </a:r>
            <a:r>
              <a:rPr sz="800" b="0" i="0" dirty="0" err="1">
                <a:solidFill>
                  <a:srgbClr val="97A4B7"/>
                </a:solidFill>
                <a:latin typeface="Aptos"/>
              </a:rPr>
              <a:t>AskDB</a:t>
            </a:r>
            <a:r>
              <a:rPr sz="800" b="0" i="0" dirty="0">
                <a:solidFill>
                  <a:srgbClr val="97A4B7"/>
                </a:solidFill>
                <a:latin typeface="Aptos"/>
              </a:rPr>
              <a:t> AI Data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528816"/>
            <a:ext cx="3657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97A4B7"/>
                </a:solidFill>
                <a:latin typeface="Aptos"/>
              </a:rPr>
              <a:t>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691640"/>
            <a:ext cx="2194560" cy="502920"/>
          </a:xfrm>
          <a:prstGeom prst="rect">
            <a:avLst/>
          </a:prstGeom>
          <a:solidFill>
            <a:srgbClr val="1B2737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1810512"/>
            <a:ext cx="2048255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Role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1691640"/>
            <a:ext cx="1920240" cy="502920"/>
          </a:xfrm>
          <a:prstGeom prst="rect">
            <a:avLst/>
          </a:prstGeom>
          <a:solidFill>
            <a:srgbClr val="1B2737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99232" y="1810512"/>
            <a:ext cx="1773936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North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91640"/>
            <a:ext cx="1920240" cy="502920"/>
          </a:xfrm>
          <a:prstGeom prst="rect">
            <a:avLst/>
          </a:prstGeom>
          <a:solidFill>
            <a:srgbClr val="1B2737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19472" y="1810512"/>
            <a:ext cx="1773936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South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59" y="1691640"/>
            <a:ext cx="1920240" cy="502920"/>
          </a:xfrm>
          <a:prstGeom prst="rect">
            <a:avLst/>
          </a:prstGeom>
          <a:solidFill>
            <a:srgbClr val="1B2737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39712" y="1810512"/>
            <a:ext cx="1773936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West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0" y="1691640"/>
            <a:ext cx="1920240" cy="502920"/>
          </a:xfrm>
          <a:prstGeom prst="rect">
            <a:avLst/>
          </a:prstGeom>
          <a:solidFill>
            <a:srgbClr val="1B2737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59952" y="1810512"/>
            <a:ext cx="1773936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East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2221992"/>
            <a:ext cx="2194560" cy="530352"/>
          </a:xfrm>
          <a:prstGeom prst="rect">
            <a:avLst/>
          </a:prstGeom>
          <a:solidFill>
            <a:srgbClr val="161B24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2368296"/>
            <a:ext cx="2084831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97A4B7"/>
                </a:solidFill>
                <a:latin typeface="Aptos"/>
              </a:rPr>
              <a:t>Admin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2221992"/>
            <a:ext cx="1920240" cy="530352"/>
          </a:xfrm>
          <a:prstGeom prst="rect">
            <a:avLst/>
          </a:prstGeom>
          <a:solidFill>
            <a:srgbClr val="162F2A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980944" y="2368296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31DAB2"/>
                </a:solidFill>
                <a:latin typeface="Aptos"/>
              </a:rPr>
              <a:t>All data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2221992"/>
            <a:ext cx="1920240" cy="530352"/>
          </a:xfrm>
          <a:prstGeom prst="rect">
            <a:avLst/>
          </a:prstGeom>
          <a:solidFill>
            <a:srgbClr val="162F2A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01183" y="2368296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31DAB2"/>
                </a:solidFill>
                <a:latin typeface="Aptos"/>
              </a:rPr>
              <a:t>All 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59" y="2221992"/>
            <a:ext cx="1920240" cy="530352"/>
          </a:xfrm>
          <a:prstGeom prst="rect">
            <a:avLst/>
          </a:prstGeom>
          <a:solidFill>
            <a:srgbClr val="162F2A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21423" y="2368296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31DAB2"/>
                </a:solidFill>
                <a:latin typeface="Aptos"/>
              </a:rPr>
              <a:t>All data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0" y="2221992"/>
            <a:ext cx="1920240" cy="530352"/>
          </a:xfrm>
          <a:prstGeom prst="rect">
            <a:avLst/>
          </a:prstGeom>
          <a:solidFill>
            <a:srgbClr val="162F2A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41664" y="2368296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31DAB2"/>
                </a:solidFill>
                <a:latin typeface="Aptos"/>
              </a:rPr>
              <a:t>All data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2788920"/>
            <a:ext cx="2194560" cy="530352"/>
          </a:xfrm>
          <a:prstGeom prst="rect">
            <a:avLst/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6384" y="2935224"/>
            <a:ext cx="2084831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97A4B7"/>
                </a:solidFill>
                <a:latin typeface="Aptos"/>
              </a:rPr>
              <a:t>user_north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2788920"/>
            <a:ext cx="1920240" cy="530352"/>
          </a:xfrm>
          <a:prstGeom prst="rect">
            <a:avLst/>
          </a:prstGeom>
          <a:solidFill>
            <a:srgbClr val="162F2A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980944" y="2935224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1DAB2"/>
                </a:solidFill>
                <a:latin typeface="Aptos"/>
              </a:rPr>
              <a:t>Allowed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46320" y="2788920"/>
            <a:ext cx="1920240" cy="530352"/>
          </a:xfrm>
          <a:prstGeom prst="rect">
            <a:avLst/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901183" y="2935224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97A4B7"/>
                </a:solidFill>
                <a:latin typeface="Aptos"/>
              </a:rPr>
              <a:t>Blocked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66559" y="2788920"/>
            <a:ext cx="1920240" cy="530352"/>
          </a:xfrm>
          <a:prstGeom prst="rect">
            <a:avLst/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21423" y="2935224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97A4B7"/>
                </a:solidFill>
                <a:latin typeface="Aptos"/>
              </a:rPr>
              <a:t>Blocked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2788920"/>
            <a:ext cx="1920240" cy="530352"/>
          </a:xfrm>
          <a:prstGeom prst="rect">
            <a:avLst/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741664" y="2935224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97A4B7"/>
                </a:solidFill>
                <a:latin typeface="Aptos"/>
              </a:rPr>
              <a:t>Blocked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3355848"/>
            <a:ext cx="2194560" cy="530352"/>
          </a:xfrm>
          <a:prstGeom prst="rect">
            <a:avLst/>
          </a:prstGeom>
          <a:solidFill>
            <a:srgbClr val="161B24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86384" y="3502152"/>
            <a:ext cx="2084831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97A4B7"/>
                </a:solidFill>
                <a:latin typeface="Aptos"/>
              </a:rPr>
              <a:t>user_south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80" y="3355848"/>
            <a:ext cx="1920240" cy="530352"/>
          </a:xfrm>
          <a:prstGeom prst="rect">
            <a:avLst/>
          </a:prstGeom>
          <a:solidFill>
            <a:srgbClr val="161B24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980944" y="3502152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97A4B7"/>
                </a:solidFill>
                <a:latin typeface="Aptos"/>
              </a:rPr>
              <a:t>Blocked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0" y="3355848"/>
            <a:ext cx="1920240" cy="530352"/>
          </a:xfrm>
          <a:prstGeom prst="rect">
            <a:avLst/>
          </a:prstGeom>
          <a:solidFill>
            <a:srgbClr val="162F2A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901183" y="3502152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1DAB2"/>
                </a:solidFill>
                <a:latin typeface="Aptos"/>
              </a:rPr>
              <a:t>Allowed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66559" y="3355848"/>
            <a:ext cx="1920240" cy="530352"/>
          </a:xfrm>
          <a:prstGeom prst="rect">
            <a:avLst/>
          </a:prstGeom>
          <a:solidFill>
            <a:srgbClr val="161B24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821423" y="3502152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97A4B7"/>
                </a:solidFill>
                <a:latin typeface="Aptos"/>
              </a:rPr>
              <a:t>Blocked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86800" y="3355848"/>
            <a:ext cx="1920240" cy="530352"/>
          </a:xfrm>
          <a:prstGeom prst="rect">
            <a:avLst/>
          </a:prstGeom>
          <a:solidFill>
            <a:srgbClr val="161B24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741664" y="3502152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97A4B7"/>
                </a:solidFill>
                <a:latin typeface="Aptos"/>
              </a:rPr>
              <a:t>Blocked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3922776"/>
            <a:ext cx="2194560" cy="530352"/>
          </a:xfrm>
          <a:prstGeom prst="rect">
            <a:avLst/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86384" y="4069080"/>
            <a:ext cx="2084831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97A4B7"/>
                </a:solidFill>
                <a:latin typeface="Aptos"/>
              </a:rPr>
              <a:t>user_west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26080" y="3922776"/>
            <a:ext cx="1920240" cy="530352"/>
          </a:xfrm>
          <a:prstGeom prst="rect">
            <a:avLst/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980944" y="4069080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97A4B7"/>
                </a:solidFill>
                <a:latin typeface="Aptos"/>
              </a:rPr>
              <a:t>Blocked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6320" y="3922776"/>
            <a:ext cx="1920240" cy="530352"/>
          </a:xfrm>
          <a:prstGeom prst="rect">
            <a:avLst/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901183" y="4069080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97A4B7"/>
                </a:solidFill>
                <a:latin typeface="Aptos"/>
              </a:rPr>
              <a:t>Blocked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766559" y="3922776"/>
            <a:ext cx="1920240" cy="530352"/>
          </a:xfrm>
          <a:prstGeom prst="rect">
            <a:avLst/>
          </a:prstGeom>
          <a:solidFill>
            <a:srgbClr val="162F2A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821423" y="4069080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1DAB2"/>
                </a:solidFill>
                <a:latin typeface="Aptos"/>
              </a:rPr>
              <a:t>Allowed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86800" y="3922776"/>
            <a:ext cx="1920240" cy="530352"/>
          </a:xfrm>
          <a:prstGeom prst="rect">
            <a:avLst/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741664" y="4069080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97A4B7"/>
                </a:solidFill>
                <a:latin typeface="Aptos"/>
              </a:rPr>
              <a:t>Blocked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4489704"/>
            <a:ext cx="2194560" cy="530352"/>
          </a:xfrm>
          <a:prstGeom prst="rect">
            <a:avLst/>
          </a:prstGeom>
          <a:solidFill>
            <a:srgbClr val="161B24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86384" y="4636008"/>
            <a:ext cx="2084831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97A4B7"/>
                </a:solidFill>
                <a:latin typeface="Aptos"/>
              </a:rPr>
              <a:t>user_east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26080" y="4489704"/>
            <a:ext cx="1920240" cy="530352"/>
          </a:xfrm>
          <a:prstGeom prst="rect">
            <a:avLst/>
          </a:prstGeom>
          <a:solidFill>
            <a:srgbClr val="161B24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980944" y="4636008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97A4B7"/>
                </a:solidFill>
                <a:latin typeface="Aptos"/>
              </a:rPr>
              <a:t>Blocked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46320" y="4489704"/>
            <a:ext cx="1920240" cy="530352"/>
          </a:xfrm>
          <a:prstGeom prst="rect">
            <a:avLst/>
          </a:prstGeom>
          <a:solidFill>
            <a:srgbClr val="161B24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901183" y="4636008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97A4B7"/>
                </a:solidFill>
                <a:latin typeface="Aptos"/>
              </a:rPr>
              <a:t>Blocked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766559" y="4489704"/>
            <a:ext cx="1920240" cy="530352"/>
          </a:xfrm>
          <a:prstGeom prst="rect">
            <a:avLst/>
          </a:prstGeom>
          <a:solidFill>
            <a:srgbClr val="161B24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821423" y="4636008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97A4B7"/>
                </a:solidFill>
                <a:latin typeface="Aptos"/>
              </a:rPr>
              <a:t>Blocked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86800" y="4489704"/>
            <a:ext cx="1920240" cy="530352"/>
          </a:xfrm>
          <a:prstGeom prst="rect">
            <a:avLst/>
          </a:prstGeom>
          <a:solidFill>
            <a:srgbClr val="162F2A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741664" y="4636008"/>
            <a:ext cx="181051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1DAB2"/>
                </a:solidFill>
                <a:latin typeface="Aptos"/>
              </a:rPr>
              <a:t>Allowed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31520" y="5257800"/>
            <a:ext cx="10058400" cy="566928"/>
          </a:xfrm>
          <a:prstGeom prst="roundRect">
            <a:avLst>
              <a:gd name="adj" fmla="val 12000"/>
            </a:avLst>
          </a:prstGeom>
          <a:solidFill>
            <a:srgbClr val="36271C"/>
          </a:solidFill>
          <a:ln w="10160">
            <a:solidFill>
              <a:srgbClr val="3627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14400" y="5413248"/>
            <a:ext cx="969264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EBF2FC"/>
                </a:solidFill>
                <a:latin typeface="Aptos"/>
              </a:rPr>
              <a:t>Security requirement: enforce region scope in server-side authorization and SQL/data-access paths, not only by hiding UI rows.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19456"/>
            <a:ext cx="6400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ASKDB  /  AI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EBF2FC"/>
                </a:solidFill>
                <a:latin typeface="Aptos"/>
              </a:rPr>
              <a:t>Technology landscape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33271"/>
            <a:ext cx="10972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7A4B7"/>
                </a:solidFill>
                <a:latin typeface="Aptos"/>
              </a:rPr>
              <a:t>A modular design can evolve as data sources, model providers and operational needs expand.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417320"/>
            <a:ext cx="11018520" cy="16459"/>
          </a:xfrm>
          <a:prstGeom prst="rect">
            <a:avLst/>
          </a:prstGeom>
          <a:solidFill>
            <a:srgbClr val="303C4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" y="1417320"/>
            <a:ext cx="658368" cy="16459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8360" y="228600"/>
            <a:ext cx="105156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EBF2FC"/>
                </a:solidFill>
                <a:latin typeface="Aptos"/>
              </a:rPr>
              <a:t>Capgemini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228600"/>
            <a:ext cx="71323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Invent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339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 dirty="0">
                <a:solidFill>
                  <a:srgbClr val="97A4B7"/>
                </a:solidFill>
                <a:latin typeface="Aptos"/>
              </a:rPr>
              <a:t>Company •  </a:t>
            </a:r>
            <a:r>
              <a:rPr sz="800" b="0" i="0" dirty="0" err="1">
                <a:solidFill>
                  <a:srgbClr val="97A4B7"/>
                </a:solidFill>
                <a:latin typeface="Aptos"/>
              </a:rPr>
              <a:t>AskDB</a:t>
            </a:r>
            <a:r>
              <a:rPr sz="800" b="0" i="0" dirty="0">
                <a:solidFill>
                  <a:srgbClr val="97A4B7"/>
                </a:solidFill>
                <a:latin typeface="Aptos"/>
              </a:rPr>
              <a:t> AI Data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528816"/>
            <a:ext cx="3657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97A4B7"/>
                </a:solidFill>
                <a:latin typeface="Aptos"/>
              </a:rP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1600200"/>
            <a:ext cx="2011680" cy="530352"/>
          </a:xfrm>
          <a:prstGeom prst="roundRect">
            <a:avLst>
              <a:gd name="adj" fmla="val 12000"/>
            </a:avLst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1746504"/>
            <a:ext cx="1828800" cy="21031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Experience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600200"/>
            <a:ext cx="8001000" cy="530352"/>
          </a:xfrm>
          <a:prstGeom prst="roundRect">
            <a:avLst>
              <a:gd name="adj" fmla="val 12000"/>
            </a:avLst>
          </a:prstGeom>
          <a:solidFill>
            <a:srgbClr val="163038"/>
          </a:solidFill>
          <a:ln w="10160">
            <a:solidFill>
              <a:srgbClr val="163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01568" y="1746504"/>
            <a:ext cx="7452360" cy="21031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React web application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2350008"/>
            <a:ext cx="2011680" cy="530352"/>
          </a:xfrm>
          <a:prstGeom prst="roundRect">
            <a:avLst>
              <a:gd name="adj" fmla="val 12000"/>
            </a:avLst>
          </a:prstGeom>
          <a:solidFill>
            <a:srgbClr val="4C9DFF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496312"/>
            <a:ext cx="1828800" cy="21031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API / services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54680" y="2350008"/>
            <a:ext cx="8001000" cy="530352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1B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01568" y="2496312"/>
            <a:ext cx="7452360" cy="21031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Node.js • authentication • orchestration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099815"/>
            <a:ext cx="2011680" cy="530352"/>
          </a:xfrm>
          <a:prstGeom prst="roundRect">
            <a:avLst>
              <a:gd name="adj" fmla="val 12000"/>
            </a:avLst>
          </a:prstGeom>
          <a:solidFill>
            <a:srgbClr val="31DAB2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246120"/>
            <a:ext cx="1828800" cy="21031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AI and semantics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54680" y="3099815"/>
            <a:ext cx="8001000" cy="530352"/>
          </a:xfrm>
          <a:prstGeom prst="roundRect">
            <a:avLst>
              <a:gd name="adj" fmla="val 12000"/>
            </a:avLst>
          </a:prstGeom>
          <a:solidFill>
            <a:srgbClr val="162F2A"/>
          </a:solidFill>
          <a:ln w="10160">
            <a:solidFill>
              <a:srgbClr val="162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01568" y="3246120"/>
            <a:ext cx="7452360" cy="21031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LLM provider adapter • semantic YAML • SQL validation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3849624"/>
            <a:ext cx="2011680" cy="530352"/>
          </a:xfrm>
          <a:prstGeom prst="roundRect">
            <a:avLst>
              <a:gd name="adj" fmla="val 12000"/>
            </a:avLst>
          </a:prstGeom>
          <a:solidFill>
            <a:srgbClr val="FFAB52"/>
          </a:solidFill>
          <a:ln w="10160">
            <a:solidFill>
              <a:srgbClr val="FFA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5840" y="3995928"/>
            <a:ext cx="1828800" cy="21031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54680" y="3849624"/>
            <a:ext cx="8001000" cy="530352"/>
          </a:xfrm>
          <a:prstGeom prst="roundRect">
            <a:avLst>
              <a:gd name="adj" fmla="val 12000"/>
            </a:avLst>
          </a:prstGeom>
          <a:solidFill>
            <a:srgbClr val="36271C"/>
          </a:solidFill>
          <a:ln w="10160">
            <a:solidFill>
              <a:srgbClr val="3627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01568" y="3995928"/>
            <a:ext cx="7452360" cy="21031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PostgreSQL • automotive sales schema • quality checks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4599431"/>
            <a:ext cx="2011680" cy="530352"/>
          </a:xfrm>
          <a:prstGeom prst="roundRect">
            <a:avLst>
              <a:gd name="adj" fmla="val 12000"/>
            </a:avLst>
          </a:prstGeom>
          <a:solidFill>
            <a:srgbClr val="1B2737"/>
          </a:solidFill>
          <a:ln w="10160">
            <a:solidFill>
              <a:srgbClr val="EBF2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5840" y="4745736"/>
            <a:ext cx="1828800" cy="21031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Operations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54680" y="4599431"/>
            <a:ext cx="8001000" cy="530352"/>
          </a:xfrm>
          <a:prstGeom prst="roundRect">
            <a:avLst>
              <a:gd name="adj" fmla="val 12000"/>
            </a:avLst>
          </a:prstGeom>
          <a:solidFill>
            <a:srgbClr val="161B24"/>
          </a:solidFill>
          <a:ln w="10160">
            <a:solidFill>
              <a:srgbClr val="151A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401568" y="4745736"/>
            <a:ext cx="7452360" cy="21031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BF2FC"/>
                </a:solidFill>
                <a:latin typeface="Aptos"/>
              </a:rPr>
              <a:t>Secrets management • logs • quotas • audit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669280"/>
            <a:ext cx="1014984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97A4B7"/>
                </a:solidFill>
                <a:latin typeface="Aptos"/>
              </a:rPr>
              <a:t>Scale claims, supported connectors and cloud deployment options should be aligned to tested environments.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19456"/>
            <a:ext cx="6400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ASKDB  /  AI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EBF2FC"/>
                </a:solidFill>
                <a:latin typeface="Aptos"/>
              </a:rPr>
              <a:t>Why AskDB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33271"/>
            <a:ext cx="10972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7A4B7"/>
                </a:solidFill>
                <a:latin typeface="Aptos"/>
              </a:rPr>
              <a:t>The value comes from combining natural-language access with governed definitions and operational controls.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417320"/>
            <a:ext cx="11018520" cy="16459"/>
          </a:xfrm>
          <a:prstGeom prst="rect">
            <a:avLst/>
          </a:prstGeom>
          <a:solidFill>
            <a:srgbClr val="303C4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" y="1417320"/>
            <a:ext cx="658368" cy="16459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8360" y="228600"/>
            <a:ext cx="105156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EBF2FC"/>
                </a:solidFill>
                <a:latin typeface="Aptos"/>
              </a:rPr>
              <a:t>Capgemini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228600"/>
            <a:ext cx="71323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Invent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339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 dirty="0">
                <a:solidFill>
                  <a:srgbClr val="97A4B7"/>
                </a:solidFill>
                <a:latin typeface="Aptos"/>
              </a:rPr>
              <a:t>Company •  </a:t>
            </a:r>
            <a:r>
              <a:rPr sz="800" b="0" i="0" dirty="0" err="1">
                <a:solidFill>
                  <a:srgbClr val="97A4B7"/>
                </a:solidFill>
                <a:latin typeface="Aptos"/>
              </a:rPr>
              <a:t>AskDB</a:t>
            </a:r>
            <a:r>
              <a:rPr sz="800" b="0" i="0" dirty="0">
                <a:solidFill>
                  <a:srgbClr val="97A4B7"/>
                </a:solidFill>
                <a:latin typeface="Aptos"/>
              </a:rPr>
              <a:t> AI Data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528816"/>
            <a:ext cx="3657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97A4B7"/>
                </a:solidFill>
                <a:latin typeface="Aptos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600200"/>
            <a:ext cx="3474720" cy="150876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1600200"/>
            <a:ext cx="64008" cy="1508760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657600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Up Arrow 13"/>
          <p:cNvSpPr/>
          <p:nvPr/>
        </p:nvSpPr>
        <p:spPr>
          <a:xfrm>
            <a:off x="3728923" y="1799539"/>
            <a:ext cx="131673" cy="131673"/>
          </a:xfrm>
          <a:prstGeom prst="upArrow">
            <a:avLst/>
          </a:prstGeom>
          <a:solidFill>
            <a:srgbClr val="37DAEF"/>
          </a:solidFill>
          <a:ln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1737360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Faster exploration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130552"/>
            <a:ext cx="3218687" cy="886967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Reduce friction for routine questions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Enable analysts to focus on deeper work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600200"/>
            <a:ext cx="3474720" cy="150876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43400" y="1600200"/>
            <a:ext cx="64008" cy="1508760"/>
          </a:xfrm>
          <a:prstGeom prst="rect">
            <a:avLst/>
          </a:prstGeom>
          <a:solidFill>
            <a:srgbClr val="4C9DFF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406640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477963" y="1799539"/>
            <a:ext cx="131673" cy="131673"/>
          </a:xfrm>
          <a:prstGeom prst="ellipse">
            <a:avLst/>
          </a:prstGeom>
          <a:solidFill>
            <a:srgbClr val="4C9DFF"/>
          </a:solidFill>
          <a:ln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1737360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More consistent 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130552"/>
            <a:ext cx="3218687" cy="886967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Reuse approved semantic definitions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Reduce duplicate metric logic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600200"/>
            <a:ext cx="3474720" cy="1508760"/>
          </a:xfrm>
          <a:prstGeom prst="roundRect">
            <a:avLst>
              <a:gd name="adj" fmla="val 12000"/>
            </a:avLst>
          </a:prstGeom>
          <a:solidFill>
            <a:srgbClr val="11151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92440" y="1600200"/>
            <a:ext cx="64008" cy="1508760"/>
          </a:xfrm>
          <a:prstGeom prst="rect">
            <a:avLst/>
          </a:prstGeom>
          <a:solidFill>
            <a:srgbClr val="31DAB2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1155679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Pentagon 25"/>
          <p:cNvSpPr/>
          <p:nvPr/>
        </p:nvSpPr>
        <p:spPr>
          <a:xfrm>
            <a:off x="11227003" y="1799539"/>
            <a:ext cx="131673" cy="131673"/>
          </a:xfrm>
          <a:prstGeom prst="homePlate">
            <a:avLst/>
          </a:prstGeom>
          <a:solidFill>
            <a:srgbClr val="31DAB2"/>
          </a:solidFill>
          <a:ln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57031" y="1737360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Visible trust controls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130552"/>
            <a:ext cx="3218687" cy="886967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Show quality and refresh signals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Apply roles, quotas and audit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3703320"/>
            <a:ext cx="10789920" cy="960120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1B2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3913632"/>
            <a:ext cx="1828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7DAEF"/>
                </a:solidFill>
                <a:latin typeface="Aptos"/>
              </a:rPr>
              <a:t>Positioning statement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840480"/>
            <a:ext cx="8138160" cy="43891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EBF2FC"/>
                </a:solidFill>
                <a:latin typeface="Aptos"/>
              </a:rPr>
              <a:t>AskDB connects business questions to data through a semantic, validated and governed analytics workflow.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074920"/>
            <a:ext cx="1024128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97A4B7"/>
                </a:solidFill>
                <a:latin typeface="Aptos"/>
              </a:rPr>
              <a:t>Avoid unverified claims about competitor coverage, cost savings, accuracy percentages or production readiness.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B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19456"/>
            <a:ext cx="64008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ASKDB  /  AI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097280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EBF2FC"/>
                </a:solidFill>
                <a:latin typeface="Aptos"/>
              </a:rPr>
              <a:t>Demo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33271"/>
            <a:ext cx="1097280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7A4B7"/>
                </a:solidFill>
                <a:latin typeface="Aptos"/>
              </a:rPr>
              <a:t>A short, repeatable demo can show the full experience without relying on unverified claims.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417320"/>
            <a:ext cx="11018520" cy="16459"/>
          </a:xfrm>
          <a:prstGeom prst="rect">
            <a:avLst/>
          </a:prstGeom>
          <a:solidFill>
            <a:srgbClr val="303C4C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30352" y="1417320"/>
            <a:ext cx="658368" cy="16459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8360" y="228600"/>
            <a:ext cx="1051560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EBF2FC"/>
                </a:solidFill>
                <a:latin typeface="Aptos"/>
              </a:rPr>
              <a:t>Capgemini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228600"/>
            <a:ext cx="713232" cy="20116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7DAEF"/>
                </a:solidFill>
                <a:latin typeface="Aptos"/>
              </a:rPr>
              <a:t>Invent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339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 dirty="0">
                <a:solidFill>
                  <a:srgbClr val="97A4B7"/>
                </a:solidFill>
                <a:latin typeface="Aptos"/>
              </a:rPr>
              <a:t>Company •  </a:t>
            </a:r>
            <a:r>
              <a:rPr sz="800" b="0" i="0" dirty="0" err="1">
                <a:solidFill>
                  <a:srgbClr val="97A4B7"/>
                </a:solidFill>
                <a:latin typeface="Aptos"/>
              </a:rPr>
              <a:t>AskDB</a:t>
            </a:r>
            <a:r>
              <a:rPr sz="800" b="0" i="0" dirty="0">
                <a:solidFill>
                  <a:srgbClr val="97A4B7"/>
                </a:solidFill>
                <a:latin typeface="Aptos"/>
              </a:rPr>
              <a:t> AI Data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528816"/>
            <a:ext cx="36576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97A4B7"/>
                </a:solidFill>
                <a:latin typeface="Aptos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600200"/>
            <a:ext cx="3474720" cy="1828800"/>
          </a:xfrm>
          <a:prstGeom prst="roundRect">
            <a:avLst>
              <a:gd name="adj" fmla="val 12000"/>
            </a:avLst>
          </a:prstGeom>
          <a:solidFill>
            <a:srgbClr val="163038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1600200"/>
            <a:ext cx="64008" cy="1828800"/>
          </a:xfrm>
          <a:prstGeom prst="rect">
            <a:avLst/>
          </a:prstGeom>
          <a:solidFill>
            <a:srgbClr val="37DAEF"/>
          </a:solidFill>
          <a:ln w="10160"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657600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5-Point Star 13"/>
          <p:cNvSpPr/>
          <p:nvPr/>
        </p:nvSpPr>
        <p:spPr>
          <a:xfrm>
            <a:off x="3728923" y="1799539"/>
            <a:ext cx="131673" cy="131673"/>
          </a:xfrm>
          <a:prstGeom prst="star5">
            <a:avLst/>
          </a:prstGeom>
          <a:solidFill>
            <a:srgbClr val="37DAEF"/>
          </a:solidFill>
          <a:ln>
            <a:solidFill>
              <a:srgbClr val="37DA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952" y="1737360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Demo 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130552"/>
            <a:ext cx="3218687" cy="1207007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Ask a revenue question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Refine with a follow-up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Inspect result and SQL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Open dashboard and filters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600200"/>
            <a:ext cx="3474720" cy="1828800"/>
          </a:xfrm>
          <a:prstGeom prst="roundRect">
            <a:avLst>
              <a:gd name="adj" fmla="val 12000"/>
            </a:avLst>
          </a:prstGeom>
          <a:solidFill>
            <a:srgbClr val="1B2E45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43400" y="1600200"/>
            <a:ext cx="64008" cy="1828800"/>
          </a:xfrm>
          <a:prstGeom prst="rect">
            <a:avLst/>
          </a:prstGeom>
          <a:solidFill>
            <a:srgbClr val="4C9DFF"/>
          </a:solidFill>
          <a:ln w="10160"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406640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477963" y="1799539"/>
            <a:ext cx="131673" cy="131673"/>
          </a:xfrm>
          <a:prstGeom prst="ellipse">
            <a:avLst/>
          </a:prstGeom>
          <a:solidFill>
            <a:srgbClr val="4C9DFF"/>
          </a:solidFill>
          <a:ln>
            <a:solidFill>
              <a:srgbClr val="4C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1737360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Near-term priorities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130552"/>
            <a:ext cx="3218687" cy="1207007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Validate query accuracy benchmark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Verify regional access enforcement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Harden observability and error handling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600200"/>
            <a:ext cx="3474720" cy="1828800"/>
          </a:xfrm>
          <a:prstGeom prst="roundRect">
            <a:avLst>
              <a:gd name="adj" fmla="val 12000"/>
            </a:avLst>
          </a:prstGeom>
          <a:solidFill>
            <a:srgbClr val="162F2A"/>
          </a:solidFill>
          <a:ln w="10160"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92440" y="1600200"/>
            <a:ext cx="64008" cy="1828800"/>
          </a:xfrm>
          <a:prstGeom prst="rect">
            <a:avLst/>
          </a:prstGeom>
          <a:solidFill>
            <a:srgbClr val="31DAB2"/>
          </a:solidFill>
          <a:ln w="10160"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1155679" y="1728216"/>
            <a:ext cx="274320" cy="274320"/>
          </a:xfrm>
          <a:prstGeom prst="ellipse">
            <a:avLst/>
          </a:prstGeom>
          <a:solidFill>
            <a:srgbClr val="161B24"/>
          </a:solidFill>
          <a:ln>
            <a:solidFill>
              <a:srgbClr val="303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1227003" y="1799539"/>
            <a:ext cx="131673" cy="131673"/>
          </a:xfrm>
          <a:prstGeom prst="ellipse">
            <a:avLst/>
          </a:prstGeom>
          <a:solidFill>
            <a:srgbClr val="31DAB2"/>
          </a:solidFill>
          <a:ln>
            <a:solidFill>
              <a:srgbClr val="31D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57031" y="1737360"/>
            <a:ext cx="2816352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BF2FC"/>
                </a:solidFill>
                <a:latin typeface="Aptos"/>
              </a:rPr>
              <a:t>Roadmap candidates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130552"/>
            <a:ext cx="3218687" cy="1207007"/>
          </a:xfrm>
          <a:prstGeom prst="rect">
            <a:avLst/>
          </a:prstGeom>
          <a:noFill/>
        </p:spPr>
        <p:txBody>
          <a:bodyPr wrap="square" tIns="54864" rIns="73152" bIns="36576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Additional SQL data sources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Automated quality rule suggestions</a:t>
            </a:r>
          </a:p>
          <a:p>
            <a:pPr>
              <a:spcAft>
                <a:spcPts val="400"/>
              </a:spcAft>
              <a:defRPr sz="1100">
                <a:solidFill>
                  <a:srgbClr val="D8E1EE"/>
                </a:solidFill>
                <a:latin typeface="Aptos"/>
              </a:defRPr>
            </a:pPr>
            <a:r>
              <a:t>•  More industry semantic packs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069080"/>
            <a:ext cx="10698480" cy="1051560"/>
          </a:xfrm>
          <a:prstGeom prst="roundRect">
            <a:avLst>
              <a:gd name="adj" fmla="val 12000"/>
            </a:avLst>
          </a:prstGeom>
          <a:solidFill>
            <a:srgbClr val="161B24"/>
          </a:solidFill>
          <a:ln w="10160">
            <a:solidFill>
              <a:srgbClr val="151A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51560" y="4315968"/>
            <a:ext cx="2743200" cy="4114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EBF2FC"/>
                </a:solidFill>
                <a:latin typeface="Aptos"/>
              </a:rPr>
              <a:t>Questions?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407408"/>
            <a:ext cx="420624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 i="0">
                <a:solidFill>
                  <a:srgbClr val="37DAEF"/>
                </a:solidFill>
                <a:latin typeface="Aptos"/>
              </a:rPr>
              <a:t>AskDB  •  AI Data Platform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623560"/>
            <a:ext cx="1042416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97A4B7"/>
                </a:solidFill>
                <a:latin typeface="Aptos"/>
              </a:rPr>
              <a:t>This presentation uses illustrative UI examples and sample metrics. Confirm implementation status, architecture, and data before presenting externally.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e760c494-6550-44b4-8258-77c175d778b7}" enabled="1" method="Privileged" siteId="{76a2ae5a-9f00-4f6b-95ed-5d33d77c4d6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1650</Words>
  <Application>Microsoft Office PowerPoint</Application>
  <PresentationFormat>Widescreen</PresentationFormat>
  <Paragraphs>384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KONDHALKAR, RAHUL</cp:lastModifiedBy>
  <cp:revision>3</cp:revision>
  <dcterms:created xsi:type="dcterms:W3CDTF">2013-01-27T09:14:16Z</dcterms:created>
  <dcterms:modified xsi:type="dcterms:W3CDTF">2026-10-13T14:08:47Z</dcterms:modified>
  <cp:category/>
</cp:coreProperties>
</file>