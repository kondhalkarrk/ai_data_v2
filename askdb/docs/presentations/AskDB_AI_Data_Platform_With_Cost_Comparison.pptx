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Power BI Pro licenses (100 users)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Illustrative monthly spend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116500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4E-4021-8C75-C508346FB9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AskDB LLM inference (est.)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Illustrative monthly spend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2009.7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4E-4021-8C75-C508346FB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7772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D6"/>
                </a:solidFill>
                <a:latin typeface="Aptos"/>
              </a:rPr>
              <a:t>CAPGEMINI INVENT  |  AI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126480" cy="9601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9375F"/>
                </a:solidFill>
                <a:latin typeface="Aptos"/>
              </a:rPr>
              <a:t>AskDB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40080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C3948"/>
                </a:solidFill>
                <a:latin typeface="Aptos"/>
              </a:rPr>
              <a:t>From natural-language questions
to trusted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6035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E6C7C"/>
                </a:solidFill>
                <a:latin typeface="Aptos"/>
              </a:rPr>
              <a:t>An AI-powered analytics experience for enterprise data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36592"/>
            <a:ext cx="2057400" cy="2926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4754879"/>
            <a:ext cx="200253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ptos"/>
              </a:rPr>
              <a:t>NATURAL LANGUAGE TO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4736592"/>
            <a:ext cx="1600200" cy="2926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E1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5224" y="4754879"/>
            <a:ext cx="154533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8782"/>
                </a:solidFill>
                <a:latin typeface="Aptos"/>
              </a:rPr>
              <a:t>SEMANTIC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4736592"/>
            <a:ext cx="2240280" cy="29260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4754879"/>
            <a:ext cx="218541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B7D23"/>
                </a:solidFill>
                <a:latin typeface="Aptos"/>
              </a:rPr>
              <a:t>DATA TRUST &amp;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960120"/>
            <a:ext cx="34290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49640" y="141732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49047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Ask a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783080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Plain language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560320"/>
            <a:ext cx="1965960" cy="77724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263347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Understand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26079"/>
            <a:ext cx="1783080" cy="36575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Semantic model +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822191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895344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Deliver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187952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SQL • result • chart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37192" y="2103120"/>
            <a:ext cx="0" cy="429768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37192" y="3337560"/>
            <a:ext cx="0" cy="45720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6446520"/>
            <a:ext cx="5029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19088"/>
            <a:ext cx="2194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19375F"/>
                </a:solidFill>
                <a:latin typeface="Aptos"/>
              </a:rPr>
              <a:t>Capgemini  Invent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AskDB makes governed enterprise data easier to explore without requiring every user to write 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64008" cy="1874519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91639"/>
            <a:ext cx="24414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Ask in business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84831"/>
            <a:ext cx="248716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Users ask questions in plain English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Follow-up questions can refine analysis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Designed for business and data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743200" cy="1874519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64008" cy="1874519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691639"/>
            <a:ext cx="24414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Ground answers in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084831"/>
            <a:ext cx="248716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Semantic model defines measures and joins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Schema and business terms guide SQL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Validation before query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2423160" cy="1874519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554480"/>
            <a:ext cx="64008" cy="1874519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691639"/>
            <a:ext cx="212140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Explore the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84831"/>
            <a:ext cx="216712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Tables and charts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Executive KPIs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Analytical rankings and trends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554480"/>
            <a:ext cx="2606040" cy="1874519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554480"/>
            <a:ext cx="64008" cy="1874519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71432" y="1691639"/>
            <a:ext cx="230428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Operate with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84831"/>
            <a:ext cx="2350008" cy="125272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Role-based access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Usage and cost visibility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Data-quality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11064240" cy="13258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133087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PRODUCT POSITIONING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375F"/>
                </a:solidFill>
                <a:latin typeface="Aptos"/>
              </a:rPr>
              <a:t>A governed natural-language analytics layer over enterprise data — not a replacement for the warehouse, semantic definitions, or data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Business teams need answers quickly, while data teams need accuracy, reuse and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32588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Access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Business users depend on SQL skills or ticket queues.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64008" cy="132588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73736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Repeated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30552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Similar questions are rebuilt by analysts again and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291840"/>
            <a:ext cx="64008" cy="132588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42900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Metric ambiguity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822191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“Sales”, “top model” and time periods can mean different things.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40"/>
            <a:ext cx="5303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291840"/>
            <a:ext cx="64008" cy="132588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429000"/>
            <a:ext cx="50017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Trust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822191"/>
            <a:ext cx="50017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C3948"/>
                </a:solidFill>
                <a:latin typeface="Aptos"/>
              </a:rPr>
              <a:t>Answers need clear definitions, safe access and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1554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DESIRED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285232"/>
            <a:ext cx="88696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9375F"/>
                </a:solidFill>
                <a:latin typeface="Aptos"/>
              </a:rPr>
              <a:t>Shorten the path from question → validated query → understandable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AskDB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guided workflow combines business language, semantic context, query controls and visual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A6D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Natural-language question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03704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41448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51176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176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Identify intent, measures, dimensions and time range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9976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9704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782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Use semantic definitions and allowed relationships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18504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B7D23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Generate &amp;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Create SQL, check safety and query structure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19288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57032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Run against the connected data platform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57816" y="2852928"/>
            <a:ext cx="201168" cy="0"/>
          </a:xfrm>
          <a:prstGeom prst="line">
            <a:avLst/>
          </a:prstGeom>
          <a:ln w="1905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95560" y="196596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05288" y="2121408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A6D6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514600"/>
            <a:ext cx="1463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926080"/>
            <a:ext cx="1444752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Return results with table, chart or narrative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434840"/>
            <a:ext cx="10744200" cy="822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4617720"/>
            <a:ext cx="14173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DESIGN PRINCIPLE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572000"/>
            <a:ext cx="8458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AI supports flexible interpretation; semantic rules and validation protect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Illustrative current-state architecture — confirm deployment-specific connectors and controls before presenting as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9202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USER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React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Chat • dashboards •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481328"/>
            <a:ext cx="20116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APPLICATION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Node.js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Auth •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AI / SQL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Prompt context •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481328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INTELLIGENCE &amp;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Semantic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YAML measures • joins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48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LLM 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Configurable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977639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48072" y="405079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434340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RBAC • quotas •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481328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DATA &amp; OBSERVABILITY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178308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34072" y="185623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14884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Automotive sales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2880360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34072" y="2953512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Data 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24612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DQ rules • quality scores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60920" y="3977639"/>
            <a:ext cx="1965960" cy="7498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34072" y="4050791"/>
            <a:ext cx="18196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Entity catalog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343400"/>
            <a:ext cx="1783080" cy="33832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Values • refresh metadata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78608" y="2157984"/>
            <a:ext cx="16459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67328" y="2560320"/>
            <a:ext cx="0" cy="27432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73168" y="3246120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53328" y="2560320"/>
            <a:ext cx="0" cy="27432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59168" y="2157984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59168" y="3246120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59168" y="4343400"/>
            <a:ext cx="256032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67328" y="3657600"/>
            <a:ext cx="0" cy="548640"/>
          </a:xfrm>
          <a:prstGeom prst="line">
            <a:avLst/>
          </a:prstGeom>
          <a:ln w="22860">
            <a:solidFill>
              <a:srgbClr val="DA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5800" y="525780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Keep the semantic layer and server-side authorization between users, model-generated SQL and protected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Natural language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Example journey: “Show the top 5 vehicle models by revenue this quarter.”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Top 5 models by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Semantic 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Revenue • model • quarter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5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SQL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Group, filter, 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1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Safety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Allow-list • limits •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828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57232" y="1901952"/>
            <a:ext cx="168249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194560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Ranked table + chart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7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3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59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45168" y="2286000"/>
            <a:ext cx="384048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3657600"/>
            <a:ext cx="64008" cy="123444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947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When intent is ambiguous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Ask a focused clarification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Offer likely metric or entity choices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3657600"/>
            <a:ext cx="64008" cy="123444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37947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When SQL is invalid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Validate and repair if safe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Use a controlled fallback or explain failure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46720" y="3657600"/>
            <a:ext cx="64008" cy="123444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1312" y="37947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When data is restricted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187952"/>
            <a:ext cx="3172968" cy="61264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Apply authorization server-side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Do not rely on UI filters alone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AI Chat: the primary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focused question-and-answer workspace for business users and analysts.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7452360" cy="443484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719072"/>
            <a:ext cx="708660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19656"/>
            <a:ext cx="3840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75F"/>
                </a:solidFill>
                <a:latin typeface="Aptos"/>
              </a:rPr>
              <a:t>AskDB  •  Automotive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50592"/>
            <a:ext cx="5074920" cy="56692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96896"/>
            <a:ext cx="47091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9375F"/>
                </a:solidFill>
                <a:latin typeface="Aptos"/>
              </a:rPr>
              <a:t>Which 5 models generated the most revenue this quarter?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6583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401568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75F"/>
                </a:solidFill>
                <a:latin typeface="Aptos"/>
              </a:rPr>
              <a:t>Top models by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39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68496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Model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68496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₹ 12.4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87952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Model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87952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₹ 10.8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407407"/>
            <a:ext cx="2194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Model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07407"/>
            <a:ext cx="2103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C3948"/>
                </a:solidFill>
                <a:latin typeface="Aptos"/>
              </a:rPr>
              <a:t>₹ 9.6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3017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D6"/>
                </a:solidFill>
                <a:latin typeface="Aptos"/>
              </a:rPr>
              <a:t>Table  |  Chart  | 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96128"/>
            <a:ext cx="67665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E6C7C"/>
                </a:solidFill>
                <a:latin typeface="Aptos"/>
              </a:rPr>
              <a:t>Illustrative UI mock-up — values are placeholders, not live results.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60020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600200"/>
            <a:ext cx="64008" cy="105156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1737360"/>
            <a:ext cx="28529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Conversation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13055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948"/>
                </a:solidFill>
                <a:latin typeface="Aptos"/>
              </a:defRPr>
            </a:pPr>
            <a:r>
              <a:t>•  Ask follow-ups in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83464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21040" y="2834640"/>
            <a:ext cx="64008" cy="10515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5632" y="2971800"/>
            <a:ext cx="28529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Answer formats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36499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948"/>
                </a:solidFill>
                <a:latin typeface="Aptos"/>
              </a:defRPr>
            </a:pPr>
            <a:r>
              <a:t>•  Table, chart and SQL visibility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069080"/>
            <a:ext cx="3154680" cy="105156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21040" y="4069080"/>
            <a:ext cx="64008" cy="10515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85632" y="4206240"/>
            <a:ext cx="285292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Reliability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599432"/>
            <a:ext cx="2898648" cy="4297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3948"/>
                </a:solidFill>
                <a:latin typeface="Aptos"/>
              </a:defRPr>
            </a:pPr>
            <a:r>
              <a:t>•  Clarify ambiguity; validate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Executive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high-level view of performance with filters and drill-down into business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₹ 128.6 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42,810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38,240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3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Top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3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Model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600200"/>
            <a:ext cx="20299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29215" y="1737360"/>
            <a:ext cx="1783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E6C7C"/>
                </a:solidFill>
                <a:latin typeface="Aptos"/>
              </a:rPr>
              <a:t>Top Make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5" y="2029968"/>
            <a:ext cx="1783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75F"/>
                </a:solidFill>
                <a:latin typeface="Aptos"/>
              </a:rPr>
              <a:t>Make 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743200"/>
            <a:ext cx="66294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907792"/>
            <a:ext cx="29260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75F"/>
                </a:solidFill>
                <a:latin typeface="Aptos"/>
              </a:rPr>
              <a:t>Revenue by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749039"/>
            <a:ext cx="3383280" cy="34747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5840" y="4279392"/>
            <a:ext cx="2743200" cy="347472"/>
          </a:xfrm>
          <a:prstGeom prst="roundRect">
            <a:avLst>
              <a:gd name="adj" fmla="val 12000"/>
            </a:avLst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05840" y="4809744"/>
            <a:ext cx="2194560" cy="347472"/>
          </a:xfrm>
          <a:prstGeom prst="roundRect">
            <a:avLst>
              <a:gd name="adj" fmla="val 12000"/>
            </a:avLst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76472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Model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06824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Model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837176"/>
            <a:ext cx="1371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Model 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743200"/>
            <a:ext cx="4069080" cy="25146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2926080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75F"/>
                </a:solidFill>
                <a:latin typeface="Aptos"/>
              </a:rPr>
              <a:t>Filters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364992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60" y="3401568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Date range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758184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09560" y="3794760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Region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151376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09560" y="4187952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Make / brand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544568"/>
            <a:ext cx="3383280" cy="283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9560" y="4581144"/>
            <a:ext cx="29260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Vehicle 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577840"/>
            <a:ext cx="105156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5E6C7C"/>
                </a:solidFill>
                <a:latin typeface="Aptos"/>
              </a:rPr>
              <a:t>Illustrative layout and sample values only. Replace with verified live metrics before external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Analytics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Move beyond simple totals to reusable analytical patterns with explicit metric and filter semantics.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2801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Revenue, units, order 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64008" cy="128016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Trend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Month-on-month and year-on-year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0020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600200"/>
            <a:ext cx="64008" cy="12801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13055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Top N, dense rank, rank within make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246120"/>
            <a:ext cx="64008" cy="128016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383279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Running calculations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Running totals and moving averages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246120"/>
            <a:ext cx="64008" cy="12801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383279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Variance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Actual vs target and percentage variance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246120"/>
            <a:ext cx="34747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3246120"/>
            <a:ext cx="64008" cy="12801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2" y="3383279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3776472"/>
            <a:ext cx="3172968" cy="6583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C3948"/>
                </a:solidFill>
                <a:latin typeface="Aptos"/>
              </a:rPr>
              <a:t>By region, dealer, model, colour and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166360"/>
            <a:ext cx="10789920" cy="59436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21808"/>
            <a:ext cx="10241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Quality gate: validate grouping, partitioning, date grain, metric definition and row-level access before showing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Data Trust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Make quality visible with rule-based checks, scores, exceptions and operational freshness.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00584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Values align to trusted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64008" cy="100584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Completeness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Required values are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002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600200"/>
            <a:ext cx="64008" cy="100584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13055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Definitions and formats agree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926080"/>
            <a:ext cx="64008" cy="1005840"/>
          </a:xfrm>
          <a:prstGeom prst="rect">
            <a:avLst/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306324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Timeliness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Data is refreshed on schedule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2926080"/>
            <a:ext cx="64008" cy="100584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06324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Validity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Values meet business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29260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2926080"/>
            <a:ext cx="64008" cy="100584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2" y="306324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Uniqueness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3456432"/>
            <a:ext cx="31729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C3948"/>
                </a:solidFill>
                <a:latin typeface="Aptos"/>
              </a:rPr>
              <a:t>Unexpected duplicates are detected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7200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Operational signals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477316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07791" y="4791455"/>
            <a:ext cx="136245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8782"/>
                </a:solidFill>
                <a:latin typeface="Aptos"/>
              </a:rPr>
              <a:t>QUALITY 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477316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07992" y="4791455"/>
            <a:ext cx="127101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B7D23"/>
                </a:solidFill>
                <a:latin typeface="Aptos"/>
              </a:rPr>
              <a:t>FAILED RULES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77316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16752" y="4791455"/>
            <a:ext cx="136245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70C0"/>
                </a:solidFill>
                <a:latin typeface="Aptos"/>
              </a:rPr>
              <a:t>LAST REFRESH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4773168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E1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16952" y="4791455"/>
            <a:ext cx="950976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8782"/>
                </a:solidFill>
                <a:latin typeface="Aptos"/>
              </a:rPr>
              <a:t>LOAD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66360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Use verified execution data to populate scores and timestamps; avoid presenting mock values as production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Semantic Atlas &amp; Knowledge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Keep business meaning, observed values and relationships understandable to both users and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Semantic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YAML-defined measures and dimensions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Approved relationships and join paths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Business-friendly names and definitions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Entity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Distinct values for business entities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Flag newly observed values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Refresh time, row count and load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Knowledge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172968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Entities, attributes, events and actors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Relationships shown visually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Useful for exploration and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Vehicle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Model / make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307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Order / 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Dealer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Region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06908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414223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434840"/>
            <a:ext cx="1325880" cy="2285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E6C7C"/>
                </a:solidFill>
                <a:latin typeface="Aptos"/>
              </a:rPr>
              <a:t>Segment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50592" y="4389120"/>
            <a:ext cx="1179576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93792" y="4389120"/>
            <a:ext cx="1179576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36992" y="4389120"/>
            <a:ext cx="1179576" cy="0"/>
          </a:xfrm>
          <a:prstGeom prst="line">
            <a:avLst/>
          </a:prstGeom>
          <a:ln w="22860">
            <a:solidFill>
              <a:srgbClr val="00A6D6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4400" y="5074920"/>
            <a:ext cx="98755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Illustrative business relationship graph — confirm which links are currently used by query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Admin Center &amp; 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Operational controls for model configuration, usage visibility, quotas and auditability.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41732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LLM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Provider and model catalog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Token and cost estimates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41732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Usage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Weekly token and call quotas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Usage by user and time period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41732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2724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Audit &amp;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172968" cy="795528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Question and execution metadata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Data-quality and catalog refresh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20440"/>
            <a:ext cx="10789920" cy="141732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730752"/>
            <a:ext cx="2057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9375F"/>
                </a:solidFill>
                <a:latin typeface="Aptos"/>
              </a:rPr>
              <a:t>Governance principles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75887"/>
            <a:ext cx="8046720" cy="1051560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Keep provider credentials on the server; never expose secrets in the browser.</a:t>
            </a:r>
          </a:p>
          <a:p>
            <a:pPr>
              <a:spcAft>
                <a:spcPts val="5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Log enough metadata to audit outcomes without unnecessarily storing sensitive prompts.</a:t>
            </a:r>
          </a:p>
          <a:p>
            <a:pPr>
              <a:spcAft>
                <a:spcPts val="5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Apply quotas consistently and return clear, actionable messages when limits are reached.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Only describe controls as implemented after verifying the current application and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Role-based regional data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All users can access the same experience, while results are restricted to their authorized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19456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204825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North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947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South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West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691640"/>
            <a:ext cx="1920240" cy="502920"/>
          </a:xfrm>
          <a:prstGeom prst="rect">
            <a:avLst/>
          </a:prstGeom>
          <a:solidFill>
            <a:srgbClr val="19375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2" y="1810512"/>
            <a:ext cx="1773936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East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221992"/>
            <a:ext cx="219456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2368296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80944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01183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59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21423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221992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41664" y="2368296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008782"/>
                </a:solidFill>
                <a:latin typeface="Aptos"/>
              </a:rPr>
              <a:t>All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788920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2935224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user_north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788920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80944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788920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01183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2788920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1423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788920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41664" y="2935224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355848"/>
            <a:ext cx="219456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3502152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user_south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355848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80944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355848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01183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59" y="3355848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21423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3355848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41664" y="3502152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922776"/>
            <a:ext cx="21945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6384" y="4069080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user_west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922776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80944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3922776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01183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59" y="3922776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21423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3922776"/>
            <a:ext cx="19202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41664" y="4069080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489704"/>
            <a:ext cx="219456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" y="4636008"/>
            <a:ext cx="20848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6C7C"/>
                </a:solidFill>
                <a:latin typeface="Aptos"/>
              </a:rPr>
              <a:t>user_east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4489704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80944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46320" y="4489704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01183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59" y="4489704"/>
            <a:ext cx="1920240" cy="530352"/>
          </a:xfrm>
          <a:prstGeom prst="rect">
            <a:avLst/>
          </a:prstGeom>
          <a:solidFill>
            <a:srgbClr val="F5F8FC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21423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E6C7C"/>
                </a:solidFill>
                <a:latin typeface="Aptos"/>
              </a:rPr>
              <a:t>Blocked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0" y="4489704"/>
            <a:ext cx="1920240" cy="530352"/>
          </a:xfrm>
          <a:prstGeom prst="rect">
            <a:avLst/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741664" y="463600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08782"/>
                </a:solidFill>
                <a:latin typeface="Aptos"/>
              </a:rPr>
              <a:t>Allowed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257800"/>
            <a:ext cx="10058400" cy="566928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400" y="5413248"/>
            <a:ext cx="96926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75F"/>
                </a:solidFill>
                <a:latin typeface="Aptos"/>
              </a:rPr>
              <a:t>Security requirement: enforce region scope in server-side authorization and SQL/data-access paths, not only by hiding UI rows.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Technology landscape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modular design can evolve as data sources, model providers and operational needs expand.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46504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600200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E1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746504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React web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50008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496312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API /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350008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2496312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Node.js • authentication •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99815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AI and semantics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099815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E2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01568" y="3246120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LLM provider adapter • semantic YAML • SQL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849624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EB7D23"/>
          </a:solidFill>
          <a:ln w="10160"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995928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3849624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FFF2E5"/>
          </a:solidFill>
          <a:ln w="10160">
            <a:solidFill>
              <a:srgbClr val="F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1568" y="3995928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PostgreSQL • automotive sales schema • quality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99431"/>
            <a:ext cx="2011680" cy="530352"/>
          </a:xfrm>
          <a:prstGeom prst="roundRect">
            <a:avLst>
              <a:gd name="adj" fmla="val 12000"/>
            </a:avLst>
          </a:prstGeom>
          <a:solidFill>
            <a:srgbClr val="19375F"/>
          </a:solidFill>
          <a:ln w="10160"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745736"/>
            <a:ext cx="182880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599431"/>
            <a:ext cx="8001000" cy="530352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01568" y="4745736"/>
            <a:ext cx="745236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75F"/>
                </a:solidFill>
                <a:latin typeface="Aptos"/>
              </a:rPr>
              <a:t>Secrets management • logs • quotas •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69280"/>
            <a:ext cx="101498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Scale claims, supported connectors and cloud deployment options should be aligned to tested environments.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Why AskDB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The value comes from combining natural-language access with governed definitions and operational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50876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Faster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Reduce friction for routine questions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Enable analysts to focus on deeper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50876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More consistent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Reuse approved semantic definitions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Reduce duplicate metric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50876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Visible trust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218687" cy="88696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Show quality and refresh signals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Apply roles, quotas and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10789920" cy="96012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E5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913632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D6"/>
                </a:solidFill>
                <a:latin typeface="Aptos"/>
              </a:rPr>
              <a:t>Positioning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840480"/>
            <a:ext cx="81381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9375F"/>
                </a:solidFill>
                <a:latin typeface="Aptos"/>
              </a:rPr>
              <a:t>AskDB connects business questions to data through a semantic, validated and governed analytics workflow.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Avoid unverified claims about competitor coverage, cost savings, accuracy percentages or production readiness.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6400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ASKDB  /  AI DATA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9375F"/>
                </a:solidFill>
                <a:latin typeface="Aptos"/>
              </a:rPr>
              <a:t>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E6C7C"/>
                </a:solidFill>
                <a:latin typeface="Aptos"/>
              </a:rPr>
              <a:t>A short, repeatable demo can show the full experience without relying on unverified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228600"/>
            <a:ext cx="10515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9375F"/>
                </a:solidFill>
                <a:latin typeface="Aptos"/>
              </a:rPr>
              <a:t>Capgemini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8208" y="228600"/>
            <a:ext cx="71323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D6"/>
                </a:solidFill>
                <a:latin typeface="Aptos"/>
              </a:rPr>
              <a:t>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7315200" cy="2339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C7C"/>
                </a:solidFill>
                <a:latin typeface="Aptos"/>
              </a:rPr>
              <a:t>Company •  </a:t>
            </a:r>
            <a:r>
              <a:rPr sz="800" b="0" i="0" dirty="0" err="1">
                <a:solidFill>
                  <a:srgbClr val="5E6C7C"/>
                </a:solidFill>
                <a:latin typeface="Aptos"/>
              </a:rPr>
              <a:t>AskDB</a:t>
            </a:r>
            <a:r>
              <a:rPr sz="800" b="0" i="0" dirty="0">
                <a:solidFill>
                  <a:srgbClr val="5E6C7C"/>
                </a:solidFill>
                <a:latin typeface="Aptos"/>
              </a:rPr>
              <a:t> AI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E6C7C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1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64008" cy="1828800"/>
          </a:xfrm>
          <a:prstGeom prst="rect">
            <a:avLst/>
          </a:prstGeom>
          <a:solidFill>
            <a:srgbClr val="00A6D6"/>
          </a:solidFill>
          <a:ln w="1016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Demo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Ask a revenue question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Refine with a follow-up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Inspect result and SQL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Open dashboard and filters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5F1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64008" cy="1828800"/>
          </a:xfrm>
          <a:prstGeom prst="rect">
            <a:avLst/>
          </a:prstGeom>
          <a:solidFill>
            <a:srgbClr val="0070C0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Near-term priorities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Validate query accuracy benchmark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Verify regional access enforcement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Harden observability and error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74720" cy="1828800"/>
          </a:xfrm>
          <a:prstGeom prst="roundRect">
            <a:avLst>
              <a:gd name="adj" fmla="val 12000"/>
            </a:avLst>
          </a:prstGeom>
          <a:solidFill>
            <a:srgbClr val="E2F5F1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64008" cy="1828800"/>
          </a:xfrm>
          <a:prstGeom prst="rect">
            <a:avLst/>
          </a:prstGeom>
          <a:solidFill>
            <a:srgbClr val="008782"/>
          </a:solidFill>
          <a:ln w="10160">
            <a:solidFill>
              <a:srgbClr val="008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37360"/>
            <a:ext cx="3172968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75F"/>
                </a:solidFill>
                <a:latin typeface="Aptos"/>
              </a:rPr>
              <a:t>Roadmap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30552"/>
            <a:ext cx="3218687" cy="1207007"/>
          </a:xfrm>
          <a:prstGeom prst="rect">
            <a:avLst/>
          </a:prstGeom>
          <a:noFill/>
        </p:spPr>
        <p:txBody>
          <a:bodyPr wrap="square" tIns="54864" rIns="73152" b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Additional SQL data sources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Automated quality rule suggestions</a:t>
            </a:r>
          </a:p>
          <a:p>
            <a:pPr>
              <a:spcAft>
                <a:spcPts val="400"/>
              </a:spcAft>
              <a:defRPr sz="1100">
                <a:solidFill>
                  <a:srgbClr val="2C3948"/>
                </a:solidFill>
                <a:latin typeface="Aptos"/>
              </a:defRPr>
            </a:pPr>
            <a:r>
              <a:t>•  More industry semantic packs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80"/>
            <a:ext cx="10698480" cy="10515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016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2743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75F"/>
                </a:solidFill>
                <a:latin typeface="Aptos"/>
              </a:rPr>
              <a:t>Questions?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07408"/>
            <a:ext cx="4206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00A6D6"/>
                </a:solidFill>
                <a:latin typeface="Aptos"/>
              </a:rPr>
              <a:t>AskDB  •  AI Data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E6C7C"/>
                </a:solidFill>
                <a:latin typeface="Aptos"/>
              </a:rPr>
              <a:t>This presentation uses illustrative UI examples and sample metrics. Confirm implementation status, architecture, and data before presenting externally.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6FE8"/>
                </a:solidFill>
                <a:latin typeface="Calibri"/>
              </a:defRPr>
            </a:pPr>
            <a:r>
              <a:t>AskDB can make natural-language analytics economical at scale.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B7C"/>
                </a:solidFill>
                <a:latin typeface="Calibri"/>
              </a:defRPr>
            </a:pPr>
            <a:r>
              <a:t>Cost perspective: NL analytics at scale (illustrative)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C2E"/>
                </a:solidFill>
                <a:latin typeface="Calibri"/>
              </a:defRPr>
            </a:pPr>
            <a:r>
              <a:t>Assumptions (illustrative, not measured production usage): 100 users · 20 NL questions/user/day · 22 working days → 44,000 questions/month · 1,500 in / 500 out tokens per question · ₹87/USD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Microsoft Power BI Pro — platform licensing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B7C"/>
                </a:solidFill>
                <a:latin typeface="Calibri"/>
              </a:defRPr>
            </a:pPr>
            <a:r>
              <a:t>Per-user subscription for BI authoring, sharing, and reporting — not a per-question 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Price per user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₹1,165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GST extra; M365 E5 may include Pro — incremental cost varies.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974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Monthly (100 users)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80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₹116,500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Annual licensing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₹1,398,000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4290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Normalized license / question*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611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₹2.65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*Spread monthly license over NL question volume for comparison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0020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1600200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0D9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6642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AskDB — estimated LLM inference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B7C"/>
                </a:solidFill>
                <a:latin typeface="Calibri"/>
              </a:defRPr>
            </a:pPr>
            <a:r>
              <a:t>Model: GPT-4o mini (illustrative API list). Not every question uses the LLM; tokens vary. Excludes hosting, DB, and ops.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Est. cost per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₹0.05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974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Est. monthly 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80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₹2,010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290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Est. annual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118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₹24,116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4290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B7C"/>
                </a:solidFill>
                <a:latin typeface="Calibri"/>
              </a:defRPr>
            </a:pPr>
            <a:r>
              <a:t>Est. LLM / user /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611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C2E"/>
                </a:solidFill>
                <a:latin typeface="Calibri"/>
              </a:defRPr>
            </a:pPr>
            <a:r>
              <a:t>₹20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931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7C"/>
                </a:solidFill>
                <a:latin typeface="Calibri"/>
              </a:defRPr>
            </a:pPr>
            <a:r>
              <a:t>~$23.10/mo API 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19472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010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C2E"/>
                </a:solidFill>
                <a:latin typeface="Calibri"/>
              </a:defRPr>
            </a:pPr>
            <a:r>
              <a:t>Under this scenario, estimated LLM inference (₹2,010/mo) is far below 100× Power BI Pro license spend (₹116,500/mo). Illustrative monthly delta ₹114,490 (98.3% lower — inference vs license only). Annual delta ₹1,373,884. Normalized per question: license ₹2.65 vs LLM ₹0.05. Full TCO must include AskDB hosting, database, monitoring, support, and engineering.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02920" y="5559552"/>
          <a:ext cx="6583680" cy="804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223760" y="5596128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25E00"/>
                </a:solidFill>
                <a:latin typeface="Calibri"/>
              </a:defRPr>
            </a:pPr>
            <a:r>
              <a:t>Chart compares license subscription cost vs estimated API inference — not equivalent total platform spend.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3620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7C"/>
                </a:solidFill>
                <a:latin typeface="Calibri"/>
              </a:defRPr>
            </a:pPr>
            <a:r>
              <a:t>Sources (Mar 2026): Power BI Pro ₹1,165/user/mo (yearly) — microsoft.com/en-in/power-platform/products/power-bi/pricing; GPT-4o mini $0.15/M in, $0.6/M out — developers.openai.com/api/docs/pricing. GST extra. E5/EA may include Pro. Excluded: Fabric/Copilot, gateways, AskDB infra &amp; PostgreSQL.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465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B7C"/>
                </a:solidFill>
                <a:latin typeface="Calibri"/>
              </a:defRPr>
            </a:pPr>
            <a:r>
              <a:t>AskDB · Capgemini Invent · AI Data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6446520"/>
            <a:ext cx="6400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B6B7C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2050</Words>
  <Application>Microsoft Office PowerPoint</Application>
  <PresentationFormat>Widescreen</PresentationFormat>
  <Paragraphs>416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Nidhi Shinde</cp:lastModifiedBy>
  <cp:revision>3</cp:revision>
  <dcterms:created xsi:type="dcterms:W3CDTF">2013-01-27T09:14:16Z</dcterms:created>
  <dcterms:modified xsi:type="dcterms:W3CDTF">2026-10-13T15:07:54Z</dcterms:modified>
  <cp:category/>
</cp:coreProperties>
</file>