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64592" cy="6858000"/>
          </a:xfrm>
          <a:prstGeom prst="roundRect">
            <a:avLst>
              <a:gd name="adj" fmla="val 8000"/>
            </a:avLst>
          </a:prstGeom>
          <a:solidFill>
            <a:srgbClr val="1D6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64592" y="0"/>
            <a:ext cx="73152" cy="6858000"/>
          </a:xfrm>
          <a:prstGeom prst="roundRect">
            <a:avLst>
              <a:gd name="adj" fmla="val 8000"/>
            </a:avLst>
          </a:prstGeom>
          <a:solidFill>
            <a:srgbClr val="0D9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F1C2E"/>
                </a:solidFill>
                <a:latin typeface="Calibri"/>
              </a:rPr>
              <a:t>AI Data Platform — </a:t>
            </a:r>
            <a:r>
              <a:rPr sz="4000" b="1">
                <a:solidFill>
                  <a:srgbClr val="1D6FE8"/>
                </a:solidFill>
                <a:latin typeface="Calibri"/>
              </a:rPr>
              <a:t>Ask</a:t>
            </a:r>
            <a:r>
              <a:rPr sz="4000" b="1">
                <a:solidFill>
                  <a:srgbClr val="0D9F8F"/>
                </a:solidFill>
                <a:latin typeface="Calibri"/>
              </a:rPr>
              <a:t> 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B6B7C"/>
                </a:solidFill>
                <a:latin typeface="Calibri"/>
              </a:defRPr>
            </a:pPr>
            <a:r>
              <a:t>From natural-language questions to governed, actionable business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C2E"/>
                </a:solidFill>
                <a:latin typeface="Calibri"/>
              </a:defRPr>
            </a:pPr>
            <a:r>
              <a:t>Enterprise NLQ over PostgreSQL · Semantic Atlas · Data Trust · Executive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120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B6B7C"/>
                </a:solidFill>
                <a:latin typeface="Calibri"/>
              </a:defRPr>
            </a:pPr>
            <a:r>
              <a:t>Leadership briefing · Capgemini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B6B7C"/>
                </a:solidFill>
                <a:latin typeface="Calibri"/>
              </a:defRPr>
            </a:pPr>
            <a:r>
              <a:t>Ask DB · Capgemini AI Data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64465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B6B7C"/>
                </a:solidFill>
                <a:latin typeface="Calibri"/>
              </a:defRPr>
            </a:pPr>
            <a:r>
              <a:t>Company Confidential © Capgemini 2026. All rights reserved.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D6FE8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0584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1D6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107899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0789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1C2E"/>
                </a:solidFill>
                <a:latin typeface="Calibri"/>
              </a:defRPr>
            </a:pPr>
            <a:r>
              <a:t>Business problem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0D9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71907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7190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1C2E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8600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1D6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235915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35915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1C2E"/>
                </a:solidFill>
                <a:latin typeface="Calibri"/>
              </a:defRPr>
            </a:pPr>
            <a:r>
              <a:t>Solution framework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926079"/>
            <a:ext cx="411480" cy="411480"/>
          </a:xfrm>
          <a:prstGeom prst="roundRect">
            <a:avLst>
              <a:gd name="adj" fmla="val 8000"/>
            </a:avLst>
          </a:prstGeom>
          <a:solidFill>
            <a:srgbClr val="0D9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2999231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999231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1C2E"/>
                </a:solidFill>
                <a:latin typeface="Calibri"/>
              </a:defRPr>
            </a:pPr>
            <a:r>
              <a:t>High-level architecture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56616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1D6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63931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6393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1C2E"/>
                </a:solidFill>
                <a:latin typeface="Calibri"/>
              </a:defRPr>
            </a:pPr>
            <a:r>
              <a:t>How questions become insights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20624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0D9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" y="427939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2793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1C2E"/>
                </a:solidFill>
                <a:latin typeface="Calibri"/>
              </a:defRPr>
            </a:pPr>
            <a:r>
              <a:t>Question flow (DFD)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846319"/>
            <a:ext cx="411480" cy="411480"/>
          </a:xfrm>
          <a:prstGeom prst="roundRect">
            <a:avLst>
              <a:gd name="adj" fmla="val 8000"/>
            </a:avLst>
          </a:prstGeom>
          <a:solidFill>
            <a:srgbClr val="1D6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3232" y="4919471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919471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1C2E"/>
                </a:solidFill>
                <a:latin typeface="Calibri"/>
              </a:defRPr>
            </a:pPr>
            <a:r>
              <a:t>Implementation approach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00584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0D9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73952" y="107899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107899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1C2E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164592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1D6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73952" y="171907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171907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1C2E"/>
                </a:solidFill>
                <a:latin typeface="Calibri"/>
              </a:defRPr>
            </a:pPr>
            <a:r>
              <a:t>Product components (what we shipped)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228600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0D9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73952" y="235915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235915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1C2E"/>
                </a:solidFill>
                <a:latin typeface="Calibri"/>
              </a:defRPr>
            </a:pPr>
            <a:r>
              <a:t>Legacy Streamlit → Ask DB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2926079"/>
            <a:ext cx="411480" cy="411480"/>
          </a:xfrm>
          <a:prstGeom prst="roundRect">
            <a:avLst>
              <a:gd name="adj" fmla="val 8000"/>
            </a:avLst>
          </a:prstGeom>
          <a:solidFill>
            <a:srgbClr val="1D6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73952" y="2999231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2999231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1C2E"/>
                </a:solidFill>
                <a:latin typeface="Calibri"/>
              </a:defRPr>
            </a:pPr>
            <a:r>
              <a:t>Live demo / use cases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356616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0D9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73952" y="363931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60" y="363931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1C2E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420624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1D6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73952" y="427939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5160" y="427939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1C2E"/>
                </a:solidFill>
                <a:latin typeface="Calibri"/>
              </a:defRPr>
            </a:pPr>
            <a:r>
              <a:t>Future roadmap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0" y="4846319"/>
            <a:ext cx="411480" cy="411480"/>
          </a:xfrm>
          <a:prstGeom prst="roundRect">
            <a:avLst>
              <a:gd name="adj" fmla="val 8000"/>
            </a:avLst>
          </a:prstGeom>
          <a:solidFill>
            <a:srgbClr val="0D9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73952" y="4919471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95160" y="4919471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1C2E"/>
                </a:solidFill>
                <a:latin typeface="Calibri"/>
              </a:defRPr>
            </a:pPr>
            <a:r>
              <a:t>Ask / next steps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" y="6446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B6B7C"/>
                </a:solidFill>
                <a:latin typeface="Calibri"/>
              </a:defRPr>
            </a:pPr>
            <a:r>
              <a:t>Ask DB · Capgemini AI Data Platform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03520" y="64465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B6B7C"/>
                </a:solidFill>
                <a:latin typeface="Calibri"/>
              </a:defRPr>
            </a:pPr>
            <a:r>
              <a:t>Company Confidential © Capgemini 2026. All rights reserved.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D6FE8"/>
                </a:solidFill>
                <a:latin typeface="Calibri"/>
              </a:defRPr>
            </a:pPr>
            <a:r>
              <a:t>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B6B7C"/>
                </a:solidFill>
                <a:latin typeface="Calibri"/>
              </a:defRPr>
            </a:pPr>
            <a:r>
              <a:t>Today’s analytics loop is slow, brittle, and role-fragmented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530352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6FE8"/>
                </a:solidFill>
                <a:latin typeface="Calibri"/>
              </a:defRPr>
            </a:pPr>
            <a:r>
              <a:t>Current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1920240"/>
            <a:ext cx="4023360" cy="45720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201168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C2E"/>
                </a:solidFill>
                <a:latin typeface="Calibri"/>
              </a:defRPr>
            </a:pPr>
            <a:r>
              <a:t>1.  Business question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560320"/>
            <a:ext cx="4023360" cy="45720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265176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C2E"/>
                </a:solidFill>
                <a:latin typeface="Calibri"/>
              </a:defRPr>
            </a:pPr>
            <a:r>
              <a:t>2.  Analyst / DE queue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3200400"/>
            <a:ext cx="4023360" cy="45720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329184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C2E"/>
                </a:solidFill>
                <a:latin typeface="Calibri"/>
              </a:defRPr>
            </a:pPr>
            <a:r>
              <a:t>3.  Hand-written 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3840479"/>
            <a:ext cx="4023360" cy="45720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3931919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C2E"/>
                </a:solidFill>
                <a:latin typeface="Calibri"/>
              </a:defRPr>
            </a:pPr>
            <a:r>
              <a:t>4.  Dashboard refresh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4480560"/>
            <a:ext cx="4023360" cy="45720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457200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C2E"/>
                </a:solidFill>
                <a:latin typeface="Calibri"/>
              </a:defRPr>
            </a:pPr>
            <a:r>
              <a:t>5.  Answer (often late)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303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25E00"/>
                </a:solidFill>
                <a:latin typeface="Calibri"/>
              </a:defRPr>
            </a:pPr>
            <a:r>
              <a:t>Turnaround often days → weeks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1234440"/>
            <a:ext cx="566928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6364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F8F"/>
                </a:solidFill>
                <a:latin typeface="Calibri"/>
              </a:defRPr>
            </a:pPr>
            <a:r>
              <a:t>Friction between leadership &amp; data teams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920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D6FE8"/>
                </a:solidFill>
                <a:latin typeface="Calibri"/>
              </a:defRPr>
            </a:pPr>
            <a:r>
              <a:t>Leadership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240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B6B7C"/>
                </a:solidFill>
                <a:latin typeface="Calibri"/>
              </a:defRPr>
            </a:pPr>
            <a:r>
              <a:t>• “I don’t know SQL — I just need the number.”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6517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B6B7C"/>
                </a:solidFill>
                <a:latin typeface="Calibri"/>
              </a:defRPr>
            </a:pPr>
            <a:r>
              <a:t>• “When will I get my answer?”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3063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B6B7C"/>
                </a:solidFill>
                <a:latin typeface="Calibri"/>
              </a:defRPr>
            </a:pPr>
            <a:r>
              <a:t>• “Are there multiple sources of truth?”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657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9F8F"/>
                </a:solidFill>
                <a:latin typeface="Calibri"/>
              </a:defRPr>
            </a:pPr>
            <a:r>
              <a:t>Analyst / Data Engineering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97763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B6B7C"/>
                </a:solidFill>
                <a:latin typeface="Calibri"/>
              </a:defRPr>
            </a:pPr>
            <a:r>
              <a:t>• Ambiguous business terms (FTR, loss ratio…)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38911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B6B7C"/>
                </a:solidFill>
                <a:latin typeface="Calibri"/>
              </a:defRPr>
            </a:pPr>
            <a:r>
              <a:t>• Same request repeated across analysts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480059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B6B7C"/>
                </a:solidFill>
                <a:latin typeface="Calibri"/>
              </a:defRPr>
            </a:pPr>
            <a:r>
              <a:t>• Too many ad-hoc asks to manage safely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46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B6B7C"/>
                </a:solidFill>
                <a:latin typeface="Calibri"/>
              </a:defRPr>
            </a:pPr>
            <a:r>
              <a:t>Ask DB · Capgemini AI Data Platform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64465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B6B7C"/>
                </a:solidFill>
                <a:latin typeface="Calibri"/>
              </a:defRPr>
            </a:pPr>
            <a:r>
              <a:t>Company Confidential © Capgemini 2026. All rights reserved.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D6FE8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B6B7C"/>
                </a:solidFill>
                <a:latin typeface="Calibri"/>
              </a:defRPr>
            </a:pPr>
            <a:r>
              <a:t>Enable natural-language access to enterprise data — with governance, not guesswork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74320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743200" cy="109728"/>
          </a:xfrm>
          <a:prstGeom prst="roundRect">
            <a:avLst>
              <a:gd name="adj" fmla="val 8000"/>
            </a:avLst>
          </a:prstGeom>
          <a:solidFill>
            <a:srgbClr val="1D6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C2E"/>
                </a:solidFill>
                <a:latin typeface="Calibri"/>
              </a:defRPr>
            </a:pPr>
            <a:r>
              <a:t>1. 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B6B7C"/>
                </a:solidFill>
                <a:latin typeface="Calibri"/>
              </a:defRPr>
            </a:pPr>
            <a:r>
              <a:t>Plain-English question in Chat / Home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371600"/>
            <a:ext cx="274320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337560" y="1371600"/>
            <a:ext cx="2743200" cy="109728"/>
          </a:xfrm>
          <a:prstGeom prst="roundRect">
            <a:avLst>
              <a:gd name="adj" fmla="val 8000"/>
            </a:avLst>
          </a:prstGeom>
          <a:solidFill>
            <a:srgbClr val="1D6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20440" y="1691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C2E"/>
                </a:solidFill>
                <a:latin typeface="Calibri"/>
              </a:defRPr>
            </a:pPr>
            <a:r>
              <a:t>2. Understand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1945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B6B7C"/>
                </a:solidFill>
                <a:latin typeface="Calibri"/>
              </a:defRPr>
            </a:pPr>
            <a:r>
              <a:t>Intent · entities · filters · glossary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274320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2743200" cy="109728"/>
          </a:xfrm>
          <a:prstGeom prst="roundRect">
            <a:avLst>
              <a:gd name="adj" fmla="val 8000"/>
            </a:avLst>
          </a:prstGeom>
          <a:solidFill>
            <a:srgbClr val="1D6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1691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C2E"/>
                </a:solidFill>
                <a:latin typeface="Calibri"/>
              </a:defRPr>
            </a:pPr>
            <a:r>
              <a:t>3. 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945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B6B7C"/>
                </a:solidFill>
                <a:latin typeface="Calibri"/>
              </a:defRPr>
            </a:pPr>
            <a:r>
              <a:t>Template-first or LLM SQL plan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371600"/>
            <a:ext cx="274320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098280" y="1371600"/>
            <a:ext cx="2743200" cy="109728"/>
          </a:xfrm>
          <a:prstGeom prst="roundRect">
            <a:avLst>
              <a:gd name="adj" fmla="val 8000"/>
            </a:avLst>
          </a:prstGeom>
          <a:solidFill>
            <a:srgbClr val="1D6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81160" y="1691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C2E"/>
                </a:solidFill>
                <a:latin typeface="Calibri"/>
              </a:defRPr>
            </a:pPr>
            <a:r>
              <a:t>4. Generate 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21945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B6B7C"/>
                </a:solidFill>
                <a:latin typeface="Calibri"/>
              </a:defRPr>
            </a:pPr>
            <a:r>
              <a:t>Schema-qualified, pack-grounded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566160"/>
            <a:ext cx="274320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57200" y="3566160"/>
            <a:ext cx="2743200" cy="109728"/>
          </a:xfrm>
          <a:prstGeom prst="roundRect">
            <a:avLst>
              <a:gd name="adj" fmla="val 8000"/>
            </a:avLst>
          </a:prstGeom>
          <a:solidFill>
            <a:srgbClr val="0D9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3886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C2E"/>
                </a:solidFill>
                <a:latin typeface="Calibri"/>
              </a:defRPr>
            </a:pPr>
            <a:r>
              <a:t>5. Validate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3891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B6B7C"/>
                </a:solidFill>
                <a:latin typeface="Calibri"/>
              </a:defRPr>
            </a:pPr>
            <a:r>
              <a:t>Guardrails · EXPLAIN · auto-repair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37560" y="3566160"/>
            <a:ext cx="274320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337560" y="3566160"/>
            <a:ext cx="2743200" cy="109728"/>
          </a:xfrm>
          <a:prstGeom prst="roundRect">
            <a:avLst>
              <a:gd name="adj" fmla="val 8000"/>
            </a:avLst>
          </a:prstGeom>
          <a:solidFill>
            <a:srgbClr val="0D9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520440" y="3886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C2E"/>
                </a:solidFill>
                <a:latin typeface="Calibri"/>
              </a:defRPr>
            </a:pPr>
            <a:r>
              <a:t>6. Execute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3891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B6B7C"/>
                </a:solidFill>
                <a:latin typeface="Calibri"/>
              </a:defRPr>
            </a:pPr>
            <a:r>
              <a:t>Read-only PostgreSQL analytics DBs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566160"/>
            <a:ext cx="274320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217920" y="3566160"/>
            <a:ext cx="2743200" cy="109728"/>
          </a:xfrm>
          <a:prstGeom prst="roundRect">
            <a:avLst>
              <a:gd name="adj" fmla="val 8000"/>
            </a:avLst>
          </a:prstGeom>
          <a:solidFill>
            <a:srgbClr val="0D9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0" y="3886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C2E"/>
                </a:solidFill>
                <a:latin typeface="Calibri"/>
              </a:defRPr>
            </a:pPr>
            <a:r>
              <a:t>7. Present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3891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B6B7C"/>
                </a:solidFill>
                <a:latin typeface="Calibri"/>
              </a:defRPr>
            </a:pPr>
            <a:r>
              <a:t>Table · Chart · SQL · Trust signals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98280" y="3566160"/>
            <a:ext cx="274320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098280" y="3566160"/>
            <a:ext cx="2743200" cy="109728"/>
          </a:xfrm>
          <a:prstGeom prst="roundRect">
            <a:avLst>
              <a:gd name="adj" fmla="val 8000"/>
            </a:avLst>
          </a:prstGeom>
          <a:solidFill>
            <a:srgbClr val="0D9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281160" y="3886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C2E"/>
                </a:solidFill>
                <a:latin typeface="Calibri"/>
              </a:defRPr>
            </a:pPr>
            <a:r>
              <a:t>8. 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60" y="43891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B6B7C"/>
                </a:solidFill>
                <a:latin typeface="Calibri"/>
              </a:defRPr>
            </a:pPr>
            <a:r>
              <a:t>EI KPIs · Trust Center · Semantic Atlas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446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B6B7C"/>
                </a:solidFill>
                <a:latin typeface="Calibri"/>
              </a:defRPr>
            </a:pPr>
            <a:r>
              <a:t>Ask DB · Capgemini AI Data Platform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0" y="64465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B6B7C"/>
                </a:solidFill>
                <a:latin typeface="Calibri"/>
              </a:defRPr>
            </a:pPr>
            <a:r>
              <a:t>Company Confidential © Capgemini 2026. All rights reserved.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D6FE8"/>
                </a:solidFill>
                <a:latin typeface="Calibri"/>
              </a:defRPr>
            </a:pPr>
            <a:r>
              <a:t>Solution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C2E"/>
                </a:solidFill>
                <a:latin typeface="Calibri"/>
              </a:defRPr>
            </a:pPr>
            <a:r>
              <a:t>User Intent  →  Semantic Layer  →  SQL Engine  →  Insight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34440"/>
            <a:ext cx="278892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65760" y="1234440"/>
            <a:ext cx="2788920" cy="502920"/>
          </a:xfrm>
          <a:prstGeom prst="roundRect">
            <a:avLst>
              <a:gd name="adj" fmla="val 8000"/>
            </a:avLst>
          </a:prstGeom>
          <a:solidFill>
            <a:srgbClr val="1D6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C2E"/>
                </a:solidFill>
                <a:latin typeface="Calibri"/>
              </a:defRPr>
            </a:pPr>
            <a:r>
              <a:t>• Natural language chat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0604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C2E"/>
                </a:solidFill>
                <a:latin typeface="Calibri"/>
              </a:defRPr>
            </a:pPr>
            <a:r>
              <a:t>• Industry switch (Auto / Insurance)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4612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C2E"/>
                </a:solidFill>
                <a:latin typeface="Calibri"/>
              </a:defRPr>
            </a:pPr>
            <a:r>
              <a:t>• Connected data sources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234440"/>
            <a:ext cx="278892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291840" y="1234440"/>
            <a:ext cx="2788920" cy="502920"/>
          </a:xfrm>
          <a:prstGeom prst="roundRect">
            <a:avLst>
              <a:gd name="adj" fmla="val 8000"/>
            </a:avLst>
          </a:prstGeom>
          <a:solidFill>
            <a:srgbClr val="6D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29000" y="13258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SEMANTIC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96596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C2E"/>
                </a:solidFill>
                <a:latin typeface="Calibri"/>
              </a:defRPr>
            </a:pPr>
            <a:r>
              <a:t>• Knowledge graph + Semantic Atlas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60604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C2E"/>
                </a:solidFill>
                <a:latin typeface="Calibri"/>
              </a:defRPr>
            </a:pPr>
            <a:r>
              <a:t>• YAML semantic packs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24612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C2E"/>
                </a:solidFill>
                <a:latin typeface="Calibri"/>
              </a:defRPr>
            </a:pPr>
            <a:r>
              <a:t>• Business glossary + ontology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886199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C2E"/>
                </a:solidFill>
                <a:latin typeface="Calibri"/>
              </a:defRPr>
            </a:pPr>
            <a:r>
              <a:t>• Value dictionary (live distincts)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234440"/>
            <a:ext cx="278892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217920" y="1234440"/>
            <a:ext cx="2788920" cy="502920"/>
          </a:xfrm>
          <a:prstGeom prst="roundRect">
            <a:avLst>
              <a:gd name="adj" fmla="val 8000"/>
            </a:avLst>
          </a:prstGeom>
          <a:solidFill>
            <a:srgbClr val="0D9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13258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EXECUTION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96596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C2E"/>
                </a:solidFill>
                <a:latin typeface="Calibri"/>
              </a:defRPr>
            </a:pPr>
            <a:r>
              <a:t>• PostgreSQL analytics (RO)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60604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C2E"/>
                </a:solidFill>
                <a:latin typeface="Calibri"/>
              </a:defRPr>
            </a:pPr>
            <a:r>
              <a:t>• Template-first + LLM fallback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24612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C2E"/>
                </a:solidFill>
                <a:latin typeface="Calibri"/>
              </a:defRPr>
            </a:pPr>
            <a:r>
              <a:t>• Query cache + SSE progress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886199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C2E"/>
                </a:solidFill>
                <a:latin typeface="Calibri"/>
              </a:defRPr>
            </a:pPr>
            <a:r>
              <a:t>• Query history + replay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1234440"/>
            <a:ext cx="278892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144000" y="1234440"/>
            <a:ext cx="2788920" cy="502920"/>
          </a:xfrm>
          <a:prstGeom prst="roundRect">
            <a:avLst>
              <a:gd name="adj" fmla="val 8000"/>
            </a:avLst>
          </a:prstGeom>
          <a:solidFill>
            <a:srgbClr val="E0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281160" y="13258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GOVERNANCE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196596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C2E"/>
                </a:solidFill>
                <a:latin typeface="Calibri"/>
              </a:defRPr>
            </a:pPr>
            <a:r>
              <a:t>• Role-based access control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260604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C2E"/>
                </a:solidFill>
                <a:latin typeface="Calibri"/>
              </a:defRPr>
            </a:pPr>
            <a:r>
              <a:t>• Admin dashboard &amp; audit trail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324612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C2E"/>
                </a:solidFill>
                <a:latin typeface="Calibri"/>
              </a:defRPr>
            </a:pPr>
            <a:r>
              <a:t>• LLM observability &amp; cost controls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3886199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C2E"/>
                </a:solidFill>
                <a:latin typeface="Calibri"/>
              </a:defRPr>
            </a:pPr>
            <a:r>
              <a:t>• Configurable LLM gateway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715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B6B7C"/>
                </a:solidFill>
                <a:latin typeface="Calibri"/>
              </a:defRPr>
            </a:pPr>
            <a:r>
              <a:t>Tech: Next.js · FastAPI · PostgreSQL · YAML semantic packs · Capgemini LLM API · TanStack Query · React Flow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446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B6B7C"/>
                </a:solidFill>
                <a:latin typeface="Calibri"/>
              </a:defRPr>
            </a:pPr>
            <a:r>
              <a:t>Ask DB · Capgemini AI Data Platform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64465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B6B7C"/>
                </a:solidFill>
                <a:latin typeface="Calibri"/>
              </a:defRPr>
            </a:pPr>
            <a:r>
              <a:t>Company Confidential © Capgemini 2026. All rights reserved.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D6FE8"/>
                </a:solidFill>
                <a:latin typeface="Calibri"/>
              </a:defRPr>
            </a:pPr>
            <a:r>
              <a:t>High-level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74320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07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F1C2E"/>
                </a:solidFill>
                <a:latin typeface="Calibri"/>
              </a:defRPr>
            </a:pPr>
            <a:r>
              <a:t>User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274320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1D6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F1C2E"/>
                </a:solidFill>
                <a:latin typeface="Calibri"/>
              </a:defRPr>
            </a:pPr>
            <a:r>
              <a:t>Ask DB Web</a:t>
            </a:r>
            <a:br/>
            <a:r>
              <a:t>(Next.js)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0" y="274320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D9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F1C2E"/>
                </a:solidFill>
                <a:latin typeface="Calibri"/>
              </a:defRPr>
            </a:pPr>
            <a:r>
              <a:t>Query Brain</a:t>
            </a:r>
            <a:br/>
            <a:r>
              <a:t>(FastAPI NLQ)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137160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6D5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F1C2E"/>
                </a:solidFill>
                <a:latin typeface="Calibri"/>
              </a:defRPr>
            </a:pPr>
            <a:r>
              <a:t>Semantic Atlas</a:t>
            </a:r>
            <a:br/>
            <a:r>
              <a:t>(YAML packs)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274320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07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F1C2E"/>
                </a:solidFill>
                <a:latin typeface="Calibri"/>
              </a:defRPr>
            </a:pPr>
            <a:r>
              <a:t>PostgreSQL</a:t>
            </a:r>
            <a:br/>
            <a:r>
              <a:t>Analytics (RO)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411480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1D6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F1C2E"/>
                </a:solidFill>
                <a:latin typeface="Calibri"/>
              </a:defRPr>
            </a:pPr>
            <a:r>
              <a:t>App DB</a:t>
            </a:r>
            <a:br/>
            <a:r>
              <a:t>Auth · History · Cost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438912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D9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F1C2E"/>
                </a:solidFill>
                <a:latin typeface="Calibri"/>
              </a:defRPr>
            </a:pPr>
            <a:r>
              <a:t>Result UI</a:t>
            </a:r>
            <a:br/>
            <a:r>
              <a:t>Table · Chart · 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B6B7C"/>
                </a:solidFill>
                <a:latin typeface="Calibri"/>
              </a:defRPr>
            </a:pPr>
            <a:r>
              <a:t>✓  Browser never holds LLM keys or executes 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B6B7C"/>
                </a:solidFill>
                <a:latin typeface="Calibri"/>
              </a:defRPr>
            </a:pPr>
            <a:r>
              <a:t>✓  Numbers always come from PostgreSQL — not the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82880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B6B7C"/>
                </a:solidFill>
                <a:latin typeface="Calibri"/>
              </a:defRPr>
            </a:pPr>
            <a:r>
              <a:t>✓  Semantic truth from YAML packs and knowledge graph, not ad-hoc prompts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1945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B6B7C"/>
                </a:solidFill>
                <a:latin typeface="Calibri"/>
              </a:defRPr>
            </a:pPr>
            <a:r>
              <a:t>✓  Analytics pools are read-only with RBAC, statement timeout + LIMIT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5603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B6B7C"/>
                </a:solidFill>
                <a:latin typeface="Calibri"/>
              </a:defRPr>
            </a:pPr>
            <a:r>
              <a:t>✓  Admin console governs audit, query history, LLM config and usage visibility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446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B6B7C"/>
                </a:solidFill>
                <a:latin typeface="Calibri"/>
              </a:defRPr>
            </a:pPr>
            <a:r>
              <a:t>Ask DB · Capgemini AI Data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64465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B6B7C"/>
                </a:solidFill>
                <a:latin typeface="Calibri"/>
              </a:defRPr>
            </a:pPr>
            <a:r>
              <a:t>Company Confidential © Capgemini 2026. All rights reserved.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D6FE8"/>
                </a:solidFill>
                <a:latin typeface="Calibri"/>
              </a:defRPr>
            </a:pPr>
            <a:r>
              <a:t>How user questions become business insights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097280"/>
            <a:ext cx="219456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20040" y="1097280"/>
            <a:ext cx="2194560" cy="548640"/>
          </a:xfrm>
          <a:prstGeom prst="roundRect">
            <a:avLst>
              <a:gd name="adj" fmla="val 8000"/>
            </a:avLst>
          </a:prstGeom>
          <a:solidFill>
            <a:srgbClr val="1D6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2070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C2E"/>
                </a:solidFill>
                <a:latin typeface="Calibri"/>
              </a:defRPr>
            </a:pPr>
            <a:r>
              <a:t>Natural language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C2E"/>
                </a:solidFill>
                <a:latin typeface="Calibri"/>
              </a:defRPr>
            </a:pPr>
            <a:r>
              <a:t>Industry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C2E"/>
                </a:solidFill>
                <a:latin typeface="Calibri"/>
              </a:defRPr>
            </a:pPr>
            <a:r>
              <a:t>Follow-ups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1097280"/>
            <a:ext cx="219456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651760" y="1097280"/>
            <a:ext cx="2194560" cy="548640"/>
          </a:xfrm>
          <a:prstGeom prst="roundRect">
            <a:avLst>
              <a:gd name="adj" fmla="val 8000"/>
            </a:avLst>
          </a:prstGeom>
          <a:solidFill>
            <a:srgbClr val="6D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0" y="12070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19202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C2E"/>
                </a:solidFill>
                <a:latin typeface="Calibri"/>
              </a:defRPr>
            </a:pPr>
            <a:r>
              <a:t>Question understanding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8346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C2E"/>
                </a:solidFill>
                <a:latin typeface="Calibri"/>
              </a:defRPr>
            </a:pPr>
            <a:r>
              <a:t>Glossary + value match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37490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C2E"/>
                </a:solidFill>
                <a:latin typeface="Calibri"/>
              </a:defRPr>
            </a:pPr>
            <a:r>
              <a:t>Semantic model / plan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83480" y="1097280"/>
            <a:ext cx="219456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983480" y="1097280"/>
            <a:ext cx="2194560" cy="548640"/>
          </a:xfrm>
          <a:prstGeom prst="roundRect">
            <a:avLst>
              <a:gd name="adj" fmla="val 8000"/>
            </a:avLst>
          </a:prstGeom>
          <a:solidFill>
            <a:srgbClr val="0D9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74920" y="12070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Execution &amp; Cache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19202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C2E"/>
                </a:solidFill>
                <a:latin typeface="Calibri"/>
              </a:defRPr>
            </a:pPr>
            <a:r>
              <a:t>Cache hit?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8346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C2E"/>
                </a:solidFill>
                <a:latin typeface="Calibri"/>
              </a:defRPr>
            </a:pPr>
            <a:r>
              <a:t>Template or LLM 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37490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C2E"/>
                </a:solidFill>
                <a:latin typeface="Calibri"/>
              </a:defRPr>
            </a:pPr>
            <a:r>
              <a:t>Validate · repair · run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199" y="1097280"/>
            <a:ext cx="219456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315199" y="1097280"/>
            <a:ext cx="2194560" cy="548640"/>
          </a:xfrm>
          <a:prstGeom prst="roundRect">
            <a:avLst>
              <a:gd name="adj" fmla="val 8000"/>
            </a:avLst>
          </a:prstGeom>
          <a:solidFill>
            <a:srgbClr val="E0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06639" y="12070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59" y="19202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C2E"/>
                </a:solidFill>
                <a:latin typeface="Calibri"/>
              </a:defRPr>
            </a:pPr>
            <a:r>
              <a:t>Automotive PG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59" y="28346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C2E"/>
                </a:solidFill>
                <a:latin typeface="Calibri"/>
              </a:defRPr>
            </a:pPr>
            <a:r>
              <a:t>Insurance PG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59" y="37490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C2E"/>
                </a:solidFill>
                <a:latin typeface="Calibri"/>
              </a:defRPr>
            </a:pPr>
            <a:r>
              <a:t>Freshness / DQ signals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46920" y="1097280"/>
            <a:ext cx="219456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646920" y="1097280"/>
            <a:ext cx="2194560" cy="548640"/>
          </a:xfrm>
          <a:prstGeom prst="roundRect">
            <a:avLst>
              <a:gd name="adj" fmla="val 8000"/>
            </a:avLst>
          </a:prstGeom>
          <a:solidFill>
            <a:srgbClr val="C2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738360" y="12070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Visualization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19202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C2E"/>
                </a:solidFill>
                <a:latin typeface="Calibri"/>
              </a:defRPr>
            </a:pPr>
            <a:r>
              <a:t>Table (default)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28346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C2E"/>
                </a:solidFill>
                <a:latin typeface="Calibri"/>
              </a:defRPr>
            </a:pPr>
            <a:r>
              <a:t>Interactive chart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37490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C2E"/>
                </a:solidFill>
                <a:latin typeface="Calibri"/>
              </a:defRPr>
            </a:pPr>
            <a:r>
              <a:t>SQL + trust badges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6446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B6B7C"/>
                </a:solidFill>
                <a:latin typeface="Calibri"/>
              </a:defRPr>
            </a:pPr>
            <a:r>
              <a:t>Ask DB · Capgemini AI Data Platform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0" y="64465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B6B7C"/>
                </a:solidFill>
                <a:latin typeface="Calibri"/>
              </a:defRPr>
            </a:pPr>
            <a:r>
              <a:t>Company Confidential © Capgemini 2026. All rights reserved.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D6FE8"/>
                </a:solidFill>
                <a:latin typeface="Calibri"/>
              </a:defRPr>
            </a:pPr>
            <a:r>
              <a:t>Question flow (DFD)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B6B7C"/>
                </a:solidFill>
                <a:latin typeface="Calibri"/>
              </a:defRPr>
            </a:pPr>
            <a:r>
              <a:t>From plain-English question to answered result in Chat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828800"/>
            <a:ext cx="1645920" cy="640080"/>
          </a:xfrm>
          <a:prstGeom prst="roundRect">
            <a:avLst>
              <a:gd name="adj" fmla="val 8000"/>
            </a:avLst>
          </a:prstGeom>
          <a:solidFill>
            <a:srgbClr val="1D6FE8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6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User question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77440" y="1828800"/>
            <a:ext cx="1463040" cy="640080"/>
          </a:xfrm>
          <a:prstGeom prst="roundRect">
            <a:avLst>
              <a:gd name="adj" fmla="val 8000"/>
            </a:avLst>
          </a:prstGeom>
          <a:solidFill>
            <a:srgbClr val="0D9F8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6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Router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005840"/>
            <a:ext cx="1828800" cy="594360"/>
          </a:xfrm>
          <a:prstGeom prst="roundRect">
            <a:avLst>
              <a:gd name="adj" fmla="val 8000"/>
            </a:avLst>
          </a:prstGeom>
          <a:solidFill>
            <a:srgbClr val="E07A2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6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Polite redirect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828800"/>
            <a:ext cx="2011680" cy="640080"/>
          </a:xfrm>
          <a:prstGeom prst="roundRect">
            <a:avLst>
              <a:gd name="adj" fmla="val 8000"/>
            </a:avLst>
          </a:prstGeom>
          <a:solidFill>
            <a:srgbClr val="6D5CF0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6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Semantic layer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834640"/>
            <a:ext cx="2011680" cy="640080"/>
          </a:xfrm>
          <a:prstGeom prst="roundRect">
            <a:avLst>
              <a:gd name="adj" fmla="val 8000"/>
            </a:avLst>
          </a:prstGeom>
          <a:solidFill>
            <a:srgbClr val="0D9F8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6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Edit prior SQL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1828800"/>
            <a:ext cx="2194560" cy="640080"/>
          </a:xfrm>
          <a:prstGeom prst="roundRect">
            <a:avLst>
              <a:gd name="adj" fmla="val 8000"/>
            </a:avLst>
          </a:prstGeom>
          <a:solidFill>
            <a:srgbClr val="1D6FE8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6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Generate / modify SQL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1828800"/>
            <a:ext cx="2286000" cy="640080"/>
          </a:xfrm>
          <a:prstGeom prst="roundRect">
            <a:avLst>
              <a:gd name="adj" fmla="val 8000"/>
            </a:avLst>
          </a:prstGeom>
          <a:solidFill>
            <a:srgbClr val="E07A2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6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Postgres runs query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0" y="3108960"/>
            <a:ext cx="2286000" cy="640080"/>
          </a:xfrm>
          <a:prstGeom prst="roundRect">
            <a:avLst>
              <a:gd name="adj" fmla="val 8000"/>
            </a:avLst>
          </a:prstGeom>
          <a:solidFill>
            <a:srgbClr val="0D9F8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6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Table · Chart · 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4206240"/>
            <a:ext cx="4846320" cy="640080"/>
          </a:xfrm>
          <a:prstGeom prst="roundRect">
            <a:avLst>
              <a:gd name="adj" fmla="val 8000"/>
            </a:avLst>
          </a:prstGeom>
          <a:solidFill>
            <a:srgbClr val="6D5CF0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6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Answer in Chat (+ Trust / timing)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11430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25E00"/>
                </a:solidFill>
                <a:latin typeface="Calibri"/>
              </a:defRPr>
            </a:pPr>
            <a:r>
              <a:t>off-topic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514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B6B7C"/>
                </a:solidFill>
                <a:latin typeface="Calibri"/>
              </a:defRPr>
            </a:pPr>
            <a:r>
              <a:t>new 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520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B6B7C"/>
                </a:solidFill>
                <a:latin typeface="Calibri"/>
              </a:defRPr>
            </a:pPr>
            <a:r>
              <a:t>follow-up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1417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B8A5A"/>
                </a:solidFill>
                <a:latin typeface="Calibri"/>
              </a:defRPr>
            </a:pPr>
            <a:r>
              <a:t>safe 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212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B6B7C"/>
                </a:solidFill>
                <a:latin typeface="Calibri"/>
              </a:defRPr>
            </a:pPr>
            <a:r>
              <a:t>Updated from legacy DuckDB path → PostgreSQL analytics with progressive SSE stages (understand → semantic match → generate → validate → crunch → build answer).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46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B6B7C"/>
                </a:solidFill>
                <a:latin typeface="Calibri"/>
              </a:defRPr>
            </a:pPr>
            <a:r>
              <a:t>Ask DB · Capgemini AI Data 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64465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B6B7C"/>
                </a:solidFill>
                <a:latin typeface="Calibri"/>
              </a:defRPr>
            </a:pPr>
            <a:r>
              <a:t>Company Confidential © Capgemini 2026. All rights reserved.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D6FE8"/>
                </a:solidFill>
                <a:latin typeface="Calibri"/>
              </a:defRPr>
            </a:pPr>
            <a:r>
              <a:t>Implementation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B6B7C"/>
                </a:solidFill>
                <a:latin typeface="Calibri"/>
              </a:defRPr>
            </a:pPr>
            <a:r>
              <a:t>Data and AI interaction — production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1D6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57276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360" y="15544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C2E"/>
                </a:solidFill>
                <a:latin typeface="Calibri"/>
              </a:defRPr>
            </a:pPr>
            <a:r>
              <a:t>Next.js workspace · Home hero · Chat · EI · Trust · Semantic Atlas · LLM Observability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33172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7200" y="233172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62432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60604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C2E"/>
                </a:solidFill>
                <a:latin typeface="Calibri"/>
              </a:defRPr>
            </a:pPr>
            <a:r>
              <a:t>FastAPI NLQ · templates · LLM · validation · SSE · cache · cost tracking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38328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0D9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367588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3657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C2E"/>
                </a:solidFill>
                <a:latin typeface="Calibri"/>
              </a:defRPr>
            </a:pPr>
            <a:r>
              <a:t>Capgemini LLM gateway · sampling controls · fallback model · usage metering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34839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57200" y="4434839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6D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4727447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4709159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C2E"/>
                </a:solidFill>
                <a:latin typeface="Calibri"/>
              </a:defRPr>
            </a:pPr>
            <a:r>
              <a:t>askdb_app + askdb_automotive + askdb_insurance · Mongo/Qdrant for knowledge (optional)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B6B7C"/>
                </a:solidFill>
                <a:latin typeface="Calibri"/>
              </a:defRPr>
            </a:pPr>
            <a:r>
              <a:t>Ask DB · Capgemini AI Data Platform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64465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B6B7C"/>
                </a:solidFill>
                <a:latin typeface="Calibri"/>
              </a:defRPr>
            </a:pPr>
            <a:r>
              <a:t>Company Confidential © Capgemini 2026. All rights reserved.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D6FE8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256032" cy="256032"/>
          </a:xfrm>
          <a:prstGeom prst="roundRect">
            <a:avLst>
              <a:gd name="adj" fmla="val 8000"/>
            </a:avLst>
          </a:prstGeom>
          <a:solidFill>
            <a:srgbClr val="1D6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1033272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C2E"/>
                </a:solidFill>
                <a:latin typeface="Calibri"/>
              </a:defRPr>
            </a:pPr>
            <a:r>
              <a:t>Intent 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271016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B6B7C"/>
                </a:solidFill>
                <a:latin typeface="Calibri"/>
              </a:defRPr>
            </a:pPr>
            <a:r>
              <a:t>Understands ‘top performers’ as ORDER BY … DESC LIMIT — not keyword match.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256032" cy="256032"/>
          </a:xfrm>
          <a:prstGeom prst="roundRect">
            <a:avLst>
              <a:gd name="adj" fmla="val 8000"/>
            </a:avLst>
          </a:prstGeom>
          <a:solidFill>
            <a:srgbClr val="1D6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993392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C2E"/>
                </a:solidFill>
                <a:latin typeface="Calibri"/>
              </a:defRPr>
            </a:pPr>
            <a:r>
              <a:t>Semantic Atlas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231136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B6B7C"/>
                </a:solidFill>
                <a:latin typeface="Calibri"/>
              </a:defRPr>
            </a:pPr>
            <a:r>
              <a:t>Knowledge graph and glossary connect business terms to tables, joins, and KPIs.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971800"/>
            <a:ext cx="256032" cy="256032"/>
          </a:xfrm>
          <a:prstGeom prst="roundRect">
            <a:avLst>
              <a:gd name="adj" fmla="val 8000"/>
            </a:avLst>
          </a:prstGeom>
          <a:solidFill>
            <a:srgbClr val="1D6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2953512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C2E"/>
                </a:solidFill>
                <a:latin typeface="Calibri"/>
              </a:defRPr>
            </a:pPr>
            <a:r>
              <a:t>Analytics Builder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191256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B6B7C"/>
                </a:solidFill>
                <a:latin typeface="Calibri"/>
              </a:defRPr>
            </a:pPr>
            <a:r>
              <a:t>Compose executive charts, KPI cards, and drill-downs across region, dealer, and model views.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931920"/>
            <a:ext cx="256032" cy="256032"/>
          </a:xfrm>
          <a:prstGeom prst="roundRect">
            <a:avLst>
              <a:gd name="adj" fmla="val 8000"/>
            </a:avLst>
          </a:prstGeom>
          <a:solidFill>
            <a:srgbClr val="1D6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3913632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C2E"/>
                </a:solidFill>
                <a:latin typeface="Calibri"/>
              </a:defRPr>
            </a:pPr>
            <a:r>
              <a:t>Role-based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151376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B6B7C"/>
                </a:solidFill>
                <a:latin typeface="Calibri"/>
              </a:defRPr>
            </a:pPr>
            <a:r>
              <a:t>Granular RBAC enforces user scopes, team visibility, and admin-only controls.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892040"/>
            <a:ext cx="256032" cy="256032"/>
          </a:xfrm>
          <a:prstGeom prst="roundRect">
            <a:avLst>
              <a:gd name="adj" fmla="val 8000"/>
            </a:avLst>
          </a:prstGeom>
          <a:solidFill>
            <a:srgbClr val="1D6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4873752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C2E"/>
                </a:solidFill>
                <a:latin typeface="Calibri"/>
              </a:defRPr>
            </a:pPr>
            <a:r>
              <a:t>Admin audit &amp; governance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5111496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B6B7C"/>
                </a:solidFill>
                <a:latin typeface="Calibri"/>
              </a:defRPr>
            </a:pPr>
            <a:r>
              <a:t>Queries, changes, and user activity are tracked for compliance and operational review.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051560"/>
            <a:ext cx="256032" cy="256032"/>
          </a:xfrm>
          <a:prstGeom prst="roundRect">
            <a:avLst>
              <a:gd name="adj" fmla="val 8000"/>
            </a:avLst>
          </a:prstGeom>
          <a:solidFill>
            <a:srgbClr val="0D9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65392" y="103327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C2E"/>
                </a:solidFill>
                <a:latin typeface="Calibri"/>
              </a:defRPr>
            </a:pPr>
            <a:r>
              <a:t>Follow-up memory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1271016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B6B7C"/>
                </a:solidFill>
                <a:latin typeface="Calibri"/>
              </a:defRPr>
            </a:pPr>
            <a:r>
              <a:t>Prior SQL preserved so ‘only Mumbai’ revises the last successful query.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011680"/>
            <a:ext cx="256032" cy="256032"/>
          </a:xfrm>
          <a:prstGeom prst="roundRect">
            <a:avLst>
              <a:gd name="adj" fmla="val 8000"/>
            </a:avLst>
          </a:prstGeom>
          <a:solidFill>
            <a:srgbClr val="0D9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65392" y="199339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C2E"/>
                </a:solidFill>
                <a:latin typeface="Calibri"/>
              </a:defRPr>
            </a:pPr>
            <a:r>
              <a:t>SQL guardrails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2231136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B6B7C"/>
                </a:solidFill>
                <a:latin typeface="Calibri"/>
              </a:defRPr>
            </a:pPr>
            <a:r>
              <a:t>SELECT-only · read-only txn · statement timeout · hard row LIMIT.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971800"/>
            <a:ext cx="256032" cy="256032"/>
          </a:xfrm>
          <a:prstGeom prst="roundRect">
            <a:avLst>
              <a:gd name="adj" fmla="val 8000"/>
            </a:avLst>
          </a:prstGeom>
          <a:solidFill>
            <a:srgbClr val="0D9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65392" y="295351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C2E"/>
                </a:solidFill>
                <a:latin typeface="Calibri"/>
              </a:defRPr>
            </a:pPr>
            <a:r>
              <a:t>Executive Intelligence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5392" y="3191256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B6B7C"/>
                </a:solidFill>
                <a:latin typeface="Calibri"/>
              </a:defRPr>
            </a:pPr>
            <a:r>
              <a:t>8 KPI cards, performance charts, India region → dealer → model map.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931920"/>
            <a:ext cx="256032" cy="256032"/>
          </a:xfrm>
          <a:prstGeom prst="roundRect">
            <a:avLst>
              <a:gd name="adj" fmla="val 8000"/>
            </a:avLst>
          </a:prstGeom>
          <a:solidFill>
            <a:srgbClr val="0D9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65392" y="391363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C2E"/>
                </a:solidFill>
                <a:latin typeface="Calibri"/>
              </a:defRPr>
            </a:pPr>
            <a:r>
              <a:t>LLM observability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5392" y="4151376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B6B7C"/>
                </a:solidFill>
                <a:latin typeface="Calibri"/>
              </a:defRPr>
            </a:pPr>
            <a:r>
              <a:t>Trace prompts, latency, token cost, and model quality with pipeline transparency.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892040"/>
            <a:ext cx="256032" cy="256032"/>
          </a:xfrm>
          <a:prstGeom prst="roundRect">
            <a:avLst>
              <a:gd name="adj" fmla="val 8000"/>
            </a:avLst>
          </a:prstGeom>
          <a:solidFill>
            <a:srgbClr val="0D9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65392" y="487375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C2E"/>
                </a:solidFill>
                <a:latin typeface="Calibri"/>
              </a:defRPr>
            </a:pPr>
            <a:r>
              <a:t>Configurable LLM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65392" y="5111496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B6B7C"/>
                </a:solidFill>
                <a:latin typeface="Calibri"/>
              </a:defRPr>
            </a:pPr>
            <a:r>
              <a:t>Switch providers/models with cost controls, routing policies, and production guardrails.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6446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B6B7C"/>
                </a:solidFill>
                <a:latin typeface="Calibri"/>
              </a:defRPr>
            </a:pPr>
            <a:r>
              <a:t>Ask DB · Capgemini AI Data Platform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0" y="64465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B6B7C"/>
                </a:solidFill>
                <a:latin typeface="Calibri"/>
              </a:defRPr>
            </a:pPr>
            <a:r>
              <a:t>Company Confidential © Capgemini 2026. All rights reserved.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D6FE8"/>
                </a:solidFill>
                <a:latin typeface="Calibri"/>
              </a:defRPr>
            </a:pPr>
            <a:r>
              <a:t>Major product components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188720"/>
            <a:ext cx="27889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11480" y="1188720"/>
            <a:ext cx="2788920" cy="91440"/>
          </a:xfrm>
          <a:prstGeom prst="roundRect">
            <a:avLst>
              <a:gd name="adj" fmla="val 8000"/>
            </a:avLst>
          </a:prstGeom>
          <a:solidFill>
            <a:srgbClr val="1D6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50876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C2E"/>
                </a:solidFill>
                <a:latin typeface="Calibri"/>
              </a:defRPr>
            </a:pPr>
            <a:r>
              <a:t>Home / Hero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9456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B6B7C"/>
                </a:solidFill>
                <a:latin typeface="Calibri"/>
              </a:defRPr>
            </a:pPr>
            <a:r>
              <a:t>Ask DB branding, live demo loop, connected sources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188720"/>
            <a:ext cx="27889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337560" y="1188720"/>
            <a:ext cx="2788920" cy="91440"/>
          </a:xfrm>
          <a:prstGeom prst="roundRect">
            <a:avLst>
              <a:gd name="adj" fmla="val 8000"/>
            </a:avLst>
          </a:prstGeom>
          <a:solidFill>
            <a:srgbClr val="0D9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20440" y="150876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C2E"/>
                </a:solidFill>
                <a:latin typeface="Calibri"/>
              </a:defRPr>
            </a:pPr>
            <a:r>
              <a:t>AI Chat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19456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B6B7C"/>
                </a:solidFill>
                <a:latin typeface="Calibri"/>
              </a:defRPr>
            </a:pPr>
            <a:r>
              <a:t>SSE progress, Table/Chart/SQL, sticky layout, follow-up memory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188720"/>
            <a:ext cx="27889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63640" y="1188720"/>
            <a:ext cx="2788920" cy="91440"/>
          </a:xfrm>
          <a:prstGeom prst="roundRect">
            <a:avLst>
              <a:gd name="adj" fmla="val 8000"/>
            </a:avLst>
          </a:prstGeom>
          <a:solidFill>
            <a:srgbClr val="1D6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50876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C2E"/>
                </a:solidFill>
                <a:latin typeface="Calibri"/>
              </a:defRPr>
            </a:pPr>
            <a:r>
              <a:t>Executive 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19456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B6B7C"/>
                </a:solidFill>
                <a:latin typeface="Calibri"/>
              </a:defRPr>
            </a:pPr>
            <a:r>
              <a:t>KPIs, AI insights, performance analytics + map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20" y="1188720"/>
            <a:ext cx="27889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189720" y="1188720"/>
            <a:ext cx="2788920" cy="91440"/>
          </a:xfrm>
          <a:prstGeom prst="roundRect">
            <a:avLst>
              <a:gd name="adj" fmla="val 8000"/>
            </a:avLst>
          </a:prstGeom>
          <a:solidFill>
            <a:srgbClr val="0D9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72600" y="150876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C2E"/>
                </a:solidFill>
                <a:latin typeface="Calibri"/>
              </a:defRPr>
            </a:pPr>
            <a:r>
              <a:t>Data Trust Center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219456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B6B7C"/>
                </a:solidFill>
                <a:latin typeface="Calibri"/>
              </a:defRPr>
            </a:pPr>
            <a:r>
              <a:t>Overview + technical trust &amp; DQ operations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520440"/>
            <a:ext cx="27889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11480" y="3520440"/>
            <a:ext cx="2788920" cy="91440"/>
          </a:xfrm>
          <a:prstGeom prst="roundRect">
            <a:avLst>
              <a:gd name="adj" fmla="val 8000"/>
            </a:avLst>
          </a:prstGeom>
          <a:solidFill>
            <a:srgbClr val="1D6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384048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C2E"/>
                </a:solidFill>
                <a:latin typeface="Calibri"/>
              </a:defRPr>
            </a:pPr>
            <a:r>
              <a:t>Semantic Atlas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52628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B6B7C"/>
                </a:solidFill>
                <a:latin typeface="Calibri"/>
              </a:defRPr>
            </a:pPr>
            <a:r>
              <a:t>Knowledge graph · ontology · glossary · cardinality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3520440"/>
            <a:ext cx="27889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3337560" y="3520440"/>
            <a:ext cx="2788920" cy="91440"/>
          </a:xfrm>
          <a:prstGeom prst="roundRect">
            <a:avLst>
              <a:gd name="adj" fmla="val 8000"/>
            </a:avLst>
          </a:prstGeom>
          <a:solidFill>
            <a:srgbClr val="0D9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520440" y="384048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C2E"/>
                </a:solidFill>
                <a:latin typeface="Calibri"/>
              </a:defRPr>
            </a:pPr>
            <a:r>
              <a:t>Admin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452628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B6B7C"/>
                </a:solidFill>
                <a:latin typeface="Calibri"/>
              </a:defRPr>
            </a:pPr>
            <a:r>
              <a:t>Operational overview, user activity, live system health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520440"/>
            <a:ext cx="27889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263640" y="3520440"/>
            <a:ext cx="2788920" cy="91440"/>
          </a:xfrm>
          <a:prstGeom prst="roundRect">
            <a:avLst>
              <a:gd name="adj" fmla="val 8000"/>
            </a:avLst>
          </a:prstGeom>
          <a:solidFill>
            <a:srgbClr val="1D6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46520" y="384048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C2E"/>
                </a:solidFill>
                <a:latin typeface="Calibri"/>
              </a:defRPr>
            </a:pPr>
            <a:r>
              <a:t>Role-based Access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52628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B6B7C"/>
                </a:solidFill>
                <a:latin typeface="Calibri"/>
              </a:defRPr>
            </a:pPr>
            <a:r>
              <a:t>Regional, team, and admin-level governance controls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89720" y="3520440"/>
            <a:ext cx="27889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189720" y="3520440"/>
            <a:ext cx="2788920" cy="91440"/>
          </a:xfrm>
          <a:prstGeom prst="roundRect">
            <a:avLst>
              <a:gd name="adj" fmla="val 8000"/>
            </a:avLst>
          </a:prstGeom>
          <a:solidFill>
            <a:srgbClr val="0D9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372600" y="384048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C2E"/>
                </a:solidFill>
                <a:latin typeface="Calibri"/>
              </a:defRPr>
            </a:pPr>
            <a:r>
              <a:t>LLM Config + Audit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452628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B6B7C"/>
                </a:solidFill>
                <a:latin typeface="Calibri"/>
              </a:defRPr>
            </a:pPr>
            <a:r>
              <a:t>Model selection, cost monitoring, traceability, and query history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6446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B6B7C"/>
                </a:solidFill>
                <a:latin typeface="Calibri"/>
              </a:defRPr>
            </a:pPr>
            <a:r>
              <a:t>Ask DB · Capgemini AI Data Platform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0" y="64465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B6B7C"/>
                </a:solidFill>
                <a:latin typeface="Calibri"/>
              </a:defRPr>
            </a:pPr>
            <a:r>
              <a:t>Company Confidential © Capgemini 2026. All rights reserved.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D6FE8"/>
                </a:solidFill>
                <a:latin typeface="Calibri"/>
              </a:defRPr>
            </a:pPr>
            <a:r>
              <a:t>From Streamlit AskData → Ask DB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39496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309360" y="1188720"/>
            <a:ext cx="539496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25E00"/>
                </a:solidFill>
                <a:latin typeface="Calibri"/>
              </a:defRPr>
            </a:pPr>
            <a:r>
              <a:t>Legacy (Streamlit era)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F8F"/>
                </a:solidFill>
                <a:latin typeface="Calibri"/>
              </a:defRPr>
            </a:pPr>
            <a:r>
              <a:t>Ask DB (current)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B6B7C"/>
                </a:solidFill>
                <a:latin typeface="Calibri"/>
              </a:defRPr>
            </a:pPr>
            <a:r>
              <a:t>• Streamlit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B6B7C"/>
                </a:solidFill>
                <a:latin typeface="Calibri"/>
              </a:defRPr>
            </a:pPr>
            <a:r>
              <a:t>• DuckDB in-process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175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B6B7C"/>
                </a:solidFill>
                <a:latin typeface="Calibri"/>
              </a:defRPr>
            </a:pPr>
            <a:r>
              <a:t>• CSV / file-oriented demos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66159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B6B7C"/>
                </a:solidFill>
                <a:latin typeface="Calibri"/>
              </a:defRPr>
            </a:pPr>
            <a:r>
              <a:t>• Dark PPT-era framing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148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B6B7C"/>
                </a:solidFill>
                <a:latin typeface="Calibri"/>
              </a:defRPr>
            </a:pPr>
            <a:r>
              <a:t>• Monolithic notebook-style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B6B7C"/>
                </a:solidFill>
                <a:latin typeface="Calibri"/>
              </a:defRPr>
            </a:pPr>
            <a:r>
              <a:t>• Limited enterprise shell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9202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C2E"/>
                </a:solidFill>
                <a:latin typeface="Calibri"/>
              </a:defRPr>
            </a:pPr>
            <a:r>
              <a:t>• Next.js + Node.js product shell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4688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C2E"/>
                </a:solidFill>
                <a:latin typeface="Calibri"/>
              </a:defRPr>
            </a:pPr>
            <a:r>
              <a:t>• PostgreSQL analytics (RO pools)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0175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C2E"/>
                </a:solidFill>
                <a:latin typeface="Calibri"/>
              </a:defRPr>
            </a:pPr>
            <a:r>
              <a:t>• Semantic Atlas + knowledge graph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566159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C2E"/>
                </a:solidFill>
                <a:latin typeface="Calibri"/>
              </a:defRPr>
            </a:pPr>
            <a:r>
              <a:t>• Analytics Builder + EI dashboards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41148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C2E"/>
                </a:solidFill>
                <a:latin typeface="Calibri"/>
              </a:defRPr>
            </a:pPr>
            <a:r>
              <a:t>• Modular services + SSE NLQ + query history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46634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C2E"/>
                </a:solidFill>
                <a:latin typeface="Calibri"/>
              </a:defRPr>
            </a:pPr>
            <a:r>
              <a:t>• RBAC, admin audit, configurable LLM, observability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46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B6B7C"/>
                </a:solidFill>
                <a:latin typeface="Calibri"/>
              </a:defRPr>
            </a:pPr>
            <a:r>
              <a:t>Ask DB · Capgemini AI Data 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64465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B6B7C"/>
                </a:solidFill>
                <a:latin typeface="Calibri"/>
              </a:defRPr>
            </a:pPr>
            <a:r>
              <a:t>Company Confidential © Capgemini 2026. All rights reserved.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D6FE8"/>
                </a:solidFill>
                <a:latin typeface="Calibri"/>
              </a:defRPr>
            </a:pPr>
            <a:r>
              <a:t>Live demo / use cases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143000"/>
            <a:ext cx="557784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11480" y="1143000"/>
            <a:ext cx="73152" cy="2240280"/>
          </a:xfrm>
          <a:prstGeom prst="roundRect">
            <a:avLst>
              <a:gd name="adj" fmla="val 8000"/>
            </a:avLst>
          </a:prstGeom>
          <a:solidFill>
            <a:srgbClr val="1D6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12648" y="1252728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C2E"/>
                </a:solidFill>
                <a:latin typeface="Calibri"/>
              </a:defRPr>
            </a:pPr>
            <a:r>
              <a:t>Automotive NLQ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527048"/>
            <a:ext cx="5257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B6B7C"/>
                </a:solidFill>
                <a:latin typeface="Calibri"/>
              </a:defRPr>
            </a:pPr>
            <a:r>
              <a:t>• Top SUV dealers in Mumbai</a:t>
            </a:r>
          </a:p>
          <a:p>
            <a:pPr>
              <a:spcAft>
                <a:spcPts val="400"/>
              </a:spcAft>
              <a:defRPr sz="1100">
                <a:solidFill>
                  <a:srgbClr val="5B6B7C"/>
                </a:solidFill>
                <a:latin typeface="Calibri"/>
              </a:defRPr>
            </a:pPr>
            <a:r>
              <a:t>• Revenue by month</a:t>
            </a:r>
          </a:p>
          <a:p>
            <a:pPr>
              <a:spcAft>
                <a:spcPts val="400"/>
              </a:spcAft>
              <a:defRPr sz="1100">
                <a:solidFill>
                  <a:srgbClr val="5B6B7C"/>
                </a:solidFill>
                <a:latin typeface="Calibri"/>
              </a:defRPr>
            </a:pPr>
            <a:r>
              <a:t>• Lowest body-style performers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143000"/>
            <a:ext cx="557784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63640" y="1143000"/>
            <a:ext cx="73152" cy="2240280"/>
          </a:xfrm>
          <a:prstGeom prst="roundRect">
            <a:avLst>
              <a:gd name="adj" fmla="val 8000"/>
            </a:avLst>
          </a:prstGeom>
          <a:solidFill>
            <a:srgbClr val="0D9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64808" y="1252728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C2E"/>
                </a:solidFill>
                <a:latin typeface="Calibri"/>
              </a:defRPr>
            </a:pPr>
            <a:r>
              <a:t>Insurance NLQ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4808" y="1527048"/>
            <a:ext cx="5257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B6B7C"/>
                </a:solidFill>
                <a:latin typeface="Calibri"/>
              </a:defRPr>
            </a:pPr>
            <a:r>
              <a:t>• Loss ratio by product</a:t>
            </a:r>
          </a:p>
          <a:p>
            <a:pPr>
              <a:spcAft>
                <a:spcPts val="400"/>
              </a:spcAft>
              <a:defRPr sz="1100">
                <a:solidFill>
                  <a:srgbClr val="5B6B7C"/>
                </a:solidFill>
                <a:latin typeface="Calibri"/>
              </a:defRPr>
            </a:pPr>
            <a:r>
              <a:t>• Claims by status</a:t>
            </a:r>
          </a:p>
          <a:p>
            <a:pPr>
              <a:spcAft>
                <a:spcPts val="400"/>
              </a:spcAft>
              <a:defRPr sz="1100">
                <a:solidFill>
                  <a:srgbClr val="5B6B7C"/>
                </a:solidFill>
                <a:latin typeface="Calibri"/>
              </a:defRPr>
            </a:pPr>
            <a:r>
              <a:t>• Renewal / severity views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3611880"/>
            <a:ext cx="557784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11480" y="3611880"/>
            <a:ext cx="73152" cy="2240280"/>
          </a:xfrm>
          <a:prstGeom prst="roundRect">
            <a:avLst>
              <a:gd name="adj" fmla="val 8000"/>
            </a:avLst>
          </a:prstGeom>
          <a:solidFill>
            <a:srgbClr val="1D6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648" y="3721608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C2E"/>
                </a:solidFill>
                <a:latin typeface="Calibri"/>
              </a:defRPr>
            </a:pPr>
            <a:r>
              <a:t>Executive room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3995928"/>
            <a:ext cx="5257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B6B7C"/>
                </a:solidFill>
                <a:latin typeface="Calibri"/>
              </a:defRPr>
            </a:pPr>
            <a:r>
              <a:t>• 8 KPI grid</a:t>
            </a:r>
          </a:p>
          <a:p>
            <a:pPr>
              <a:spcAft>
                <a:spcPts val="400"/>
              </a:spcAft>
              <a:defRPr sz="1100">
                <a:solidFill>
                  <a:srgbClr val="5B6B7C"/>
                </a:solidFill>
                <a:latin typeface="Calibri"/>
              </a:defRPr>
            </a:pPr>
            <a:r>
              <a:t>• Performance charts with axes</a:t>
            </a:r>
          </a:p>
          <a:p>
            <a:pPr>
              <a:spcAft>
                <a:spcPts val="400"/>
              </a:spcAft>
              <a:defRPr sz="1100">
                <a:solidFill>
                  <a:srgbClr val="5B6B7C"/>
                </a:solidFill>
                <a:latin typeface="Calibri"/>
              </a:defRPr>
            </a:pPr>
            <a:r>
              <a:t>• Region → dealer → model map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611880"/>
            <a:ext cx="557784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63640" y="3611880"/>
            <a:ext cx="73152" cy="2240280"/>
          </a:xfrm>
          <a:prstGeom prst="roundRect">
            <a:avLst>
              <a:gd name="adj" fmla="val 8000"/>
            </a:avLst>
          </a:prstGeom>
          <a:solidFill>
            <a:srgbClr val="0D9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64808" y="3721608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C2E"/>
                </a:solidFill>
                <a:latin typeface="Calibri"/>
              </a:defRPr>
            </a:pPr>
            <a:r>
              <a:t>Trust &amp; governance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8" y="3995928"/>
            <a:ext cx="5257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B6B7C"/>
                </a:solidFill>
                <a:latin typeface="Calibri"/>
              </a:defRPr>
            </a:pPr>
            <a:r>
              <a:t>• Trust score hero</a:t>
            </a:r>
          </a:p>
          <a:p>
            <a:pPr>
              <a:spcAft>
                <a:spcPts val="400"/>
              </a:spcAft>
              <a:defRPr sz="1100">
                <a:solidFill>
                  <a:srgbClr val="5B6B7C"/>
                </a:solidFill>
                <a:latin typeface="Calibri"/>
              </a:defRPr>
            </a:pPr>
            <a:r>
              <a:t>• Incidents &amp; dataset health</a:t>
            </a:r>
          </a:p>
          <a:p>
            <a:pPr>
              <a:spcAft>
                <a:spcPts val="400"/>
              </a:spcAft>
              <a:defRPr sz="1100">
                <a:solidFill>
                  <a:srgbClr val="5B6B7C"/>
                </a:solidFill>
                <a:latin typeface="Calibri"/>
              </a:defRPr>
            </a:pPr>
            <a:r>
              <a:t>• No bare confidence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46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B6B7C"/>
                </a:solidFill>
                <a:latin typeface="Calibri"/>
              </a:defRPr>
            </a:pPr>
            <a:r>
              <a:t>Ask DB · Capgemini AI Data 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64465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B6B7C"/>
                </a:solidFill>
                <a:latin typeface="Calibri"/>
              </a:defRPr>
            </a:pPr>
            <a:r>
              <a:t>Company Confidential © Capgemini 2026. All rights reserved.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D6FE8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1124712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2103120" cy="658368"/>
          </a:xfrm>
          <a:prstGeom prst="roundRect">
            <a:avLst>
              <a:gd name="adj" fmla="val 8000"/>
            </a:avLst>
          </a:prstGeom>
          <a:solidFill>
            <a:srgbClr val="1D6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28016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C2E"/>
                </a:solidFill>
                <a:latin typeface="Calibri"/>
              </a:defRPr>
            </a:pPr>
            <a:r>
              <a:t>Next.js + Node.js · React · Tailwind · TanStack Query · Zustand · React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74520"/>
            <a:ext cx="1124712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1874520"/>
            <a:ext cx="2103120" cy="658368"/>
          </a:xfrm>
          <a:prstGeom prst="roundRect">
            <a:avLst>
              <a:gd name="adj" fmla="val 8000"/>
            </a:avLst>
          </a:prstGeom>
          <a:solidFill>
            <a:srgbClr val="0D9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0574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C2E"/>
                </a:solidFill>
                <a:latin typeface="Calibri"/>
              </a:defRPr>
            </a:pPr>
            <a:r>
              <a:t>FastAPI · Pydantic v2 · SQLAlchemy 2 · SSE streaming · JWT / RBAC auth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51760"/>
            <a:ext cx="1124712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7200" y="2651760"/>
            <a:ext cx="2103120" cy="658368"/>
          </a:xfrm>
          <a:prstGeom prst="roundRect">
            <a:avLst>
              <a:gd name="adj" fmla="val 8000"/>
            </a:avLst>
          </a:prstGeom>
          <a:solidFill>
            <a:srgbClr val="1D6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834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8346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C2E"/>
                </a:solidFill>
                <a:latin typeface="Calibri"/>
              </a:defRPr>
            </a:pPr>
            <a:r>
              <a:t>PostgreSQL (app + automotive + insurance) · read-only analytics pools · query history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429000"/>
            <a:ext cx="1124712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57200" y="3429000"/>
            <a:ext cx="2103120" cy="658368"/>
          </a:xfrm>
          <a:prstGeom prst="roundRect">
            <a:avLst>
              <a:gd name="adj" fmla="val 8000"/>
            </a:avLst>
          </a:prstGeom>
          <a:solidFill>
            <a:srgbClr val="0D9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3611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Semantic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6118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C2E"/>
                </a:solidFill>
                <a:latin typeface="Calibri"/>
              </a:defRPr>
            </a:pPr>
            <a:r>
              <a:t>Semantic Atlas · YAML packs · glossary · ontology compiler · value dictionary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206240"/>
            <a:ext cx="1124712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57200" y="4206240"/>
            <a:ext cx="2103120" cy="658368"/>
          </a:xfrm>
          <a:prstGeom prst="roundRect">
            <a:avLst>
              <a:gd name="adj" fmla="val 8000"/>
            </a:avLst>
          </a:prstGeom>
          <a:solidFill>
            <a:srgbClr val="1D6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4389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3891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C2E"/>
                </a:solidFill>
                <a:latin typeface="Calibri"/>
              </a:defRPr>
            </a:pPr>
            <a:r>
              <a:t>Configurable LLM gateway · Capgemini LLM API · model fallback · observability · cost controls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983480"/>
            <a:ext cx="1124712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57200" y="4983480"/>
            <a:ext cx="2103120" cy="658368"/>
          </a:xfrm>
          <a:prstGeom prst="roundRect">
            <a:avLst>
              <a:gd name="adj" fmla="val 8000"/>
            </a:avLst>
          </a:prstGeom>
          <a:solidFill>
            <a:srgbClr val="0D9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5166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516636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C2E"/>
                </a:solidFill>
                <a:latin typeface="Calibri"/>
              </a:defRPr>
            </a:pPr>
            <a:r>
              <a:t>Docker · health/readiness · admin dashboard · audit logs · governance controls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46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B6B7C"/>
                </a:solidFill>
                <a:latin typeface="Calibri"/>
              </a:defRPr>
            </a:pPr>
            <a:r>
              <a:t>Ask DB · Capgemini AI Data Platform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64465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B6B7C"/>
                </a:solidFill>
                <a:latin typeface="Calibri"/>
              </a:defRPr>
            </a:pPr>
            <a:r>
              <a:t>Company Confidential © Capgemini 2026. All rights reserved.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D6FE8"/>
                </a:solidFill>
                <a:latin typeface="Calibri"/>
              </a:defRPr>
            </a:pPr>
            <a:r>
              <a:t>Future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463040"/>
            <a:ext cx="278892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11480" y="1463040"/>
            <a:ext cx="2788920" cy="640080"/>
          </a:xfrm>
          <a:prstGeom prst="roundRect">
            <a:avLst>
              <a:gd name="adj" fmla="val 8000"/>
            </a:avLst>
          </a:prstGeom>
          <a:solidFill>
            <a:srgbClr val="1D6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2331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C2E"/>
                </a:solidFill>
                <a:latin typeface="Calibri"/>
              </a:defRPr>
            </a:pPr>
            <a:r>
              <a:t>Stabilize NLQ accuracy · EI dashboards · Trust · Ask DB brand polish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463040"/>
            <a:ext cx="278892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337560" y="1463040"/>
            <a:ext cx="2788920" cy="640080"/>
          </a:xfrm>
          <a:prstGeom prst="roundRect">
            <a:avLst>
              <a:gd name="adj" fmla="val 8000"/>
            </a:avLst>
          </a:prstGeom>
          <a:solidFill>
            <a:srgbClr val="1D6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20440" y="16002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Next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468880"/>
            <a:ext cx="2331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C2E"/>
                </a:solidFill>
                <a:latin typeface="Calibri"/>
              </a:defRPr>
            </a:pPr>
            <a:r>
              <a:t>RBAC refinement · admin audit completion · query-history replay · richer chart packs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63040"/>
            <a:ext cx="278892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63640" y="1463040"/>
            <a:ext cx="2788920" cy="640080"/>
          </a:xfrm>
          <a:prstGeom prst="roundRect">
            <a:avLst>
              <a:gd name="adj" fmla="val 8000"/>
            </a:avLst>
          </a:prstGeom>
          <a:solidFill>
            <a:srgbClr val="0D9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6002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Later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68880"/>
            <a:ext cx="2331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C2E"/>
                </a:solidFill>
                <a:latin typeface="Calibri"/>
              </a:defRPr>
            </a:pPr>
            <a:r>
              <a:t>What-if analysis · forecasting · semantic graph expansion · reusable analytics builder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20" y="1463040"/>
            <a:ext cx="278892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189720" y="1463040"/>
            <a:ext cx="2788920" cy="640080"/>
          </a:xfrm>
          <a:prstGeom prst="roundRect">
            <a:avLst>
              <a:gd name="adj" fmla="val 8000"/>
            </a:avLst>
          </a:prstGeom>
          <a:solidFill>
            <a:srgbClr val="0D9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72600" y="16002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468880"/>
            <a:ext cx="2331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C2E"/>
                </a:solidFill>
                <a:latin typeface="Calibri"/>
              </a:defRPr>
            </a:pPr>
            <a:r>
              <a:t>Multi-tenant packs · configurable-model governance · warehouse connectors · production LLM budgets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46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B6B7C"/>
                </a:solidFill>
                <a:latin typeface="Calibri"/>
              </a:defRPr>
            </a:pPr>
            <a:r>
              <a:t>Ask DB · Capgemini AI Data 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64465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B6B7C"/>
                </a:solidFill>
                <a:latin typeface="Calibri"/>
              </a:defRPr>
            </a:pPr>
            <a:r>
              <a:t>Company Confidential © Capgemini 2026. All rights reserved.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64592" cy="6858000"/>
          </a:xfrm>
          <a:prstGeom prst="roundRect">
            <a:avLst>
              <a:gd name="adj" fmla="val 8000"/>
            </a:avLst>
          </a:prstGeom>
          <a:solidFill>
            <a:srgbClr val="1D6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64592" y="0"/>
            <a:ext cx="73152" cy="6858000"/>
          </a:xfrm>
          <a:prstGeom prst="roundRect">
            <a:avLst>
              <a:gd name="adj" fmla="val 8000"/>
            </a:avLst>
          </a:prstGeom>
          <a:solidFill>
            <a:srgbClr val="0D9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D6FE8"/>
                </a:solidFill>
                <a:latin typeface="Calibri"/>
              </a:rPr>
              <a:t>Ask</a:t>
            </a:r>
            <a:r>
              <a:rPr sz="4400" b="1">
                <a:solidFill>
                  <a:srgbClr val="0D9F8F"/>
                </a:solidFill>
                <a:latin typeface="Calibri"/>
              </a:rPr>
              <a:t> 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5B6B7C"/>
                </a:solidFill>
                <a:latin typeface="Calibri"/>
              </a:defRPr>
            </a:pPr>
            <a:r>
              <a:t>Ready for leadership walkthrough &amp; 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C2E"/>
                </a:solidFill>
                <a:latin typeface="Calibri"/>
              </a:defRPr>
            </a:pPr>
            <a:r>
              <a:t>Ask a question in Chat · review Executive Intelligence · open Data Trust · browse Semantic Atlas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B6B7C"/>
                </a:solidFill>
                <a:latin typeface="Calibri"/>
              </a:defRPr>
            </a:pPr>
            <a:r>
              <a:t>Ask DB · Capgemini AI Data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64465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B6B7C"/>
                </a:solidFill>
                <a:latin typeface="Calibri"/>
              </a:defRPr>
            </a:pPr>
            <a:r>
              <a:t>Company Confidential © Capgemini 2026. All rights reserved. 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1629</Words>
  <Application>Microsoft Office PowerPoint</Application>
  <PresentationFormat>Widescreen</PresentationFormat>
  <Paragraphs>278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KONDHALKAR, RAHUL</cp:lastModifiedBy>
  <cp:revision>1</cp:revision>
  <dcterms:created xsi:type="dcterms:W3CDTF">2013-01-27T09:14:16Z</dcterms:created>
  <dcterms:modified xsi:type="dcterms:W3CDTF">2026-10-13T10:43:38Z</dcterms:modified>
  <cp:category/>
</cp:coreProperties>
</file>