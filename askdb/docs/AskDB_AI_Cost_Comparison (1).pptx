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A9BCD6"/>
                </a:solidFill>
                <a:latin typeface="Segoe UI"/>
              </a:rPr>
              <a:t>Monthly AI cost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AI cost (USD)</c:v>
                </c:pt>
              </c:strCache>
            </c:strRef>
          </c:tx>
          <c:dPt>
            <c:idx val="0"/>
            <c:spPr>
              <a:solidFill>
                <a:srgbClr val="3B82F6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GPT-5 mini</c:v>
                </c:pt>
                <c:pt idx="1">
                  <c:v>GPT-5 High</c:v>
                </c:pt>
                <c:pt idx="2">
                  <c:v>Hybrid 80/20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297</c:v>
                </c:pt>
                <c:pt idx="1">
                  <c:v>1485</c:v>
                </c:pt>
                <c:pt idx="2">
                  <c:v>535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A9BCD6"/>
                </a:solidFill>
                <a:latin typeface="Segoe UI"/>
              </a:rPr>
              <a:t>Monthly cost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AI cost (USD)</c:v>
                </c:pt>
              </c:strCache>
            </c:strRef>
          </c:tx>
          <c:dPt>
            <c:idx val="0"/>
            <c:spPr>
              <a:solidFill>
                <a:srgbClr val="22D3EE"/>
              </a:solidFill>
            </c:spPr>
          </c:dPt>
          <c:dPt>
            <c:idx val="1"/>
            <c:spPr>
              <a:solidFill>
                <a:srgbClr val="22D3EE"/>
              </a:solidFill>
            </c:spPr>
          </c:dPt>
          <c:dPt>
            <c:idx val="2"/>
            <c:spPr>
              <a:solidFill>
                <a:srgbClr val="3B82F6"/>
              </a:solidFill>
            </c:spPr>
          </c:dPt>
          <c:dPt>
            <c:idx val="3"/>
            <c:spPr>
              <a:solidFill>
                <a:srgbClr val="3B82F6"/>
              </a:solidFill>
            </c:spPr>
          </c:dPt>
          <c:cat>
            <c:strRef>
              <c:f>Sheet1!$A$2:$A$5</c:f>
              <c:strCache>
                <c:ptCount val="4"/>
                <c:pt idx="0">
                  <c:v>AskDB AI cost</c:v>
                </c:pt>
                <c:pt idx="1">
                  <c:v>AskDB total (max)</c:v>
                </c:pt>
                <c:pt idx="2">
                  <c:v>Power BI F2 + Pro</c:v>
                </c:pt>
                <c:pt idx="3">
                  <c:v>Power BI F64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535</c:v>
                </c:pt>
                <c:pt idx="1">
                  <c:v>1500</c:v>
                </c:pt>
                <c:pt idx="2">
                  <c:v>1663</c:v>
                </c:pt>
                <c:pt idx="3">
                  <c:v>8410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600" b="1">
                  <a:solidFill>
                    <a:srgbClr val="FFFFFF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640080" y="128016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AskDB — AI-Powered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Segoe UI"/>
              </a:rPr>
              <a:t>AI Model Cost Comparison  |  100 Users</a:t>
            </a:r>
          </a:p>
        </p:txBody>
      </p:sp>
      <p:sp>
        <p:nvSpPr>
          <p:cNvPr id="5" name="KPI registered users"/>
          <p:cNvSpPr/>
          <p:nvPr/>
        </p:nvSpPr>
        <p:spPr>
          <a:xfrm>
            <a:off x="640080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931920"/>
            <a:ext cx="64008" cy="11887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registered users</a:t>
            </a:r>
          </a:p>
        </p:txBody>
      </p:sp>
      <p:sp>
        <p:nvSpPr>
          <p:cNvPr id="9" name="KPI active users assumed"/>
          <p:cNvSpPr/>
          <p:nvPr/>
        </p:nvSpPr>
        <p:spPr>
          <a:xfrm>
            <a:off x="4399178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7778" y="3931920"/>
            <a:ext cx="64008" cy="11887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098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active users assumed</a:t>
            </a:r>
          </a:p>
        </p:txBody>
      </p:sp>
      <p:sp>
        <p:nvSpPr>
          <p:cNvPr id="13" name="KPI questions / month"/>
          <p:cNvSpPr/>
          <p:nvPr/>
        </p:nvSpPr>
        <p:spPr>
          <a:xfrm>
            <a:off x="8158276" y="3657600"/>
            <a:ext cx="3393338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6876" y="3931920"/>
            <a:ext cx="64008" cy="118871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1196" y="3886200"/>
            <a:ext cx="266181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19,800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4734763"/>
            <a:ext cx="266181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questions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D6"/>
                </a:solidFill>
                <a:latin typeface="Segoe UI"/>
              </a:rPr>
              <a:t>Estimated AI API costs, excluding hosting and engineering.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MODEL STRATEGY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Monthly and Annual AI Costs</a:t>
            </a:r>
          </a:p>
        </p:txBody>
      </p:sp>
      <p:graphicFrame>
        <p:nvGraphicFramePr>
          <p:cNvPr id="5" name="Monthly cost chart"/>
          <p:cNvGraphicFramePr>
            <a:graphicFrameLocks noGrp="1"/>
          </p:cNvGraphicFramePr>
          <p:nvPr/>
        </p:nvGraphicFramePr>
        <p:xfrm>
          <a:off x="640080" y="1920240"/>
          <a:ext cx="51206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ption GPT-5 mini (Small)"/>
          <p:cNvSpPr/>
          <p:nvPr/>
        </p:nvSpPr>
        <p:spPr>
          <a:xfrm>
            <a:off x="6126480" y="192024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Segoe UI"/>
              </a:rPr>
              <a:t>GPT-5 mini (Small)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5740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5603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10312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A9BCD6"/>
                </a:solidFill>
                <a:latin typeface="Segoe UI"/>
              </a:rPr>
              <a:t>$3,564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560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2" name="Option GPT-5 High"/>
          <p:cNvSpPr/>
          <p:nvPr/>
        </p:nvSpPr>
        <p:spPr>
          <a:xfrm>
            <a:off x="6126480" y="310896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Segoe UI"/>
              </a:rPr>
              <a:t>GPT-5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24612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$1,485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74904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29184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A9BCD6"/>
                </a:solidFill>
                <a:latin typeface="Segoe UI"/>
              </a:rPr>
              <a:t>$17,820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749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8" name="Option Hybrid (80% Small, 20% High)"/>
          <p:cNvSpPr/>
          <p:nvPr/>
        </p:nvSpPr>
        <p:spPr>
          <a:xfrm>
            <a:off x="6126480" y="4297680"/>
            <a:ext cx="54251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89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22D3EE"/>
                </a:solidFill>
                <a:latin typeface="Segoe UI"/>
              </a:rPr>
              <a:t>Hybrid (80% Small, 20% High)</a:t>
            </a:r>
          </a:p>
          <a:p>
            <a:pPr algn="r"/>
            <a:r>
              <a:rPr sz="1400" b="1">
                <a:solidFill>
                  <a:srgbClr val="22D3EE"/>
                </a:solidFill>
                <a:latin typeface="Segoe UI"/>
              </a:rPr>
              <a:t>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434840"/>
            <a:ext cx="1325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Segoe UI"/>
              </a:rPr>
              <a:t>$535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93776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480560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22D3EE"/>
                </a:solidFill>
                <a:latin typeface="Segoe UI"/>
              </a:rPr>
              <a:t>$6,420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9377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CD6"/>
                </a:solidFill>
                <a:latin typeface="Segoe UI"/>
              </a:rPr>
              <a:t>Assumptions: 60 active users × ~330 questions = 19,800 questions/month, about $0.015 per question (Small) and $0.075 (High). Hybrid = 80% Small + 20% High, rounded to $535/month ($6,420/year). Illustrative estimates, not live quotes; verify current model IDs, availability and pricing before presenting.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PLANNING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Recommended Budget</a:t>
            </a:r>
          </a:p>
        </p:txBody>
      </p:sp>
      <p:sp>
        <p:nvSpPr>
          <p:cNvPr id="5" name="KPI Hybrid AI cost per month"/>
          <p:cNvSpPr/>
          <p:nvPr/>
        </p:nvSpPr>
        <p:spPr>
          <a:xfrm>
            <a:off x="640080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77439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~$535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Hybrid AI cost per month</a:t>
            </a:r>
          </a:p>
        </p:txBody>
      </p:sp>
      <p:sp>
        <p:nvSpPr>
          <p:cNvPr id="9" name="KPI Hybrid AI cost per year"/>
          <p:cNvSpPr/>
          <p:nvPr/>
        </p:nvSpPr>
        <p:spPr>
          <a:xfrm>
            <a:off x="4399178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27778" y="2377439"/>
            <a:ext cx="64008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2098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~$6,420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2098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Hybrid AI cost per year</a:t>
            </a:r>
          </a:p>
        </p:txBody>
      </p:sp>
      <p:sp>
        <p:nvSpPr>
          <p:cNvPr id="13" name="KPI Total app operating budget / month"/>
          <p:cNvSpPr/>
          <p:nvPr/>
        </p:nvSpPr>
        <p:spPr>
          <a:xfrm>
            <a:off x="8158276" y="2103120"/>
            <a:ext cx="3393338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6876" y="2377439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1196" y="2331720"/>
            <a:ext cx="266181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$500–$1,500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196" y="3293668"/>
            <a:ext cx="2661818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A9BCD6"/>
                </a:solidFill>
                <a:latin typeface="Segoe UI"/>
              </a:rPr>
              <a:t>Total app operating budget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1196" y="4114800"/>
            <a:ext cx="26618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BCD6"/>
                </a:solidFill>
                <a:latin typeface="Segoe UI"/>
              </a:rPr>
              <a:t>Includes basic hosting, database, monitoring and contingency.</a:t>
            </a:r>
          </a:p>
        </p:txBody>
      </p:sp>
      <p:sp>
        <p:nvSpPr>
          <p:cNvPr id="18" name="Budget note"/>
          <p:cNvSpPr/>
          <p:nvPr/>
        </p:nvSpPr>
        <p:spPr>
          <a:xfrm>
            <a:off x="640080" y="4709160"/>
            <a:ext cx="10911535" cy="11430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800600"/>
            <a:ext cx="1027145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The total application budget is an independent planning estimate. Reconcile it with the AI costs, the infrastructure plan and actual vendor quotations. Excludes engineering salaries and enterprise-grade infrastructure.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100 USERS | MONTHLY COST,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AskDB vs Power BI with Copilot</a:t>
            </a:r>
          </a:p>
        </p:txBody>
      </p:sp>
      <p:graphicFrame>
        <p:nvGraphicFramePr>
          <p:cNvPr id="5" name="Monthly cost chart"/>
          <p:cNvGraphicFramePr>
            <a:graphicFrameLocks noGrp="1"/>
          </p:cNvGraphicFramePr>
          <p:nvPr/>
        </p:nvGraphicFramePr>
        <p:xfrm>
          <a:off x="640080" y="1920240"/>
          <a:ext cx="5486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ompare AskDB (Hybrid)"/>
          <p:cNvSpPr/>
          <p:nvPr/>
        </p:nvSpPr>
        <p:spPr>
          <a:xfrm>
            <a:off x="6355080" y="1920240"/>
            <a:ext cx="51965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 w="285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11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2D3EE"/>
                </a:solidFill>
                <a:latin typeface="Segoe UI"/>
              </a:rPr>
              <a:t>AskDB (Hybrid)</a:t>
            </a:r>
          </a:p>
          <a:p>
            <a:pPr algn="r"/>
            <a:r>
              <a:rPr sz="1200" b="1">
                <a:solidFill>
                  <a:srgbClr val="22D3EE"/>
                </a:solidFill>
                <a:latin typeface="Segoe UI"/>
              </a:rPr>
              <a:t>AI API cost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0574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Segoe UI"/>
              </a:rPr>
              <a:t>$535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560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2103120"/>
            <a:ext cx="1280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22D3EE"/>
                </a:solidFill>
                <a:latin typeface="Segoe UI"/>
              </a:rPr>
              <a:t>$6,420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25603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2" name="Compare Power BI F2 + 100 Pro"/>
          <p:cNvSpPr/>
          <p:nvPr/>
        </p:nvSpPr>
        <p:spPr>
          <a:xfrm>
            <a:off x="6355080" y="3108960"/>
            <a:ext cx="51965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2004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Power BI F2 + 100 Pro</a:t>
            </a:r>
          </a:p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Small Copilot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2461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Segoe UI"/>
              </a:rPr>
              <a:t>$1,663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749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3291840"/>
            <a:ext cx="1280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A9BCD6"/>
                </a:solidFill>
                <a:latin typeface="Segoe UI"/>
              </a:rPr>
              <a:t>$19,956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3749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18" name="Compare Power BI F64 (PAYG)"/>
          <p:cNvSpPr/>
          <p:nvPr/>
        </p:nvSpPr>
        <p:spPr>
          <a:xfrm>
            <a:off x="6355080" y="4297680"/>
            <a:ext cx="5196535" cy="1005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389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Power BI F64 (PAYG)</a:t>
            </a:r>
          </a:p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No Pro seat for viewers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4348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Segoe UI"/>
              </a:rPr>
              <a:t>~$8,410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9377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4480560"/>
            <a:ext cx="1280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A9BCD6"/>
                </a:solidFill>
                <a:latin typeface="Segoe UI"/>
              </a:rPr>
              <a:t>~$100,920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49377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9BCD6"/>
                </a:solidFill>
                <a:latin typeface="Segoe UI"/>
              </a:rPr>
              <a:t>per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9BCD6"/>
                </a:solidFill>
                <a:latin typeface="Segoe UI"/>
              </a:rPr>
              <a:t>Not like-for-like: AskDB figures are AI API estimates (the $500–$1,500 total is an independent planning estimate). Power BI figures cover seats and capacity for a full BI platform; Copilot in Power BI needs paid Fabric capacity (F2 or higher) plus Pro seats below F64. F2 has a small Copilot capacity and may not carry ~660 questions/day. 1-year reservations cut capacity cost by roughly 41%. US list prices; verify in the Azure pricing calculator.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Segoe U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The Smart Choice for AskDB</a:t>
            </a:r>
          </a:p>
        </p:txBody>
      </p:sp>
      <p:sp>
        <p:nvSpPr>
          <p:cNvPr id="5" name="Recommendation 1"/>
          <p:cNvSpPr/>
          <p:nvPr/>
        </p:nvSpPr>
        <p:spPr>
          <a:xfrm>
            <a:off x="640080" y="201168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Use a smaller model for straightforward business questions.</a:t>
            </a:r>
          </a:p>
        </p:txBody>
      </p:sp>
      <p:sp>
        <p:nvSpPr>
          <p:cNvPr id="8" name="Recommendation 2"/>
          <p:cNvSpPr/>
          <p:nvPr/>
        </p:nvSpPr>
        <p:spPr>
          <a:xfrm>
            <a:off x="640080" y="310896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00400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Route complex analysis to a stronger reasoning model.</a:t>
            </a:r>
          </a:p>
        </p:txBody>
      </p:sp>
      <p:sp>
        <p:nvSpPr>
          <p:cNvPr id="11" name="Recommendation 3"/>
          <p:cNvSpPr/>
          <p:nvPr/>
        </p:nvSpPr>
        <p:spPr>
          <a:xfrm>
            <a:off x="640080" y="4206240"/>
            <a:ext cx="10911535" cy="9144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1315C"/>
              </a:gs>
              <a:gs pos="100000">
                <a:srgbClr val="0B244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071A33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79"/>
            <a:ext cx="95399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Track cost per successful answer and enforce per-user usage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Segoe UI"/>
              </a:rPr>
              <a:t>AskDB — Intelligence, refined.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D6"/>
                </a:solidFill>
                <a:latin typeface="Segoe UI"/>
              </a:rPr>
              <a:t>AskDB | AI Cost Estimates |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D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