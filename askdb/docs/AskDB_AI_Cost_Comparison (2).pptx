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A9BCD6"/>
                </a:solidFill>
                <a:latin typeface="Segoe UI"/>
              </a:rPr>
              <a:t>Monthly AI cost (USD)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AI cost (USD)</c:v>
                </c:pt>
              </c:strCache>
            </c:strRef>
          </c:tx>
          <c:dPt>
            <c:idx val="0"/>
            <c:spPr>
              <a:solidFill>
                <a:srgbClr val="3B82F6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22D3EE"/>
              </a:solidFill>
            </c:spPr>
          </c:dPt>
          <c:cat>
            <c:strRef>
              <c:f>Sheet1!$A$2:$A$4</c:f>
              <c:strCache>
                <c:ptCount val="3"/>
                <c:pt idx="0">
                  <c:v>GPT-5 mini</c:v>
                </c:pt>
                <c:pt idx="1">
                  <c:v>GPT-5 High</c:v>
                </c:pt>
                <c:pt idx="2">
                  <c:v>Hybrid 80/20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297</c:v>
                </c:pt>
                <c:pt idx="1">
                  <c:v>1485</c:v>
                </c:pt>
                <c:pt idx="2">
                  <c:v>535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640080" y="128016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AskDB — AI-Powered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22D3EE"/>
                </a:solidFill>
                <a:latin typeface="Segoe UI"/>
              </a:rPr>
              <a:t>AI Model Cost Comparison  |  100 Users</a:t>
            </a:r>
          </a:p>
        </p:txBody>
      </p:sp>
      <p:sp>
        <p:nvSpPr>
          <p:cNvPr id="5" name="KPI registered users"/>
          <p:cNvSpPr/>
          <p:nvPr/>
        </p:nvSpPr>
        <p:spPr>
          <a:xfrm>
            <a:off x="640080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3931920"/>
            <a:ext cx="64008" cy="11887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registered users</a:t>
            </a:r>
          </a:p>
        </p:txBody>
      </p:sp>
      <p:sp>
        <p:nvSpPr>
          <p:cNvPr id="9" name="KPI active users assumed"/>
          <p:cNvSpPr/>
          <p:nvPr/>
        </p:nvSpPr>
        <p:spPr>
          <a:xfrm>
            <a:off x="4399178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7778" y="3931920"/>
            <a:ext cx="64008" cy="11887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2098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active users assumed</a:t>
            </a:r>
          </a:p>
        </p:txBody>
      </p:sp>
      <p:sp>
        <p:nvSpPr>
          <p:cNvPr id="13" name="KPI questions / month"/>
          <p:cNvSpPr/>
          <p:nvPr/>
        </p:nvSpPr>
        <p:spPr>
          <a:xfrm>
            <a:off x="8158276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6876" y="3931920"/>
            <a:ext cx="64008" cy="118871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1196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19,800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196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questions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D6"/>
                </a:solidFill>
                <a:latin typeface="Segoe UI"/>
              </a:rPr>
              <a:t>Estimated AI API costs, excluding hosting and engineering.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MODEL STRATEGY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Monthly and Annual AI Costs</a:t>
            </a:r>
          </a:p>
        </p:txBody>
      </p:sp>
      <p:graphicFrame>
        <p:nvGraphicFramePr>
          <p:cNvPr id="5" name="Monthly cost chart"/>
          <p:cNvGraphicFramePr>
            <a:graphicFrameLocks noGrp="1"/>
          </p:cNvGraphicFramePr>
          <p:nvPr/>
        </p:nvGraphicFramePr>
        <p:xfrm>
          <a:off x="640080" y="1920240"/>
          <a:ext cx="51206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ption GPT-5 mini (Small)"/>
          <p:cNvSpPr/>
          <p:nvPr/>
        </p:nvSpPr>
        <p:spPr>
          <a:xfrm>
            <a:off x="6126480" y="192024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Segoe UI"/>
              </a:rPr>
              <a:t>GPT-5 mini (Small)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5740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5603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10312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A9BCD6"/>
                </a:solidFill>
                <a:latin typeface="Segoe UI"/>
              </a:rPr>
              <a:t>$3,564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560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12" name="Option GPT-5 High"/>
          <p:cNvSpPr/>
          <p:nvPr/>
        </p:nvSpPr>
        <p:spPr>
          <a:xfrm>
            <a:off x="6126480" y="310896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Segoe UI"/>
              </a:rPr>
              <a:t>GPT-5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24612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$1,485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7490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29184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A9BCD6"/>
                </a:solidFill>
                <a:latin typeface="Segoe UI"/>
              </a:rPr>
              <a:t>$17,820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749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18" name="Option Hybrid (80% Small, 20% High)"/>
          <p:cNvSpPr/>
          <p:nvPr/>
        </p:nvSpPr>
        <p:spPr>
          <a:xfrm>
            <a:off x="6126480" y="429768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22D3EE"/>
                </a:solidFill>
                <a:latin typeface="Segoe UI"/>
              </a:rPr>
              <a:t>Hybrid (80% Small, 20% High)</a:t>
            </a:r>
          </a:p>
          <a:p>
            <a:pPr algn="r"/>
            <a:r>
              <a:rPr sz="1400" b="1">
                <a:solidFill>
                  <a:srgbClr val="22D3EE"/>
                </a:solidFill>
                <a:latin typeface="Segoe UI"/>
              </a:rPr>
              <a:t>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43484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$535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93776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48056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22D3EE"/>
                </a:solidFill>
                <a:latin typeface="Segoe UI"/>
              </a:rPr>
              <a:t>$6,420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9377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CD6"/>
                </a:solidFill>
                <a:latin typeface="Segoe UI"/>
              </a:rPr>
              <a:t>Assumptions: 60 active users × ~330 questions = 19,800 questions/month, about $0.015 per question (Small) and $0.075 (High). Hybrid = 80% Small + 20% High, rounded to $535/month ($6,420/year). Illustrative estimates, not live quotes; verify current model IDs, availability and pricing before presenting.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PLANNING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Recommended Budget</a:t>
            </a:r>
          </a:p>
        </p:txBody>
      </p:sp>
      <p:sp>
        <p:nvSpPr>
          <p:cNvPr id="5" name="KPI Hybrid AI cost per month"/>
          <p:cNvSpPr/>
          <p:nvPr/>
        </p:nvSpPr>
        <p:spPr>
          <a:xfrm>
            <a:off x="640080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77439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~$535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Hybrid AI cost per month</a:t>
            </a:r>
          </a:p>
        </p:txBody>
      </p:sp>
      <p:sp>
        <p:nvSpPr>
          <p:cNvPr id="9" name="KPI Hybrid AI cost per year"/>
          <p:cNvSpPr/>
          <p:nvPr/>
        </p:nvSpPr>
        <p:spPr>
          <a:xfrm>
            <a:off x="4399178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7778" y="2377439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~$6,420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2098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Hybrid AI cost per year</a:t>
            </a:r>
          </a:p>
        </p:txBody>
      </p:sp>
      <p:sp>
        <p:nvSpPr>
          <p:cNvPr id="13" name="KPI Total app operating budget / month"/>
          <p:cNvSpPr/>
          <p:nvPr/>
        </p:nvSpPr>
        <p:spPr>
          <a:xfrm>
            <a:off x="8158276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6876" y="2377439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1196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$500–$1,500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196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Total app operating budget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1196" y="4114800"/>
            <a:ext cx="26618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CD6"/>
                </a:solidFill>
                <a:latin typeface="Segoe UI"/>
              </a:rPr>
              <a:t>Includes basic hosting, database, monitoring and contingency.</a:t>
            </a:r>
          </a:p>
        </p:txBody>
      </p:sp>
      <p:sp>
        <p:nvSpPr>
          <p:cNvPr id="18" name="Budget note"/>
          <p:cNvSpPr/>
          <p:nvPr/>
        </p:nvSpPr>
        <p:spPr>
          <a:xfrm>
            <a:off x="640080" y="4709160"/>
            <a:ext cx="10911535" cy="1143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800600"/>
            <a:ext cx="1027145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The total application budget is an independent planning estimate. Reconcile it with the AI costs, the infrastructure plan and actual vendor quotations. Excludes engineering salaries and enterprise-grade infrastructure.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100 USERS | MONTHLY COST, USD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AskDB vs Power BI with Copilot</a:t>
            </a:r>
          </a:p>
        </p:txBody>
      </p:sp>
      <p:sp>
        <p:nvSpPr>
          <p:cNvPr id="5" name="Tab AskDB"/>
          <p:cNvSpPr/>
          <p:nvPr/>
        </p:nvSpPr>
        <p:spPr>
          <a:xfrm>
            <a:off x="685800" y="3154679"/>
            <a:ext cx="411480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vert="vert270" lIns="0" rIns="0"/>
          <a:lstStyle/>
          <a:p>
            <a:pPr algn="ctr"/>
            <a:r>
              <a:rPr sz="1200" b="1">
                <a:solidFill>
                  <a:srgbClr val="071A33"/>
                </a:solidFill>
                <a:latin typeface="Segoe UI"/>
              </a:rPr>
              <a:t>ASKDB</a:t>
            </a:r>
          </a:p>
        </p:txBody>
      </p:sp>
      <p:sp>
        <p:nvSpPr>
          <p:cNvPr id="6" name="Card AskDB"/>
          <p:cNvSpPr/>
          <p:nvPr/>
        </p:nvSpPr>
        <p:spPr>
          <a:xfrm>
            <a:off x="1097280" y="2331720"/>
            <a:ext cx="2971800" cy="338328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10512" y="1559051"/>
            <a:ext cx="1545336" cy="1545336"/>
          </a:xfrm>
          <a:prstGeom prst="ellipse">
            <a:avLst/>
          </a:prstGeom>
          <a:solidFill>
            <a:srgbClr val="07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1920240" y="1668779"/>
            <a:ext cx="1325880" cy="1325880"/>
          </a:xfrm>
          <a:prstGeom prst="donut">
            <a:avLst>
              <a:gd name="adj" fmla="val 9000"/>
            </a:avLst>
          </a:prstGeom>
          <a:solidFill>
            <a:srgbClr val="11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ock Arc 8"/>
          <p:cNvSpPr/>
          <p:nvPr/>
        </p:nvSpPr>
        <p:spPr>
          <a:xfrm>
            <a:off x="1920240" y="1668779"/>
            <a:ext cx="1325880" cy="1325880"/>
          </a:xfrm>
          <a:prstGeom prst="blockArc">
            <a:avLst>
              <a:gd name="adj1" fmla="val 16200000"/>
              <a:gd name="adj2" fmla="val 17574078"/>
              <a:gd name="adj3" fmla="val 9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05740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$535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2316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9BCD6"/>
                </a:solidFill>
                <a:latin typeface="Segoe UI"/>
              </a:rPr>
              <a:t>AI API / mo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1089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906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Natural-language Q&amp;A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35661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5478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No per-user seat fee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40233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050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Cost scales with usage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4805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4622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~660 questions/day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49377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9194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Under $2,000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309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$6,420 per year</a:t>
            </a:r>
          </a:p>
        </p:txBody>
      </p:sp>
      <p:sp>
        <p:nvSpPr>
          <p:cNvPr id="23" name="Tab Power BI F2"/>
          <p:cNvSpPr/>
          <p:nvPr/>
        </p:nvSpPr>
        <p:spPr>
          <a:xfrm>
            <a:off x="4389120" y="3154679"/>
            <a:ext cx="41148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vert="vert270" lIns="0" rIns="0"/>
          <a:lstStyle/>
          <a:p>
            <a:pPr algn="ctr"/>
            <a:r>
              <a:rPr sz="1200" b="1">
                <a:solidFill>
                  <a:srgbClr val="071A33"/>
                </a:solidFill>
                <a:latin typeface="Segoe UI"/>
              </a:rPr>
              <a:t>POWER BI F2</a:t>
            </a:r>
          </a:p>
        </p:txBody>
      </p:sp>
      <p:sp>
        <p:nvSpPr>
          <p:cNvPr id="24" name="Card Power BI F2"/>
          <p:cNvSpPr/>
          <p:nvPr/>
        </p:nvSpPr>
        <p:spPr>
          <a:xfrm>
            <a:off x="4800600" y="2331720"/>
            <a:ext cx="2971800" cy="338328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13832" y="1559051"/>
            <a:ext cx="1545336" cy="1545336"/>
          </a:xfrm>
          <a:prstGeom prst="ellipse">
            <a:avLst/>
          </a:prstGeom>
          <a:solidFill>
            <a:srgbClr val="07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nut 25"/>
          <p:cNvSpPr/>
          <p:nvPr/>
        </p:nvSpPr>
        <p:spPr>
          <a:xfrm>
            <a:off x="5623560" y="1668779"/>
            <a:ext cx="1325880" cy="1325880"/>
          </a:xfrm>
          <a:prstGeom prst="donut">
            <a:avLst>
              <a:gd name="adj" fmla="val 9000"/>
            </a:avLst>
          </a:prstGeom>
          <a:solidFill>
            <a:srgbClr val="11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ck Arc 26"/>
          <p:cNvSpPr/>
          <p:nvPr/>
        </p:nvSpPr>
        <p:spPr>
          <a:xfrm>
            <a:off x="5623560" y="1668779"/>
            <a:ext cx="1325880" cy="1325880"/>
          </a:xfrm>
          <a:prstGeom prst="blockArc">
            <a:avLst>
              <a:gd name="adj1" fmla="val 16200000"/>
              <a:gd name="adj2" fmla="val 20471200"/>
              <a:gd name="adj3" fmla="val 9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205740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$1,663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242316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9BCD6"/>
                </a:solidFill>
                <a:latin typeface="Segoe UI"/>
              </a:rPr>
              <a:t>F2 + 100 Pro</a:t>
            </a:r>
          </a:p>
        </p:txBody>
      </p:sp>
      <p:sp>
        <p:nvSpPr>
          <p:cNvPr id="30" name="Oval 29"/>
          <p:cNvSpPr/>
          <p:nvPr/>
        </p:nvSpPr>
        <p:spPr>
          <a:xfrm>
            <a:off x="5074920" y="31089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0906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Natural-language Q&amp;A</a:t>
            </a:r>
          </a:p>
        </p:txBody>
      </p:sp>
      <p:sp>
        <p:nvSpPr>
          <p:cNvPr id="32" name="Oval 31"/>
          <p:cNvSpPr/>
          <p:nvPr/>
        </p:nvSpPr>
        <p:spPr>
          <a:xfrm>
            <a:off x="5074920" y="3566160"/>
            <a:ext cx="274320" cy="2743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5478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No per-user seat fee</a:t>
            </a:r>
          </a:p>
        </p:txBody>
      </p:sp>
      <p:sp>
        <p:nvSpPr>
          <p:cNvPr id="34" name="Oval 33"/>
          <p:cNvSpPr/>
          <p:nvPr/>
        </p:nvSpPr>
        <p:spPr>
          <a:xfrm>
            <a:off x="5074920" y="4023360"/>
            <a:ext cx="274320" cy="2743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0050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Cost scales with usage</a:t>
            </a:r>
          </a:p>
        </p:txBody>
      </p:sp>
      <p:sp>
        <p:nvSpPr>
          <p:cNvPr id="36" name="Oval 35"/>
          <p:cNvSpPr/>
          <p:nvPr/>
        </p:nvSpPr>
        <p:spPr>
          <a:xfrm>
            <a:off x="5074920" y="4480560"/>
            <a:ext cx="274320" cy="2743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4622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~660 questions/day</a:t>
            </a:r>
          </a:p>
        </p:txBody>
      </p:sp>
      <p:sp>
        <p:nvSpPr>
          <p:cNvPr id="38" name="Oval 37"/>
          <p:cNvSpPr/>
          <p:nvPr/>
        </p:nvSpPr>
        <p:spPr>
          <a:xfrm>
            <a:off x="5074920" y="49377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9194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Under $2,000 / month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53309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  <a:latin typeface="Segoe UI"/>
              </a:rPr>
              <a:t>$19,956 per year</a:t>
            </a:r>
          </a:p>
        </p:txBody>
      </p:sp>
      <p:sp>
        <p:nvSpPr>
          <p:cNvPr id="41" name="Tab Power BI F64"/>
          <p:cNvSpPr/>
          <p:nvPr/>
        </p:nvSpPr>
        <p:spPr>
          <a:xfrm>
            <a:off x="8092440" y="3154679"/>
            <a:ext cx="411480" cy="192024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vert="vert270" lIns="0" rIns="0"/>
          <a:lstStyle/>
          <a:p>
            <a:pPr algn="ctr"/>
            <a:r>
              <a:rPr sz="1200" b="1">
                <a:solidFill>
                  <a:srgbClr val="071A33"/>
                </a:solidFill>
                <a:latin typeface="Segoe UI"/>
              </a:rPr>
              <a:t>POWER BI F64</a:t>
            </a:r>
          </a:p>
        </p:txBody>
      </p:sp>
      <p:sp>
        <p:nvSpPr>
          <p:cNvPr id="42" name="Card Power BI F64"/>
          <p:cNvSpPr/>
          <p:nvPr/>
        </p:nvSpPr>
        <p:spPr>
          <a:xfrm>
            <a:off x="8503919" y="2331720"/>
            <a:ext cx="2971800" cy="338328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17152" y="1559051"/>
            <a:ext cx="1545336" cy="1545336"/>
          </a:xfrm>
          <a:prstGeom prst="ellipse">
            <a:avLst/>
          </a:prstGeom>
          <a:solidFill>
            <a:srgbClr val="07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onut 43"/>
          <p:cNvSpPr/>
          <p:nvPr/>
        </p:nvSpPr>
        <p:spPr>
          <a:xfrm>
            <a:off x="9326880" y="1668779"/>
            <a:ext cx="1325880" cy="1325880"/>
          </a:xfrm>
          <a:prstGeom prst="donut">
            <a:avLst>
              <a:gd name="adj" fmla="val 9000"/>
            </a:avLst>
          </a:prstGeom>
          <a:solidFill>
            <a:srgbClr val="11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lock Arc 44"/>
          <p:cNvSpPr/>
          <p:nvPr/>
        </p:nvSpPr>
        <p:spPr>
          <a:xfrm>
            <a:off x="9326880" y="1668779"/>
            <a:ext cx="1325880" cy="1325880"/>
          </a:xfrm>
          <a:prstGeom prst="blockArc">
            <a:avLst>
              <a:gd name="adj1" fmla="val 16200000"/>
              <a:gd name="adj2" fmla="val 15767999"/>
              <a:gd name="adj3" fmla="val 9000"/>
            </a:avLst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205740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~$8,410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42316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9BCD6"/>
                </a:solidFill>
                <a:latin typeface="Segoe UI"/>
              </a:rPr>
              <a:t>F64 PAYG</a:t>
            </a:r>
          </a:p>
        </p:txBody>
      </p:sp>
      <p:sp>
        <p:nvSpPr>
          <p:cNvPr id="48" name="Oval 47"/>
          <p:cNvSpPr/>
          <p:nvPr/>
        </p:nvSpPr>
        <p:spPr>
          <a:xfrm>
            <a:off x="8778240" y="31089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19" y="30906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Natural-language Q&amp;A</a:t>
            </a:r>
          </a:p>
        </p:txBody>
      </p:sp>
      <p:sp>
        <p:nvSpPr>
          <p:cNvPr id="50" name="Oval 49"/>
          <p:cNvSpPr/>
          <p:nvPr/>
        </p:nvSpPr>
        <p:spPr>
          <a:xfrm>
            <a:off x="8778240" y="35661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19" y="35478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No per-user seat fee</a:t>
            </a:r>
          </a:p>
        </p:txBody>
      </p:sp>
      <p:sp>
        <p:nvSpPr>
          <p:cNvPr id="52" name="Oval 51"/>
          <p:cNvSpPr/>
          <p:nvPr/>
        </p:nvSpPr>
        <p:spPr>
          <a:xfrm>
            <a:off x="8778240" y="4023360"/>
            <a:ext cx="274320" cy="2743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19" y="40050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Cost scales with usage</a:t>
            </a:r>
          </a:p>
        </p:txBody>
      </p:sp>
      <p:sp>
        <p:nvSpPr>
          <p:cNvPr id="54" name="Oval 53"/>
          <p:cNvSpPr/>
          <p:nvPr/>
        </p:nvSpPr>
        <p:spPr>
          <a:xfrm>
            <a:off x="8778240" y="44805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9719" y="44622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~660 questions/day</a:t>
            </a:r>
          </a:p>
        </p:txBody>
      </p:sp>
      <p:sp>
        <p:nvSpPr>
          <p:cNvPr id="56" name="Oval 55"/>
          <p:cNvSpPr/>
          <p:nvPr/>
        </p:nvSpPr>
        <p:spPr>
          <a:xfrm>
            <a:off x="8778240" y="4937760"/>
            <a:ext cx="274320" cy="2743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1A33"/>
                </a:solidFill>
                <a:latin typeface="Segoe UI Symbol"/>
              </a:rPr>
              <a:t>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19" y="4919472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Under $2,000 / month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53309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A9BCD6"/>
                </a:solidFill>
                <a:latin typeface="Segoe UI"/>
              </a:rPr>
              <a:t>~$100,920 per year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83387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A9BCD6"/>
                </a:solidFill>
                <a:latin typeface="Segoe UI"/>
              </a:rPr>
              <a:t>Ring = share of F64 monthly cost. Not like-for-like: AskDB is AI API cost only (total app budget $500–$1,500); Power BI covers a full BI platform. F2 may be too small for ~660 questions/day. US list prices; verify in the Azure pricing calculator.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The Smart Choice for AskDB</a:t>
            </a:r>
          </a:p>
        </p:txBody>
      </p:sp>
      <p:sp>
        <p:nvSpPr>
          <p:cNvPr id="5" name="Recommendation 1"/>
          <p:cNvSpPr/>
          <p:nvPr/>
        </p:nvSpPr>
        <p:spPr>
          <a:xfrm>
            <a:off x="640080" y="201168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Use a smaller model for straightforward business questions.</a:t>
            </a:r>
          </a:p>
        </p:txBody>
      </p:sp>
      <p:sp>
        <p:nvSpPr>
          <p:cNvPr id="8" name="Recommendation 2"/>
          <p:cNvSpPr/>
          <p:nvPr/>
        </p:nvSpPr>
        <p:spPr>
          <a:xfrm>
            <a:off x="640080" y="310896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29184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00400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Route complex analysis to a stronger reasoning model.</a:t>
            </a:r>
          </a:p>
        </p:txBody>
      </p:sp>
      <p:sp>
        <p:nvSpPr>
          <p:cNvPr id="11" name="Recommendation 3"/>
          <p:cNvSpPr/>
          <p:nvPr/>
        </p:nvSpPr>
        <p:spPr>
          <a:xfrm>
            <a:off x="640080" y="420624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79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Track cost per successful answer and enforce per-user usage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Segoe UI"/>
              </a:rPr>
              <a:t>AskDB — Intelligence, refined.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